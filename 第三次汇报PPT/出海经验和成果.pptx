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71" r:id="rId4"/>
    <p:sldId id="277" r:id="rId5"/>
    <p:sldId id="284" r:id="rId6"/>
    <p:sldId id="278" r:id="rId7"/>
    <p:sldId id="285" r:id="rId8"/>
    <p:sldId id="279" r:id="rId9"/>
    <p:sldId id="286" r:id="rId10"/>
    <p:sldId id="280" r:id="rId11"/>
    <p:sldId id="287" r:id="rId12"/>
    <p:sldId id="281" r:id="rId13"/>
    <p:sldId id="288" r:id="rId14"/>
    <p:sldId id="272" r:id="rId15"/>
    <p:sldId id="283" r:id="rId16"/>
    <p:sldId id="289" r:id="rId17"/>
    <p:sldId id="261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667384"/>
    <a:srgbClr val="F5E2EB"/>
    <a:srgbClr val="144958"/>
    <a:srgbClr val="C60022"/>
    <a:srgbClr val="FA734B"/>
    <a:srgbClr val="66C3E5"/>
    <a:srgbClr val="88CDDD"/>
    <a:srgbClr val="0A0571"/>
    <a:srgbClr val="463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40" d="100"/>
          <a:sy n="40" d="100"/>
        </p:scale>
        <p:origin x="44" y="7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丰田汽车产量统计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本土产量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2024</c:v>
                </c:pt>
                <c:pt idx="1">
                  <c:v>2023</c:v>
                </c:pt>
                <c:pt idx="2">
                  <c:v>2022</c:v>
                </c:pt>
                <c:pt idx="3">
                  <c:v>2021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3127951</c:v>
                </c:pt>
                <c:pt idx="1">
                  <c:v>3370752</c:v>
                </c:pt>
                <c:pt idx="2">
                  <c:v>2656009</c:v>
                </c:pt>
                <c:pt idx="3">
                  <c:v>2877962</c:v>
                </c:pt>
                <c:pt idx="4">
                  <c:v>3415864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7-4B0E-B506-C8A0FED48F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海外产量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2024</c:v>
                </c:pt>
                <c:pt idx="1">
                  <c:v>2023</c:v>
                </c:pt>
                <c:pt idx="2">
                  <c:v>2022</c:v>
                </c:pt>
                <c:pt idx="3">
                  <c:v>2021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6393525</c:v>
                </c:pt>
                <c:pt idx="1">
                  <c:v>6662419</c:v>
                </c:pt>
                <c:pt idx="2">
                  <c:v>6370704</c:v>
                </c:pt>
                <c:pt idx="3">
                  <c:v>5706023</c:v>
                </c:pt>
                <c:pt idx="4">
                  <c:v>5637653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7-4B0E-B506-C8A0FED48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92148960"/>
        <c:axId val="1492150400"/>
      </c:barChart>
      <c:catAx>
        <c:axId val="149214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2150400"/>
        <c:crosses val="autoZero"/>
        <c:auto val="1"/>
        <c:lblAlgn val="ctr"/>
        <c:lblOffset val="100"/>
        <c:noMultiLvlLbl val="0"/>
      </c:catAx>
      <c:valAx>
        <c:axId val="149215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2148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F1C163D-7EF0-4097-B86B-72A3B68C98B7}"/>
              </a:ext>
            </a:extLst>
          </p:cNvPr>
          <p:cNvSpPr/>
          <p:nvPr userDrawn="1"/>
        </p:nvSpPr>
        <p:spPr>
          <a:xfrm>
            <a:off x="0" y="-4921"/>
            <a:ext cx="8430763" cy="6862921"/>
          </a:xfrm>
          <a:custGeom>
            <a:avLst/>
            <a:gdLst>
              <a:gd name="connsiteX0" fmla="*/ 2056630 w 8430763"/>
              <a:gd name="connsiteY0" fmla="*/ 0 h 6862921"/>
              <a:gd name="connsiteX1" fmla="*/ 7092510 w 8430763"/>
              <a:gd name="connsiteY1" fmla="*/ 0 h 6862921"/>
              <a:gd name="connsiteX2" fmla="*/ 8430763 w 8430763"/>
              <a:gd name="connsiteY2" fmla="*/ 1317704 h 6862921"/>
              <a:gd name="connsiteX3" fmla="*/ 7208098 w 8430763"/>
              <a:gd name="connsiteY3" fmla="*/ 2545507 h 6862921"/>
              <a:gd name="connsiteX4" fmla="*/ 4685708 w 8430763"/>
              <a:gd name="connsiteY4" fmla="*/ 5047348 h 6862921"/>
              <a:gd name="connsiteX5" fmla="*/ 3450198 w 8430763"/>
              <a:gd name="connsiteY5" fmla="*/ 3814408 h 6862921"/>
              <a:gd name="connsiteX6" fmla="*/ 2062165 w 8430763"/>
              <a:gd name="connsiteY6" fmla="*/ 5194787 h 6862921"/>
              <a:gd name="connsiteX7" fmla="*/ 2062162 w 8430763"/>
              <a:gd name="connsiteY7" fmla="*/ 5196047 h 6862921"/>
              <a:gd name="connsiteX8" fmla="*/ 927918 w 8430763"/>
              <a:gd name="connsiteY8" fmla="*/ 6329521 h 6862921"/>
              <a:gd name="connsiteX9" fmla="*/ 1471613 w 8430763"/>
              <a:gd name="connsiteY9" fmla="*/ 6862921 h 6862921"/>
              <a:gd name="connsiteX10" fmla="*/ 0 w 8430763"/>
              <a:gd name="connsiteY10" fmla="*/ 6862921 h 6862921"/>
              <a:gd name="connsiteX11" fmla="*/ 0 w 8430763"/>
              <a:gd name="connsiteY11" fmla="*/ 4921 h 6862921"/>
              <a:gd name="connsiteX12" fmla="*/ 2056630 w 8430763"/>
              <a:gd name="connsiteY12" fmla="*/ 4921 h 68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30763" h="6862921">
                <a:moveTo>
                  <a:pt x="2056630" y="0"/>
                </a:moveTo>
                <a:lnTo>
                  <a:pt x="7092510" y="0"/>
                </a:lnTo>
                <a:lnTo>
                  <a:pt x="8430763" y="1317704"/>
                </a:lnTo>
                <a:lnTo>
                  <a:pt x="7208098" y="2545507"/>
                </a:lnTo>
                <a:lnTo>
                  <a:pt x="4685708" y="5047348"/>
                </a:lnTo>
                <a:lnTo>
                  <a:pt x="3450198" y="3814408"/>
                </a:lnTo>
                <a:lnTo>
                  <a:pt x="2062165" y="5194787"/>
                </a:lnTo>
                <a:lnTo>
                  <a:pt x="2062162" y="5196047"/>
                </a:lnTo>
                <a:cubicBezTo>
                  <a:pt x="1742818" y="5515135"/>
                  <a:pt x="1274179" y="6000248"/>
                  <a:pt x="927918" y="6329521"/>
                </a:cubicBezTo>
                <a:lnTo>
                  <a:pt x="1471613" y="6862921"/>
                </a:lnTo>
                <a:lnTo>
                  <a:pt x="0" y="6862921"/>
                </a:lnTo>
                <a:lnTo>
                  <a:pt x="0" y="4921"/>
                </a:lnTo>
                <a:lnTo>
                  <a:pt x="2056630" y="4921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84000"/>
                  <a:lumOff val="16000"/>
                </a:schemeClr>
              </a:gs>
              <a:gs pos="100000">
                <a:schemeClr val="accent3">
                  <a:lumMod val="99000"/>
                  <a:lumOff val="1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A3E2895-E22A-48B2-95AA-0B4CA4BD8E37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>
            <a:blip r:embed="rId2"/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69925" y="2924752"/>
            <a:ext cx="3100330" cy="4669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400" i="0" u="none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4407457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4955710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161221"/>
            <a:ext cx="5317077" cy="1580351"/>
          </a:xfrm>
        </p:spPr>
        <p:txBody>
          <a:bodyPr anchor="b">
            <a:noAutofit/>
          </a:bodyPr>
          <a:lstStyle>
            <a:lvl1pPr algn="l">
              <a:defRPr sz="4800" i="0" u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14AB244D-CA9D-4EC6-9D8F-3C1D7AC0F38D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 dpi="0" rotWithShape="1">
            <a:blip r:embed="rId2">
              <a:alphaModFix amt="55000"/>
            </a:blip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2496910" y="1269059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2496910" y="2164409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2AF6F5B3-E172-42F5-BEA7-E9DCAF496DAF}"/>
              </a:ext>
            </a:extLst>
          </p:cNvPr>
          <p:cNvSpPr/>
          <p:nvPr userDrawn="1"/>
        </p:nvSpPr>
        <p:spPr>
          <a:xfrm>
            <a:off x="0" y="-4921"/>
            <a:ext cx="8430763" cy="6862921"/>
          </a:xfrm>
          <a:custGeom>
            <a:avLst/>
            <a:gdLst>
              <a:gd name="connsiteX0" fmla="*/ 2056630 w 8430763"/>
              <a:gd name="connsiteY0" fmla="*/ 0 h 6862921"/>
              <a:gd name="connsiteX1" fmla="*/ 7092510 w 8430763"/>
              <a:gd name="connsiteY1" fmla="*/ 0 h 6862921"/>
              <a:gd name="connsiteX2" fmla="*/ 8430763 w 8430763"/>
              <a:gd name="connsiteY2" fmla="*/ 1317704 h 6862921"/>
              <a:gd name="connsiteX3" fmla="*/ 7208098 w 8430763"/>
              <a:gd name="connsiteY3" fmla="*/ 2545507 h 6862921"/>
              <a:gd name="connsiteX4" fmla="*/ 4685708 w 8430763"/>
              <a:gd name="connsiteY4" fmla="*/ 5047348 h 6862921"/>
              <a:gd name="connsiteX5" fmla="*/ 3450198 w 8430763"/>
              <a:gd name="connsiteY5" fmla="*/ 3814408 h 6862921"/>
              <a:gd name="connsiteX6" fmla="*/ 2062165 w 8430763"/>
              <a:gd name="connsiteY6" fmla="*/ 5194787 h 6862921"/>
              <a:gd name="connsiteX7" fmla="*/ 2062162 w 8430763"/>
              <a:gd name="connsiteY7" fmla="*/ 5196047 h 6862921"/>
              <a:gd name="connsiteX8" fmla="*/ 927918 w 8430763"/>
              <a:gd name="connsiteY8" fmla="*/ 6329521 h 6862921"/>
              <a:gd name="connsiteX9" fmla="*/ 1471613 w 8430763"/>
              <a:gd name="connsiteY9" fmla="*/ 6862921 h 6862921"/>
              <a:gd name="connsiteX10" fmla="*/ 0 w 8430763"/>
              <a:gd name="connsiteY10" fmla="*/ 6862921 h 6862921"/>
              <a:gd name="connsiteX11" fmla="*/ 0 w 8430763"/>
              <a:gd name="connsiteY11" fmla="*/ 4921 h 6862921"/>
              <a:gd name="connsiteX12" fmla="*/ 2056630 w 8430763"/>
              <a:gd name="connsiteY12" fmla="*/ 4921 h 68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30763" h="6862921">
                <a:moveTo>
                  <a:pt x="2056630" y="0"/>
                </a:moveTo>
                <a:lnTo>
                  <a:pt x="7092510" y="0"/>
                </a:lnTo>
                <a:lnTo>
                  <a:pt x="8430763" y="1317704"/>
                </a:lnTo>
                <a:lnTo>
                  <a:pt x="7208098" y="2545507"/>
                </a:lnTo>
                <a:lnTo>
                  <a:pt x="4685708" y="5047348"/>
                </a:lnTo>
                <a:lnTo>
                  <a:pt x="3450198" y="3814408"/>
                </a:lnTo>
                <a:lnTo>
                  <a:pt x="2062165" y="5194787"/>
                </a:lnTo>
                <a:lnTo>
                  <a:pt x="2062162" y="5196047"/>
                </a:lnTo>
                <a:cubicBezTo>
                  <a:pt x="1742818" y="5515135"/>
                  <a:pt x="1274179" y="6000248"/>
                  <a:pt x="927918" y="6329521"/>
                </a:cubicBezTo>
                <a:lnTo>
                  <a:pt x="1471613" y="6862921"/>
                </a:lnTo>
                <a:lnTo>
                  <a:pt x="0" y="6862921"/>
                </a:lnTo>
                <a:lnTo>
                  <a:pt x="0" y="4921"/>
                </a:lnTo>
                <a:lnTo>
                  <a:pt x="2056630" y="49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E2D4BD49-AC20-4524-AC6B-33283B288052}"/>
              </a:ext>
            </a:extLst>
          </p:cNvPr>
          <p:cNvSpPr/>
          <p:nvPr userDrawn="1"/>
        </p:nvSpPr>
        <p:spPr>
          <a:xfrm>
            <a:off x="954992" y="-23970"/>
            <a:ext cx="11237008" cy="6881970"/>
          </a:xfrm>
          <a:custGeom>
            <a:avLst/>
            <a:gdLst>
              <a:gd name="connsiteX0" fmla="*/ 8772521 w 11237008"/>
              <a:gd name="connsiteY0" fmla="*/ 5136067 h 6881970"/>
              <a:gd name="connsiteX1" fmla="*/ 9981169 w 11237008"/>
              <a:gd name="connsiteY1" fmla="*/ 6344715 h 6881970"/>
              <a:gd name="connsiteX2" fmla="*/ 9445076 w 11237008"/>
              <a:gd name="connsiteY2" fmla="*/ 6881970 h 6881970"/>
              <a:gd name="connsiteX3" fmla="*/ 8098508 w 11237008"/>
              <a:gd name="connsiteY3" fmla="*/ 6881970 h 6881970"/>
              <a:gd name="connsiteX4" fmla="*/ 7561252 w 11237008"/>
              <a:gd name="connsiteY4" fmla="*/ 6344715 h 6881970"/>
              <a:gd name="connsiteX5" fmla="*/ 3738680 w 11237008"/>
              <a:gd name="connsiteY5" fmla="*/ 5136067 h 6881970"/>
              <a:gd name="connsiteX6" fmla="*/ 4947327 w 11237008"/>
              <a:gd name="connsiteY6" fmla="*/ 6344715 h 6881970"/>
              <a:gd name="connsiteX7" fmla="*/ 4411235 w 11237008"/>
              <a:gd name="connsiteY7" fmla="*/ 6881970 h 6881970"/>
              <a:gd name="connsiteX8" fmla="*/ 3064666 w 11237008"/>
              <a:gd name="connsiteY8" fmla="*/ 6881970 h 6881970"/>
              <a:gd name="connsiteX9" fmla="*/ 2527410 w 11237008"/>
              <a:gd name="connsiteY9" fmla="*/ 6344715 h 6881970"/>
              <a:gd name="connsiteX10" fmla="*/ 1211270 w 11237008"/>
              <a:gd name="connsiteY10" fmla="*/ 5136067 h 6881970"/>
              <a:gd name="connsiteX11" fmla="*/ 2419917 w 11237008"/>
              <a:gd name="connsiteY11" fmla="*/ 6344715 h 6881970"/>
              <a:gd name="connsiteX12" fmla="*/ 1883825 w 11237008"/>
              <a:gd name="connsiteY12" fmla="*/ 6881970 h 6881970"/>
              <a:gd name="connsiteX13" fmla="*/ 537256 w 11237008"/>
              <a:gd name="connsiteY13" fmla="*/ 6881970 h 6881970"/>
              <a:gd name="connsiteX14" fmla="*/ 0 w 11237008"/>
              <a:gd name="connsiteY14" fmla="*/ 6344715 h 6881970"/>
              <a:gd name="connsiteX15" fmla="*/ 10028361 w 11237008"/>
              <a:gd name="connsiteY15" fmla="*/ 3877606 h 6881970"/>
              <a:gd name="connsiteX16" fmla="*/ 11237008 w 11237008"/>
              <a:gd name="connsiteY16" fmla="*/ 5086253 h 6881970"/>
              <a:gd name="connsiteX17" fmla="*/ 10028361 w 11237008"/>
              <a:gd name="connsiteY17" fmla="*/ 6297522 h 6881970"/>
              <a:gd name="connsiteX18" fmla="*/ 8817091 w 11237008"/>
              <a:gd name="connsiteY18" fmla="*/ 5086253 h 6881970"/>
              <a:gd name="connsiteX19" fmla="*/ 7521925 w 11237008"/>
              <a:gd name="connsiteY19" fmla="*/ 3877606 h 6881970"/>
              <a:gd name="connsiteX20" fmla="*/ 8733195 w 11237008"/>
              <a:gd name="connsiteY20" fmla="*/ 5086253 h 6881970"/>
              <a:gd name="connsiteX21" fmla="*/ 7521925 w 11237008"/>
              <a:gd name="connsiteY21" fmla="*/ 6297522 h 6881970"/>
              <a:gd name="connsiteX22" fmla="*/ 6313279 w 11237008"/>
              <a:gd name="connsiteY22" fmla="*/ 5086253 h 6881970"/>
              <a:gd name="connsiteX23" fmla="*/ 4997142 w 11237008"/>
              <a:gd name="connsiteY23" fmla="*/ 3877606 h 6881970"/>
              <a:gd name="connsiteX24" fmla="*/ 6205787 w 11237008"/>
              <a:gd name="connsiteY24" fmla="*/ 5086253 h 6881970"/>
              <a:gd name="connsiteX25" fmla="*/ 4997142 w 11237008"/>
              <a:gd name="connsiteY25" fmla="*/ 6297522 h 6881970"/>
              <a:gd name="connsiteX26" fmla="*/ 3785872 w 11237008"/>
              <a:gd name="connsiteY26" fmla="*/ 5086253 h 6881970"/>
              <a:gd name="connsiteX27" fmla="*/ 2477597 w 11237008"/>
              <a:gd name="connsiteY27" fmla="*/ 3877606 h 6881970"/>
              <a:gd name="connsiteX28" fmla="*/ 3688866 w 11237008"/>
              <a:gd name="connsiteY28" fmla="*/ 5086253 h 6881970"/>
              <a:gd name="connsiteX29" fmla="*/ 2477597 w 11237008"/>
              <a:gd name="connsiteY29" fmla="*/ 6297522 h 6881970"/>
              <a:gd name="connsiteX30" fmla="*/ 1268949 w 11237008"/>
              <a:gd name="connsiteY30" fmla="*/ 5086253 h 6881970"/>
              <a:gd name="connsiteX31" fmla="*/ 8772521 w 11237008"/>
              <a:gd name="connsiteY31" fmla="*/ 2627012 h 6881970"/>
              <a:gd name="connsiteX32" fmla="*/ 9981169 w 11237008"/>
              <a:gd name="connsiteY32" fmla="*/ 3835659 h 6881970"/>
              <a:gd name="connsiteX33" fmla="*/ 8772521 w 11237008"/>
              <a:gd name="connsiteY33" fmla="*/ 5046927 h 6881970"/>
              <a:gd name="connsiteX34" fmla="*/ 7561252 w 11237008"/>
              <a:gd name="connsiteY34" fmla="*/ 3835659 h 6881970"/>
              <a:gd name="connsiteX35" fmla="*/ 6268708 w 11237008"/>
              <a:gd name="connsiteY35" fmla="*/ 2627011 h 6881970"/>
              <a:gd name="connsiteX36" fmla="*/ 7477356 w 11237008"/>
              <a:gd name="connsiteY36" fmla="*/ 3835659 h 6881970"/>
              <a:gd name="connsiteX37" fmla="*/ 6268708 w 11237008"/>
              <a:gd name="connsiteY37" fmla="*/ 5046927 h 6881970"/>
              <a:gd name="connsiteX38" fmla="*/ 5057440 w 11237008"/>
              <a:gd name="connsiteY38" fmla="*/ 3835659 h 6881970"/>
              <a:gd name="connsiteX39" fmla="*/ 10028361 w 11237008"/>
              <a:gd name="connsiteY39" fmla="*/ 1371173 h 6881970"/>
              <a:gd name="connsiteX40" fmla="*/ 11237008 w 11237008"/>
              <a:gd name="connsiteY40" fmla="*/ 2582442 h 6881970"/>
              <a:gd name="connsiteX41" fmla="*/ 10028361 w 11237008"/>
              <a:gd name="connsiteY41" fmla="*/ 3791088 h 6881970"/>
              <a:gd name="connsiteX42" fmla="*/ 8817091 w 11237008"/>
              <a:gd name="connsiteY42" fmla="*/ 2582442 h 6881970"/>
              <a:gd name="connsiteX43" fmla="*/ 7521925 w 11237008"/>
              <a:gd name="connsiteY43" fmla="*/ 1371173 h 6881970"/>
              <a:gd name="connsiteX44" fmla="*/ 8733195 w 11237008"/>
              <a:gd name="connsiteY44" fmla="*/ 2582442 h 6881970"/>
              <a:gd name="connsiteX45" fmla="*/ 7521925 w 11237008"/>
              <a:gd name="connsiteY45" fmla="*/ 3791088 h 6881970"/>
              <a:gd name="connsiteX46" fmla="*/ 6313279 w 11237008"/>
              <a:gd name="connsiteY46" fmla="*/ 2582442 h 6881970"/>
              <a:gd name="connsiteX47" fmla="*/ 8772521 w 11237008"/>
              <a:gd name="connsiteY47" fmla="*/ 120577 h 6881970"/>
              <a:gd name="connsiteX48" fmla="*/ 9981169 w 11237008"/>
              <a:gd name="connsiteY48" fmla="*/ 1329224 h 6881970"/>
              <a:gd name="connsiteX49" fmla="*/ 8772521 w 11237008"/>
              <a:gd name="connsiteY49" fmla="*/ 2540492 h 6881970"/>
              <a:gd name="connsiteX50" fmla="*/ 7561252 w 11237008"/>
              <a:gd name="connsiteY50" fmla="*/ 1329224 h 6881970"/>
              <a:gd name="connsiteX51" fmla="*/ 6391738 w 11237008"/>
              <a:gd name="connsiteY51" fmla="*/ 0 h 6881970"/>
              <a:gd name="connsiteX52" fmla="*/ 8654566 w 11237008"/>
              <a:gd name="connsiteY52" fmla="*/ 0 h 6881970"/>
              <a:gd name="connsiteX53" fmla="*/ 8733195 w 11237008"/>
              <a:gd name="connsiteY53" fmla="*/ 78629 h 6881970"/>
              <a:gd name="connsiteX54" fmla="*/ 7521925 w 11237008"/>
              <a:gd name="connsiteY54" fmla="*/ 1287276 h 6881970"/>
              <a:gd name="connsiteX55" fmla="*/ 6313279 w 11237008"/>
              <a:gd name="connsiteY55" fmla="*/ 78629 h 688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237008" h="6881970">
                <a:moveTo>
                  <a:pt x="8772521" y="5136067"/>
                </a:moveTo>
                <a:lnTo>
                  <a:pt x="9981169" y="6344715"/>
                </a:lnTo>
                <a:lnTo>
                  <a:pt x="9445076" y="6881970"/>
                </a:lnTo>
                <a:lnTo>
                  <a:pt x="8098508" y="6881970"/>
                </a:lnTo>
                <a:lnTo>
                  <a:pt x="7561252" y="6344715"/>
                </a:lnTo>
                <a:close/>
                <a:moveTo>
                  <a:pt x="3738680" y="5136067"/>
                </a:moveTo>
                <a:lnTo>
                  <a:pt x="4947327" y="6344715"/>
                </a:lnTo>
                <a:lnTo>
                  <a:pt x="4411235" y="6881970"/>
                </a:lnTo>
                <a:lnTo>
                  <a:pt x="3064666" y="6881970"/>
                </a:lnTo>
                <a:lnTo>
                  <a:pt x="2527410" y="6344715"/>
                </a:lnTo>
                <a:close/>
                <a:moveTo>
                  <a:pt x="1211270" y="5136067"/>
                </a:moveTo>
                <a:lnTo>
                  <a:pt x="2419917" y="6344715"/>
                </a:lnTo>
                <a:lnTo>
                  <a:pt x="1883825" y="6881970"/>
                </a:lnTo>
                <a:lnTo>
                  <a:pt x="537256" y="6881970"/>
                </a:lnTo>
                <a:lnTo>
                  <a:pt x="0" y="6344715"/>
                </a:lnTo>
                <a:close/>
                <a:moveTo>
                  <a:pt x="10028361" y="3877606"/>
                </a:moveTo>
                <a:lnTo>
                  <a:pt x="11237008" y="5086253"/>
                </a:lnTo>
                <a:lnTo>
                  <a:pt x="10028361" y="6297522"/>
                </a:lnTo>
                <a:lnTo>
                  <a:pt x="8817091" y="5086253"/>
                </a:lnTo>
                <a:close/>
                <a:moveTo>
                  <a:pt x="7521925" y="3877606"/>
                </a:moveTo>
                <a:lnTo>
                  <a:pt x="8733195" y="5086253"/>
                </a:lnTo>
                <a:lnTo>
                  <a:pt x="7521925" y="6297522"/>
                </a:lnTo>
                <a:lnTo>
                  <a:pt x="6313279" y="5086253"/>
                </a:lnTo>
                <a:close/>
                <a:moveTo>
                  <a:pt x="4997142" y="3877606"/>
                </a:moveTo>
                <a:lnTo>
                  <a:pt x="6205787" y="5086253"/>
                </a:lnTo>
                <a:lnTo>
                  <a:pt x="4997142" y="6297522"/>
                </a:lnTo>
                <a:lnTo>
                  <a:pt x="3785872" y="5086253"/>
                </a:lnTo>
                <a:close/>
                <a:moveTo>
                  <a:pt x="2477597" y="3877606"/>
                </a:moveTo>
                <a:lnTo>
                  <a:pt x="3688866" y="5086253"/>
                </a:lnTo>
                <a:lnTo>
                  <a:pt x="2477597" y="6297522"/>
                </a:lnTo>
                <a:lnTo>
                  <a:pt x="1268949" y="5086253"/>
                </a:lnTo>
                <a:close/>
                <a:moveTo>
                  <a:pt x="8772521" y="2627012"/>
                </a:moveTo>
                <a:lnTo>
                  <a:pt x="9981169" y="3835659"/>
                </a:lnTo>
                <a:lnTo>
                  <a:pt x="8772521" y="5046927"/>
                </a:lnTo>
                <a:lnTo>
                  <a:pt x="7561252" y="3835659"/>
                </a:lnTo>
                <a:close/>
                <a:moveTo>
                  <a:pt x="6268708" y="2627011"/>
                </a:moveTo>
                <a:lnTo>
                  <a:pt x="7477356" y="3835659"/>
                </a:lnTo>
                <a:lnTo>
                  <a:pt x="6268708" y="5046927"/>
                </a:lnTo>
                <a:lnTo>
                  <a:pt x="5057440" y="3835659"/>
                </a:lnTo>
                <a:close/>
                <a:moveTo>
                  <a:pt x="10028361" y="1371173"/>
                </a:moveTo>
                <a:lnTo>
                  <a:pt x="11237008" y="2582442"/>
                </a:lnTo>
                <a:lnTo>
                  <a:pt x="10028361" y="3791088"/>
                </a:lnTo>
                <a:lnTo>
                  <a:pt x="8817091" y="2582442"/>
                </a:lnTo>
                <a:close/>
                <a:moveTo>
                  <a:pt x="7521925" y="1371173"/>
                </a:moveTo>
                <a:lnTo>
                  <a:pt x="8733195" y="2582442"/>
                </a:lnTo>
                <a:lnTo>
                  <a:pt x="7521925" y="3791088"/>
                </a:lnTo>
                <a:lnTo>
                  <a:pt x="6313279" y="2582442"/>
                </a:lnTo>
                <a:close/>
                <a:moveTo>
                  <a:pt x="8772521" y="120577"/>
                </a:moveTo>
                <a:lnTo>
                  <a:pt x="9981169" y="1329224"/>
                </a:lnTo>
                <a:lnTo>
                  <a:pt x="8772521" y="2540492"/>
                </a:lnTo>
                <a:lnTo>
                  <a:pt x="7561252" y="1329224"/>
                </a:lnTo>
                <a:close/>
                <a:moveTo>
                  <a:pt x="6391738" y="0"/>
                </a:moveTo>
                <a:lnTo>
                  <a:pt x="8654566" y="0"/>
                </a:lnTo>
                <a:lnTo>
                  <a:pt x="8733195" y="78629"/>
                </a:lnTo>
                <a:lnTo>
                  <a:pt x="7521925" y="1287276"/>
                </a:lnTo>
                <a:lnTo>
                  <a:pt x="6313279" y="78629"/>
                </a:lnTo>
                <a:close/>
              </a:path>
            </a:pathLst>
          </a:custGeom>
          <a:blipFill>
            <a:blip r:embed="rId2"/>
            <a:srcRect/>
            <a:stretch>
              <a:fillRect l="-1256" r="-14818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1620552" y="921018"/>
            <a:ext cx="3312130" cy="126006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620552" y="3118129"/>
            <a:ext cx="331213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20552" y="2821858"/>
            <a:ext cx="331213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accent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yota-global.com/company/history_of_toyota/75years/data/automotive_business/production/production/overseas/advancement/index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www.marklines.com/en/statistics/product/jp_pro2023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oldings.panasonic/global/corporate/investors/pdf/annual/2024/sec1_e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ufg.jp/dam/ir/presentation/2021/pdf/databook2203.pdf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nso.com/global/en/-/media/global/about-us/investors/annual-report/2023/annual-report-doc-2023-en-07.pdf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.softbank/media/Project/sbg/sbg/pdf/ir/financials/annual_reports/annual-report_fy2025_en.pdf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pag-lloyd.com/en/company/press/releases/2025/03/hapag-lloyd-publishes-2024-annual-report-and-announces-outlook-f.html" TargetMode="External"/><Relationship Id="rId2" Type="http://schemas.openxmlformats.org/officeDocument/2006/relationships/hyperlink" Target="https://www.marketscreener.com/quote/stock/HAPAG-LLOYD-AG-24857717/news/Hapag-Lloyd-publishes-2024-annual-report-and-announces-outlook-for-current-financial-year-49382082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eltmarktfuehrerindex.de/profil/dr-johannes-heidenhain" TargetMode="External"/><Relationship Id="rId4" Type="http://schemas.openxmlformats.org/officeDocument/2006/relationships/hyperlink" Target="https://www.heidenhain.co.jp/%E4%BC%81%E6%A5%AD%E6%83%85%E5%A0%B1/%E4%BC%9A%E7%A4%BE%E7%B4%B9%E4%BB%8B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任意多边形: 形状 490">
            <a:extLst>
              <a:ext uri="{FF2B5EF4-FFF2-40B4-BE49-F238E27FC236}">
                <a16:creationId xmlns:a16="http://schemas.microsoft.com/office/drawing/2014/main" id="{83E3A31A-7A0C-4508-A14F-E1783F689800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8" name="任意多边形: 形状 497">
            <a:extLst>
              <a:ext uri="{FF2B5EF4-FFF2-40B4-BE49-F238E27FC236}">
                <a16:creationId xmlns:a16="http://schemas.microsoft.com/office/drawing/2014/main" id="{1BCF8AED-B921-474B-92BF-4AA2E2D9956B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9" name="任意多边形: 形状 508">
            <a:extLst>
              <a:ext uri="{FF2B5EF4-FFF2-40B4-BE49-F238E27FC236}">
                <a16:creationId xmlns:a16="http://schemas.microsoft.com/office/drawing/2014/main" id="{6AAE44C1-672F-42D5-AD6F-32EBB92F54CD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6" name="任意多边形: 形状 515">
            <a:extLst>
              <a:ext uri="{FF2B5EF4-FFF2-40B4-BE49-F238E27FC236}">
                <a16:creationId xmlns:a16="http://schemas.microsoft.com/office/drawing/2014/main" id="{CB7F2E89-59B8-417B-9DF7-1138BFA46ABA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256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7" name="任意多边形: 形状 526">
            <a:extLst>
              <a:ext uri="{FF2B5EF4-FFF2-40B4-BE49-F238E27FC236}">
                <a16:creationId xmlns:a16="http://schemas.microsoft.com/office/drawing/2014/main" id="{853BAD22-7ADF-44F3-A639-8E70773BF95E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168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4" name="任意多边形: 形状 533">
            <a:extLst>
              <a:ext uri="{FF2B5EF4-FFF2-40B4-BE49-F238E27FC236}">
                <a16:creationId xmlns:a16="http://schemas.microsoft.com/office/drawing/2014/main" id="{3F0F7020-9795-49E4-AAA2-187F3A97DB11}"/>
              </a:ext>
            </a:extLst>
          </p:cNvPr>
          <p:cNvSpPr/>
          <p:nvPr/>
        </p:nvSpPr>
        <p:spPr>
          <a:xfrm>
            <a:off x="1636201" y="-5773460"/>
            <a:ext cx="12470" cy="12470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1168" cap="flat">
            <a:solidFill>
              <a:srgbClr val="232E6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69925" y="4260775"/>
            <a:ext cx="3100330" cy="49079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张天勤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69925" y="4782203"/>
            <a:ext cx="4156680" cy="296271"/>
          </a:xfrm>
        </p:spPr>
        <p:txBody>
          <a:bodyPr/>
          <a:lstStyle/>
          <a:p>
            <a:r>
              <a:rPr lang="en-US" altLang="zh-CN" sz="1400" dirty="0">
                <a:solidFill>
                  <a:schemeClr val="bg1"/>
                </a:solidFill>
              </a:rPr>
              <a:t>2025.11.11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45665" y="1274004"/>
            <a:ext cx="6887264" cy="1469518"/>
          </a:xfrm>
        </p:spPr>
        <p:txBody>
          <a:bodyPr/>
          <a:lstStyle/>
          <a:p>
            <a:r>
              <a:rPr lang="zh-CN" altLang="en-US" sz="5400" b="0" dirty="0">
                <a:solidFill>
                  <a:schemeClr val="accent4"/>
                </a:solidFill>
              </a:rPr>
              <a:t>可供参考的历史经验</a:t>
            </a:r>
            <a:br>
              <a:rPr lang="en-US" altLang="zh-CN" sz="5400" b="0" dirty="0">
                <a:solidFill>
                  <a:schemeClr val="accent4"/>
                </a:solidFill>
              </a:rPr>
            </a:br>
            <a:r>
              <a:rPr lang="zh-CN" altLang="en-US" sz="5400" b="0" dirty="0">
                <a:solidFill>
                  <a:schemeClr val="bg1"/>
                </a:solidFill>
              </a:rPr>
              <a:t>日本企业出海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800" b="0" dirty="0">
                    <a:sym typeface="+mn-lt"/>
                  </a:rPr>
                  <a:t>日本企业出海模式分类和典型案例</a:t>
                </a:r>
                <a:endParaRPr lang="en-US" altLang="zh-CN" sz="2800" b="0" dirty="0">
                  <a:sym typeface="+mn-lt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800" b="0" dirty="0">
                    <a:sym typeface="+mn-lt"/>
                  </a:rPr>
                  <a:t>其他国家的优秀经验</a:t>
                </a:r>
                <a:endParaRPr lang="en-US" altLang="zh-CN" sz="2800" b="0" dirty="0">
                  <a:sym typeface="+mn-lt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FA4A-6EB3-BF90-D635-D0A041E6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4C4E7F7-8A97-75C1-8591-8EF11C98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ym typeface="+mn-lt"/>
              </a:rPr>
              <a:t>日本企业出海模式分类和典型案例</a:t>
            </a:r>
            <a:endParaRPr lang="en-US" altLang="zh-CN" b="0" dirty="0">
              <a:sym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9C0D081-8FC8-6E56-5BB4-33169B940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1600" dirty="0"/>
              <a:t>分类提炼可供参考的历史经验与模式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DAE3E-7AFB-2AE0-1779-46798C6C39DC}"/>
              </a:ext>
            </a:extLst>
          </p:cNvPr>
          <p:cNvSpPr txBox="1"/>
          <p:nvPr/>
        </p:nvSpPr>
        <p:spPr>
          <a:xfrm>
            <a:off x="1119503" y="1716734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04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5C7A7-3501-0589-F102-E885CB40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制造业外迁型 </a:t>
            </a:r>
            <a:r>
              <a:rPr lang="en-US" altLang="zh-CN" dirty="0"/>
              <a:t>—— </a:t>
            </a:r>
            <a:r>
              <a:rPr lang="zh-CN" altLang="en-US" dirty="0"/>
              <a:t>成本导向的“雁行模式”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6A466-0BDD-7288-C79E-63ECB86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D019F9-DD4C-762E-457C-9F2C91BC1D47}"/>
              </a:ext>
            </a:extLst>
          </p:cNvPr>
          <p:cNvSpPr txBox="1"/>
          <p:nvPr/>
        </p:nvSpPr>
        <p:spPr>
          <a:xfrm>
            <a:off x="502246" y="1502839"/>
            <a:ext cx="438467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丰田汽车（</a:t>
            </a:r>
            <a:r>
              <a:rPr lang="en-US" altLang="zh-CN" sz="2000" b="1" dirty="0"/>
              <a:t>Toyota Motor Corporation</a:t>
            </a:r>
            <a:r>
              <a:rPr lang="zh-CN" altLang="en-US" sz="2000" b="1" dirty="0"/>
              <a:t>）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以制造环节“走出去”为主，核心零部件和技术保留在本土；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通过在东南亚、中国、墨西哥等地建厂降低生产成本；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带动零部件供应链共同出海，形成“日式产业集群”。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背景过程：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战后日本经济复苏，国内资源和劳动力有限，需要出口降本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1985</a:t>
            </a:r>
            <a:r>
              <a:rPr lang="zh-CN" altLang="en-US" sz="2000" dirty="0"/>
              <a:t>年</a:t>
            </a:r>
            <a:r>
              <a:rPr lang="en-US" altLang="zh-CN" sz="2000" dirty="0"/>
              <a:t>《</a:t>
            </a:r>
            <a:r>
              <a:rPr lang="zh-CN" altLang="en-US" sz="2000" dirty="0"/>
              <a:t>广场协议</a:t>
            </a:r>
            <a:r>
              <a:rPr lang="en-US" altLang="zh-CN" sz="2000" dirty="0"/>
              <a:t>》</a:t>
            </a:r>
            <a:r>
              <a:rPr lang="zh-CN" altLang="en-US" sz="2000" dirty="0"/>
              <a:t>后，日元升值使出口成本居高不下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BE2B05-1D7D-A849-6E5F-16C827CD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922" y="1292510"/>
            <a:ext cx="7023319" cy="468414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FC09B78-E7DD-6EF4-FFC0-82E873B0B6DD}"/>
              </a:ext>
            </a:extLst>
          </p:cNvPr>
          <p:cNvCxnSpPr/>
          <p:nvPr/>
        </p:nvCxnSpPr>
        <p:spPr>
          <a:xfrm>
            <a:off x="0" y="653882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0C2569-A69B-DA61-B28B-5ACBDB9940CB}"/>
              </a:ext>
            </a:extLst>
          </p:cNvPr>
          <p:cNvSpPr txBox="1"/>
          <p:nvPr/>
        </p:nvSpPr>
        <p:spPr>
          <a:xfrm>
            <a:off x="120768" y="6538821"/>
            <a:ext cx="11490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3"/>
              </a:rPr>
              <a:t>https://www.toyota-global.com/company/history_of_toyota/75years/data/automotive_business/production/production/overseas/advancement/index.html</a:t>
            </a:r>
            <a:endParaRPr lang="en-US" altLang="zh-CN" sz="1200" dirty="0"/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9981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ADEC1-3A86-F018-DDAF-FF9B68C0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成效与经验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465C4-12C1-B432-9DD2-0AF3BA7B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ABB92B-85C3-E024-FD62-E5F0B82D0172}"/>
              </a:ext>
            </a:extLst>
          </p:cNvPr>
          <p:cNvSpPr txBox="1"/>
          <p:nvPr/>
        </p:nvSpPr>
        <p:spPr>
          <a:xfrm>
            <a:off x="669923" y="1028700"/>
            <a:ext cx="61753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实现产业链生产环节全球分布、分散风险；保持核心技术优势与品牌形象</a:t>
            </a:r>
            <a:br>
              <a:rPr lang="en-US" altLang="zh-CN" sz="2000" dirty="0"/>
            </a:br>
            <a:r>
              <a:rPr lang="zh-CN" altLang="en-US" sz="2000" dirty="0"/>
              <a:t>启示：中国制造企业可借鉴其“核心留本土</a:t>
            </a:r>
            <a:r>
              <a:rPr lang="en-US" altLang="zh-CN" sz="2000" dirty="0"/>
              <a:t>—</a:t>
            </a:r>
            <a:r>
              <a:rPr lang="zh-CN" altLang="en-US" sz="2000" dirty="0"/>
              <a:t>生产走海外</a:t>
            </a:r>
            <a:r>
              <a:rPr lang="en-US" altLang="zh-CN" sz="2000" dirty="0"/>
              <a:t>—</a:t>
            </a:r>
            <a:r>
              <a:rPr lang="zh-CN" altLang="en-US" sz="2000" dirty="0"/>
              <a:t>品牌控全球”的结构。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402A5D-FE4A-CAC1-A43F-7504BA3E4122}"/>
              </a:ext>
            </a:extLst>
          </p:cNvPr>
          <p:cNvCxnSpPr/>
          <p:nvPr/>
        </p:nvCxnSpPr>
        <p:spPr>
          <a:xfrm>
            <a:off x="0" y="653882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0AE37D1-4C78-96CC-09C1-2E3AFD4B0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23494"/>
              </p:ext>
            </p:extLst>
          </p:nvPr>
        </p:nvGraphicFramePr>
        <p:xfrm>
          <a:off x="290514" y="3785855"/>
          <a:ext cx="6912000" cy="245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78799155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15586074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77862501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72667319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69501777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67600142"/>
                    </a:ext>
                  </a:extLst>
                </a:gridCol>
              </a:tblGrid>
              <a:tr h="4536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产量统计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辆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870776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日本生产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312,7951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337,0752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265,6009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287,7962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341,5864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37279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32.9%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33.6%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29.4%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33.5%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37.7%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258991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海外生产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639,3525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666,2419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637,0704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570,6023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563,7653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88440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67.1%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66.4%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70.6%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66.5%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62.3%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6836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602BE99-BCC6-455C-860E-21BF18C38788}"/>
              </a:ext>
            </a:extLst>
          </p:cNvPr>
          <p:cNvSpPr txBox="1"/>
          <p:nvPr/>
        </p:nvSpPr>
        <p:spPr>
          <a:xfrm>
            <a:off x="80210" y="6522779"/>
            <a:ext cx="7968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2"/>
              </a:rPr>
              <a:t>https://www.marklines.com/en/statistics/product/jp_pro2023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F33DF7-FDE4-3469-B9EA-B454C7B285B7}"/>
              </a:ext>
            </a:extLst>
          </p:cNvPr>
          <p:cNvSpPr txBox="1"/>
          <p:nvPr/>
        </p:nvSpPr>
        <p:spPr>
          <a:xfrm>
            <a:off x="889006" y="2801624"/>
            <a:ext cx="5576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如今，丰田汽车的本土生产量维持在总生产量的</a:t>
            </a:r>
            <a:r>
              <a:rPr lang="en-US" altLang="zh-CN" sz="2000" dirty="0"/>
              <a:t>30%</a:t>
            </a:r>
            <a:r>
              <a:rPr lang="zh-CN" altLang="en-US" sz="2000" dirty="0"/>
              <a:t>左右，具体数据如下表。</a:t>
            </a: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363F4D02-DAB9-487C-E5B1-11A360BAB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657025"/>
              </p:ext>
            </p:extLst>
          </p:nvPr>
        </p:nvGraphicFramePr>
        <p:xfrm>
          <a:off x="7202514" y="1136508"/>
          <a:ext cx="4800600" cy="5394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716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E8143-F39F-79E4-858A-66C3DFA4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本地化深耕型 </a:t>
            </a:r>
            <a:r>
              <a:rPr lang="en-US" altLang="zh-CN" dirty="0"/>
              <a:t>—— </a:t>
            </a:r>
            <a:r>
              <a:rPr lang="zh-CN" altLang="en-US" dirty="0"/>
              <a:t>市场导向的“在地融合”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47FF3-2F02-214F-A1D2-930C46AA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759D3C-DE65-F0B1-7698-AD466ED3D93A}"/>
              </a:ext>
            </a:extLst>
          </p:cNvPr>
          <p:cNvSpPr txBox="1"/>
          <p:nvPr/>
        </p:nvSpPr>
        <p:spPr>
          <a:xfrm>
            <a:off x="669924" y="1453730"/>
            <a:ext cx="1085056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松下电器（</a:t>
            </a:r>
            <a:r>
              <a:rPr lang="en-US" altLang="zh-CN" sz="2000" b="1" dirty="0"/>
              <a:t>Panasonic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从“出口导向”转为“本地化运营”；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强调“地产地消”（</a:t>
            </a:r>
            <a:r>
              <a:rPr lang="en-US" altLang="zh-CN" sz="2000" dirty="0"/>
              <a:t>local production for local consumption</a:t>
            </a:r>
            <a:r>
              <a:rPr lang="zh-CN" altLang="en-US" sz="2000" dirty="0"/>
              <a:t>）；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在海外建立研发、销售与售后网络，实现全链条布局。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20</a:t>
            </a:r>
            <a:r>
              <a:rPr lang="zh-CN" altLang="en-US" sz="2000" dirty="0"/>
              <a:t>世纪</a:t>
            </a:r>
            <a:r>
              <a:rPr lang="en-US" altLang="zh-CN" sz="2000" dirty="0"/>
              <a:t>90</a:t>
            </a:r>
            <a:r>
              <a:rPr lang="zh-CN" altLang="en-US" sz="2000" dirty="0"/>
              <a:t>年代后期，松下在中国、东南亚、美洲全面实施本地化战略。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254D7-6D5D-4EAC-15FF-94741A4BA919}"/>
              </a:ext>
            </a:extLst>
          </p:cNvPr>
          <p:cNvSpPr txBox="1"/>
          <p:nvPr/>
        </p:nvSpPr>
        <p:spPr>
          <a:xfrm>
            <a:off x="669923" y="4462649"/>
            <a:ext cx="11256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特别强调：</a:t>
            </a:r>
            <a:endParaRPr lang="en-US" altLang="zh-CN" sz="2400" b="1" dirty="0"/>
          </a:p>
          <a:p>
            <a:r>
              <a:rPr lang="zh-CN" altLang="en-US" sz="2400" b="1" dirty="0"/>
              <a:t>品牌驱动型企业常选择本地化深耕型；低附加值和规模经济企业常选择雁行模式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674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C1472-451F-3E2F-7AAB-FFC6D0FB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7BCA8-E233-D865-9AED-25DF3421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C767D1-8BFB-41A0-9AFD-08C2C7AF6F78}"/>
              </a:ext>
            </a:extLst>
          </p:cNvPr>
          <p:cNvSpPr txBox="1"/>
          <p:nvPr/>
        </p:nvSpPr>
        <p:spPr>
          <a:xfrm>
            <a:off x="669924" y="1192937"/>
            <a:ext cx="10023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形成“第二增长曲线”，抵御本土市场疲软；加深品牌与当地消费者情感连接</a:t>
            </a:r>
            <a:br>
              <a:rPr lang="zh-CN" altLang="en-US" sz="2000" dirty="0"/>
            </a:br>
            <a:r>
              <a:rPr lang="zh-CN" altLang="en-US" sz="2000" dirty="0"/>
              <a:t>启示：中国企业出海不能仅追求出口额增长，而要建立“海外本地市场的根系”。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B07645E-6F21-4215-0E50-17373AB5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91" y="3357378"/>
            <a:ext cx="5743576" cy="25798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1D8FFF9-AE78-D17C-22DA-E351306CA60B}"/>
              </a:ext>
            </a:extLst>
          </p:cNvPr>
          <p:cNvSpPr txBox="1"/>
          <p:nvPr/>
        </p:nvSpPr>
        <p:spPr>
          <a:xfrm>
            <a:off x="669923" y="2258686"/>
            <a:ext cx="4899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2024</a:t>
            </a:r>
            <a:r>
              <a:rPr lang="zh-CN" altLang="en-US" sz="1800" dirty="0"/>
              <a:t>财年，松下电器销售额分布如下图：</a:t>
            </a:r>
            <a:endParaRPr lang="en-US" altLang="zh-CN" sz="1800" dirty="0"/>
          </a:p>
          <a:p>
            <a:r>
              <a:rPr lang="zh-CN" altLang="en-US" sz="1800" dirty="0"/>
              <a:t>共</a:t>
            </a:r>
            <a:r>
              <a:rPr lang="en-US" altLang="zh-CN" sz="1800" dirty="0"/>
              <a:t>84964</a:t>
            </a:r>
            <a:r>
              <a:rPr lang="zh-CN" altLang="en-US" sz="1800" dirty="0"/>
              <a:t>亿日元</a:t>
            </a:r>
            <a:endParaRPr lang="en-US" altLang="zh-CN" sz="1800" dirty="0"/>
          </a:p>
          <a:p>
            <a:r>
              <a:rPr lang="zh-CN" altLang="en-US" sz="1800" dirty="0"/>
              <a:t>其中</a:t>
            </a:r>
            <a:r>
              <a:rPr lang="en-US" altLang="zh-CN" sz="1800" dirty="0"/>
              <a:t>60%</a:t>
            </a:r>
            <a:r>
              <a:rPr lang="zh-CN" altLang="en-US" sz="1800" dirty="0"/>
              <a:t>均为海外销售</a:t>
            </a:r>
            <a:r>
              <a:rPr lang="zh-CN" altLang="en-US" dirty="0"/>
              <a:t>，可见营收重心全球化</a:t>
            </a:r>
            <a:endParaRPr lang="en-US" altLang="zh-CN" sz="180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12D8B0D-D828-6D32-871B-C20165BE9867}"/>
              </a:ext>
            </a:extLst>
          </p:cNvPr>
          <p:cNvCxnSpPr/>
          <p:nvPr/>
        </p:nvCxnSpPr>
        <p:spPr>
          <a:xfrm>
            <a:off x="0" y="657013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2F8EB44-09EC-2F41-3B20-13D6ED07D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71144"/>
              </p:ext>
            </p:extLst>
          </p:nvPr>
        </p:nvGraphicFramePr>
        <p:xfrm>
          <a:off x="6622094" y="2272457"/>
          <a:ext cx="5043915" cy="396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3915">
                  <a:extLst>
                    <a:ext uri="{9D8B030D-6E8A-4147-A177-3AD203B41FA5}">
                      <a16:colId xmlns:a16="http://schemas.microsoft.com/office/drawing/2014/main" val="2772762455"/>
                    </a:ext>
                  </a:extLst>
                </a:gridCol>
              </a:tblGrid>
              <a:tr h="445637">
                <a:tc>
                  <a:txBody>
                    <a:bodyPr/>
                    <a:lstStyle/>
                    <a:p>
                      <a:r>
                        <a:rPr lang="zh-CN" altLang="en-US" dirty="0"/>
                        <a:t>松下电器的本土化措施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958631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本地化研发：如印度设立的</a:t>
                      </a:r>
                      <a:r>
                        <a:rPr lang="en-US" altLang="zh-CN" dirty="0"/>
                        <a:t>India </a:t>
                      </a:r>
                      <a:r>
                        <a:rPr lang="en-US" altLang="zh-CN" dirty="0" err="1"/>
                        <a:t>Inonovation</a:t>
                      </a:r>
                      <a:r>
                        <a:rPr lang="en-US" altLang="zh-CN" dirty="0"/>
                        <a:t> Center</a:t>
                      </a:r>
                      <a:r>
                        <a:rPr lang="zh-CN" altLang="en-US" dirty="0"/>
                        <a:t>，联合做研发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25784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本地化渠道：收购当地标的公司取得渠道覆盖，如收购印度</a:t>
                      </a:r>
                      <a:r>
                        <a:rPr lang="en-US" altLang="zh-CN" dirty="0"/>
                        <a:t>Anchor</a:t>
                      </a:r>
                      <a:r>
                        <a:rPr lang="zh-CN" altLang="en-US" dirty="0"/>
                        <a:t>公司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88647"/>
                  </a:ext>
                </a:extLst>
              </a:tr>
              <a:tr h="445637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本地化体验：在东南亚多地设立展厅和体验中心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00197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本地化售后：建立本地化售后、服务与经销网络。公司年报显示海外员工比例超过</a:t>
                      </a:r>
                      <a:r>
                        <a:rPr lang="en-US" altLang="zh-CN" dirty="0"/>
                        <a:t>60%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464312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本地化营销：与</a:t>
                      </a:r>
                      <a:r>
                        <a:rPr lang="en-US" altLang="zh-CN" dirty="0"/>
                        <a:t>local KOL</a:t>
                      </a:r>
                      <a:r>
                        <a:rPr lang="zh-CN" altLang="en-US" dirty="0"/>
                        <a:t>合作，如</a:t>
                      </a:r>
                      <a:r>
                        <a:rPr lang="en-US" altLang="zh-CN" dirty="0"/>
                        <a:t>MEA</a:t>
                      </a:r>
                      <a:r>
                        <a:rPr lang="zh-CN" altLang="en-US" dirty="0"/>
                        <a:t>区域的</a:t>
                      </a:r>
                      <a:r>
                        <a:rPr lang="en-US" altLang="zh-CN" dirty="0"/>
                        <a:t>Influencer Affiliate Program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79973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FBD693E-1CCC-467D-6D7A-38C181D44F88}"/>
              </a:ext>
            </a:extLst>
          </p:cNvPr>
          <p:cNvSpPr txBox="1"/>
          <p:nvPr/>
        </p:nvSpPr>
        <p:spPr>
          <a:xfrm>
            <a:off x="67110" y="6534834"/>
            <a:ext cx="10626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3"/>
              </a:rPr>
              <a:t>https://holdings.panasonic/global/corporate/investors/pdf/annual/2024/sec1_e.pdf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1496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E4E50-6694-CDED-2B3B-281E7514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服务业全球化型 </a:t>
            </a:r>
            <a:r>
              <a:rPr lang="en-US" altLang="zh-CN" dirty="0"/>
              <a:t>—— </a:t>
            </a:r>
            <a:r>
              <a:rPr lang="zh-CN" altLang="en-US" dirty="0"/>
              <a:t>由制造延伸至服务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A5BA0-5F0E-9A0F-CBC5-40B1A3DD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7CABBE-42BB-2636-8E23-E7E95AA269C8}"/>
              </a:ext>
            </a:extLst>
          </p:cNvPr>
          <p:cNvSpPr txBox="1"/>
          <p:nvPr/>
        </p:nvSpPr>
        <p:spPr>
          <a:xfrm>
            <a:off x="669923" y="1447851"/>
            <a:ext cx="10850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三菱</a:t>
            </a:r>
            <a:r>
              <a:rPr lang="en-US" altLang="zh-CN" sz="2000" b="1" dirty="0"/>
              <a:t>UFJ</a:t>
            </a:r>
            <a:r>
              <a:rPr lang="zh-CN" altLang="en-US" sz="2000" b="1" dirty="0"/>
              <a:t>金融集团（</a:t>
            </a:r>
            <a:r>
              <a:rPr lang="en-US" altLang="zh-CN" sz="2000" b="1" dirty="0"/>
              <a:t>MUFG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从服务日本跨国客户出发，逐步实现海外独立运营；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以金融服务为纽带，伴随制造业和跨国企业出海而出海。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1990</a:t>
            </a:r>
            <a:r>
              <a:rPr lang="zh-CN" altLang="en-US" sz="2000" dirty="0"/>
              <a:t>年代日本金融自由化后，大型银行推动国际业务扩展；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面向东南亚、欧美市场提供融资、投资与企业服务。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多年连续收购多家商业银行股份，如持股摩根斯坦利约</a:t>
            </a:r>
            <a:r>
              <a:rPr lang="en-US" altLang="zh-CN" sz="2000" dirty="0"/>
              <a:t>25%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C55286-1434-847E-A516-500F86BF30BB}"/>
              </a:ext>
            </a:extLst>
          </p:cNvPr>
          <p:cNvSpPr txBox="1"/>
          <p:nvPr/>
        </p:nvSpPr>
        <p:spPr>
          <a:xfrm>
            <a:off x="669922" y="4529269"/>
            <a:ext cx="1085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至</a:t>
            </a:r>
            <a:r>
              <a:rPr lang="en-US" altLang="zh-CN" sz="2000" b="1" dirty="0"/>
              <a:t>2022</a:t>
            </a:r>
            <a:r>
              <a:rPr lang="zh-CN" altLang="en-US" sz="2000" b="1" dirty="0"/>
              <a:t>年，</a:t>
            </a:r>
            <a:r>
              <a:rPr lang="en-US" altLang="zh-CN" sz="2000" b="1" dirty="0"/>
              <a:t>MUFG</a:t>
            </a:r>
            <a:r>
              <a:rPr lang="zh-CN" altLang="en-US" sz="2000" b="1" dirty="0"/>
              <a:t>集团总资产位居全球金融集团第五位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66093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6BC77-ECDB-C0C5-FAA8-CAC12109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成效与经验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45FABE-D1DE-E450-C3A9-A10199F8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152F2E-0CE3-24EE-710D-7C7EB558C976}"/>
              </a:ext>
            </a:extLst>
          </p:cNvPr>
          <p:cNvSpPr txBox="1"/>
          <p:nvPr/>
        </p:nvSpPr>
        <p:spPr>
          <a:xfrm>
            <a:off x="745456" y="1028700"/>
            <a:ext cx="10850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成为亚洲资产规模最大的银行集团，利用日本企业在海外布局的网络形成金融支持体系</a:t>
            </a:r>
            <a:br>
              <a:rPr lang="zh-CN" altLang="en-US" sz="2000" dirty="0"/>
            </a:br>
            <a:r>
              <a:rPr lang="zh-CN" altLang="en-US" sz="2000" dirty="0"/>
              <a:t>启示：中国的银行、证券、保险等可借鉴“服务随产业走”的协同出海路径。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B187FB1-437D-C232-454F-49A814508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15438"/>
              </p:ext>
            </p:extLst>
          </p:nvPr>
        </p:nvGraphicFramePr>
        <p:xfrm>
          <a:off x="617120" y="3637500"/>
          <a:ext cx="587993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987">
                  <a:extLst>
                    <a:ext uri="{9D8B030D-6E8A-4147-A177-3AD203B41FA5}">
                      <a16:colId xmlns:a16="http://schemas.microsoft.com/office/drawing/2014/main" val="2556040264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2701598100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464090358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565002121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2432914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资产规模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万亿日元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29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海外资产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77.3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78.2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61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405.9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397.8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403.7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386.8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1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19.0%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19.7%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17.4%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18.2%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77670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B3440F20-369E-EA90-B0FA-3915B671B203}"/>
              </a:ext>
            </a:extLst>
          </p:cNvPr>
          <p:cNvSpPr txBox="1"/>
          <p:nvPr/>
        </p:nvSpPr>
        <p:spPr>
          <a:xfrm>
            <a:off x="0" y="6488667"/>
            <a:ext cx="8472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https://www.mufg.jp/dam/ir/presentation/2021/pdf/databook2203.pdf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BC6E2F8-6404-6E21-AE37-840D813A5F51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4BFE895-1490-49E5-F398-626760FD2224}"/>
              </a:ext>
            </a:extLst>
          </p:cNvPr>
          <p:cNvSpPr txBox="1"/>
          <p:nvPr/>
        </p:nvSpPr>
        <p:spPr>
          <a:xfrm>
            <a:off x="617120" y="2737497"/>
            <a:ext cx="6128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观察近几年</a:t>
            </a:r>
            <a:r>
              <a:rPr lang="en-US" altLang="zh-CN" sz="1800" dirty="0"/>
              <a:t>MUFG</a:t>
            </a:r>
            <a:r>
              <a:rPr lang="zh-CN" altLang="en-US" sz="1800" dirty="0"/>
              <a:t>资产规模统计，可以发现海外资产稳定占比</a:t>
            </a:r>
            <a:r>
              <a:rPr lang="en-US" altLang="zh-CN" sz="1800" dirty="0"/>
              <a:t>17%-20%</a:t>
            </a:r>
            <a:r>
              <a:rPr lang="zh-CN" altLang="en-US" sz="1800" dirty="0"/>
              <a:t>左右，证明其稳定海外业务规模👇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0C30F8F-DEE0-7D62-2998-B111A2595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2" y="2085444"/>
            <a:ext cx="4486883" cy="3429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175CE70-3FEB-A0EB-2C70-34EE238E2D38}"/>
              </a:ext>
            </a:extLst>
          </p:cNvPr>
          <p:cNvSpPr txBox="1"/>
          <p:nvPr/>
        </p:nvSpPr>
        <p:spPr>
          <a:xfrm>
            <a:off x="669924" y="1990258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维基百科上统计了</a:t>
            </a:r>
            <a:r>
              <a:rPr lang="en-US" altLang="zh-CN" sz="1800" dirty="0"/>
              <a:t>MUFG</a:t>
            </a:r>
            <a:r>
              <a:rPr lang="zh-CN" altLang="en-US" sz="1800" dirty="0"/>
              <a:t>的主要客户，多为制造业日企👉</a:t>
            </a:r>
          </a:p>
        </p:txBody>
      </p:sp>
    </p:spTree>
    <p:extLst>
      <p:ext uri="{BB962C8B-B14F-4D97-AF65-F5344CB8AC3E}">
        <p14:creationId xmlns:p14="http://schemas.microsoft.com/office/powerpoint/2010/main" val="149509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97D50-AF22-54D1-D0B9-CB6E840D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中小企业链式出海型 </a:t>
            </a:r>
            <a:r>
              <a:rPr lang="en-US" altLang="zh-CN" dirty="0"/>
              <a:t>—— </a:t>
            </a:r>
            <a:r>
              <a:rPr lang="zh-CN" altLang="en-US" dirty="0"/>
              <a:t>跟随主导企业的“协作模式”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2D8112-0428-D0FE-2A78-E62AACA7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A3B560-B18A-D8E6-B1DB-3F6E29824E27}"/>
              </a:ext>
            </a:extLst>
          </p:cNvPr>
          <p:cNvSpPr txBox="1"/>
          <p:nvPr/>
        </p:nvSpPr>
        <p:spPr>
          <a:xfrm>
            <a:off x="669924" y="1415767"/>
            <a:ext cx="10850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电装株式会社（</a:t>
            </a:r>
            <a:r>
              <a:rPr lang="en-US" altLang="zh-CN" sz="2000" b="1" dirty="0"/>
              <a:t>Denso</a:t>
            </a:r>
            <a:r>
              <a:rPr lang="zh-CN" altLang="en-US" sz="2000" b="1" dirty="0"/>
              <a:t>）与其供应链集群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上游核心企业带动中小零部件厂商集体出海；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形成“企业生态圈”</a:t>
            </a:r>
            <a:r>
              <a:rPr lang="en-US" altLang="zh-CN" sz="2000" dirty="0"/>
              <a:t>——</a:t>
            </a:r>
            <a:r>
              <a:rPr lang="zh-CN" altLang="en-US" sz="2000" dirty="0"/>
              <a:t>主机厂（如丰田）与其配套商共同在海外设厂；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利用“抱团”模式共享资源、分摊风险。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1980–90</a:t>
            </a:r>
            <a:r>
              <a:rPr lang="zh-CN" altLang="en-US" sz="2000" dirty="0"/>
              <a:t>年代，日本汽车产业链整体向东南亚迁移；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Denso</a:t>
            </a:r>
            <a:r>
              <a:rPr lang="zh-CN" altLang="en-US" sz="2000" dirty="0"/>
              <a:t>等企业在泰国、马来西亚形成零部件产业带。</a:t>
            </a:r>
          </a:p>
        </p:txBody>
      </p:sp>
    </p:spTree>
    <p:extLst>
      <p:ext uri="{BB962C8B-B14F-4D97-AF65-F5344CB8AC3E}">
        <p14:creationId xmlns:p14="http://schemas.microsoft.com/office/powerpoint/2010/main" val="332592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96872-D0BF-3ACE-0671-BB38CD1F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81ACB-8FD0-12DF-A629-0AF9A1BD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1CD094-E5D5-0C52-6F19-3561280F2078}"/>
              </a:ext>
            </a:extLst>
          </p:cNvPr>
          <p:cNvSpPr txBox="1"/>
          <p:nvPr/>
        </p:nvSpPr>
        <p:spPr>
          <a:xfrm>
            <a:off x="669924" y="1192268"/>
            <a:ext cx="10379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降低单个企业的市场进入风险，构建紧密供应链生态，增强海外竞争力；</a:t>
            </a:r>
            <a:br>
              <a:rPr lang="zh-CN" altLang="en-US" sz="2000" dirty="0"/>
            </a:br>
            <a:r>
              <a:rPr lang="zh-CN" altLang="en-US" sz="2000" dirty="0"/>
              <a:t>启示：中国中小企业可通过产业集群、龙头带动实现“抱团出海”。</a:t>
            </a:r>
            <a:br>
              <a:rPr lang="zh-CN" altLang="en-US" sz="2000" dirty="0"/>
            </a:br>
            <a:endParaRPr lang="zh-CN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29F8F3A-3433-FCC8-F516-F05577205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053364"/>
              </p:ext>
            </p:extLst>
          </p:nvPr>
        </p:nvGraphicFramePr>
        <p:xfrm>
          <a:off x="1647824" y="3069187"/>
          <a:ext cx="812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189428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3947691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186433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24689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09852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8727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营业收入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43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3177.0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3151.1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4703.8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4166.4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4216.4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46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1759.7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2695.5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2978.3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2945.4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2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4936.7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5515.5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6401.3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7144.7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7161.8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56275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842541F-1604-F8DC-DF9C-BFBACAD6C76C}"/>
              </a:ext>
            </a:extLst>
          </p:cNvPr>
          <p:cNvSpPr txBox="1"/>
          <p:nvPr/>
        </p:nvSpPr>
        <p:spPr>
          <a:xfrm>
            <a:off x="669924" y="2268786"/>
            <a:ext cx="10379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下表是</a:t>
            </a:r>
            <a:r>
              <a:rPr lang="en-US" altLang="zh-CN" sz="2000" dirty="0"/>
              <a:t>Denso</a:t>
            </a:r>
            <a:r>
              <a:rPr lang="zh-CN" altLang="en-US" sz="2000" dirty="0"/>
              <a:t>的营收统计</a:t>
            </a:r>
            <a:endParaRPr lang="en-US" altLang="zh-CN" sz="2000" dirty="0"/>
          </a:p>
          <a:p>
            <a:r>
              <a:rPr lang="zh-CN" altLang="en-US" sz="2000" dirty="0"/>
              <a:t>尽管海外应收占比约</a:t>
            </a:r>
            <a:r>
              <a:rPr lang="en-US" altLang="zh-CN" sz="2000" dirty="0"/>
              <a:t>1/3</a:t>
            </a:r>
            <a:r>
              <a:rPr lang="zh-CN" altLang="en-US" sz="2000" dirty="0"/>
              <a:t>，但仍然可以观察到其总营收的逐年快速增长</a:t>
            </a:r>
            <a:br>
              <a:rPr lang="zh-CN" altLang="en-US" sz="2000" dirty="0"/>
            </a:b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F93AA5-DA23-A5B8-737B-1D99575E073B}"/>
              </a:ext>
            </a:extLst>
          </p:cNvPr>
          <p:cNvSpPr txBox="1"/>
          <p:nvPr/>
        </p:nvSpPr>
        <p:spPr>
          <a:xfrm>
            <a:off x="355602" y="4845116"/>
            <a:ext cx="11734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DENSO </a:t>
            </a:r>
            <a:r>
              <a:rPr lang="zh-CN" altLang="en-US" dirty="0"/>
              <a:t>在对客户的收入构成中长期显示对</a:t>
            </a:r>
            <a:r>
              <a:rPr lang="en-US" altLang="zh-CN" dirty="0"/>
              <a:t>Toyota</a:t>
            </a:r>
            <a:r>
              <a:rPr lang="zh-CN" altLang="en-US" dirty="0"/>
              <a:t>的高度依赖（公司信息披露</a:t>
            </a:r>
            <a:r>
              <a:rPr lang="en-US" altLang="zh-CN" dirty="0"/>
              <a:t>Toyota-group </a:t>
            </a:r>
            <a:r>
              <a:rPr lang="zh-CN" altLang="en-US" dirty="0"/>
              <a:t>对 </a:t>
            </a:r>
            <a:r>
              <a:rPr lang="en-US" altLang="zh-CN" dirty="0"/>
              <a:t>DENSO </a:t>
            </a:r>
            <a:r>
              <a:rPr lang="zh-CN" altLang="en-US" dirty="0"/>
              <a:t>营收占比在 </a:t>
            </a:r>
            <a:r>
              <a:rPr lang="en-US" altLang="zh-CN" dirty="0"/>
              <a:t>50% </a:t>
            </a:r>
            <a:r>
              <a:rPr lang="zh-CN" altLang="en-US" dirty="0"/>
              <a:t>附近）。这说明 </a:t>
            </a:r>
            <a:r>
              <a:rPr lang="en-US" altLang="zh-CN" dirty="0"/>
              <a:t>DENSO </a:t>
            </a:r>
            <a:r>
              <a:rPr lang="zh-CN" altLang="en-US" dirty="0"/>
              <a:t>的客户与 </a:t>
            </a:r>
            <a:r>
              <a:rPr lang="en-US" altLang="zh-CN" dirty="0"/>
              <a:t>Toyota </a:t>
            </a:r>
            <a:r>
              <a:rPr lang="zh-CN" altLang="en-US" dirty="0"/>
              <a:t>紧密绑定，其海外业务经常与 </a:t>
            </a:r>
            <a:r>
              <a:rPr lang="en-US" altLang="zh-CN" dirty="0"/>
              <a:t>Toyota </a:t>
            </a:r>
            <a:r>
              <a:rPr lang="zh-CN" altLang="en-US" dirty="0"/>
              <a:t>的海外生产</a:t>
            </a:r>
            <a:r>
              <a:rPr lang="en-US" altLang="zh-CN" dirty="0"/>
              <a:t>/</a:t>
            </a:r>
            <a:r>
              <a:rPr lang="zh-CN" altLang="en-US" dirty="0"/>
              <a:t>销售节点重合。</a:t>
            </a:r>
            <a:endParaRPr lang="en-US" altLang="zh-CN" dirty="0"/>
          </a:p>
          <a:p>
            <a:r>
              <a:rPr lang="zh-CN" altLang="en-US" dirty="0"/>
              <a:t>近年</a:t>
            </a:r>
            <a:r>
              <a:rPr lang="en-US" altLang="zh-CN" dirty="0"/>
              <a:t>DENSO</a:t>
            </a:r>
            <a:r>
              <a:rPr lang="zh-CN" altLang="en-US" dirty="0"/>
              <a:t>与</a:t>
            </a:r>
            <a:r>
              <a:rPr lang="en-US" altLang="zh-CN" dirty="0"/>
              <a:t>Toyota</a:t>
            </a:r>
            <a:r>
              <a:rPr lang="zh-CN" altLang="en-US" dirty="0"/>
              <a:t>成立了电子元件联合研发结构</a:t>
            </a:r>
            <a:endParaRPr lang="en-US" altLang="zh-CN" dirty="0"/>
          </a:p>
          <a:p>
            <a:r>
              <a:rPr lang="zh-CN" altLang="en-US" dirty="0"/>
              <a:t>官网信息也表明</a:t>
            </a:r>
            <a:r>
              <a:rPr lang="en-US" altLang="zh-CN" dirty="0"/>
              <a:t>Denso</a:t>
            </a:r>
            <a:r>
              <a:rPr lang="zh-CN" altLang="en-US" dirty="0"/>
              <a:t>“在北美、欧洲、亚洲、中国、日本等六大区构建以靠近客户为原则的生产结构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FAF14B-F232-A821-0210-78602BC826BE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05F2235-9931-BC38-32D5-3468ED7DF5B5}"/>
              </a:ext>
            </a:extLst>
          </p:cNvPr>
          <p:cNvSpPr txBox="1"/>
          <p:nvPr/>
        </p:nvSpPr>
        <p:spPr>
          <a:xfrm>
            <a:off x="0" y="6488667"/>
            <a:ext cx="12484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2"/>
              </a:rPr>
              <a:t>https://www.denso.com/global/en/-/media/global/about-us/investors/annual-report/2023/annual-report-doc-2023-en-07.pdf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630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88E7B-28A4-F86A-A8E9-78EC1C0E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战略并购型 </a:t>
            </a:r>
            <a:r>
              <a:rPr lang="en-US" altLang="zh-CN" dirty="0"/>
              <a:t>—— </a:t>
            </a:r>
            <a:r>
              <a:rPr lang="zh-CN" altLang="en-US" dirty="0"/>
              <a:t>技术与品牌的国际收购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29F384-E738-6315-52C7-BEB890FE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F14EA6-719B-E38D-87BA-DA0C9E562B4D}"/>
              </a:ext>
            </a:extLst>
          </p:cNvPr>
          <p:cNvSpPr txBox="1"/>
          <p:nvPr/>
        </p:nvSpPr>
        <p:spPr>
          <a:xfrm>
            <a:off x="669924" y="1447851"/>
            <a:ext cx="10850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软银集团（</a:t>
            </a:r>
            <a:r>
              <a:rPr lang="en-US" altLang="zh-CN" sz="2000" b="1" dirty="0"/>
              <a:t>SoftBank Group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以资本为核心，通过收购和投资掌握全球高科技资产；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投资对象涵盖电信、</a:t>
            </a:r>
            <a:r>
              <a:rPr lang="en-US" altLang="zh-CN" sz="2000" dirty="0"/>
              <a:t>AI</a:t>
            </a:r>
            <a:r>
              <a:rPr lang="zh-CN" altLang="en-US" sz="2000" dirty="0"/>
              <a:t>、芯片、机器人等领域（如收购</a:t>
            </a:r>
            <a:r>
              <a:rPr lang="en-US" altLang="zh-CN" sz="2000" dirty="0"/>
              <a:t>ARM</a:t>
            </a:r>
            <a:r>
              <a:rPr lang="zh-CN" altLang="en-US" sz="2000" dirty="0"/>
              <a:t>、投资阿里巴巴）。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21</a:t>
            </a:r>
            <a:r>
              <a:rPr lang="zh-CN" altLang="en-US" sz="2000" dirty="0"/>
              <a:t>世纪以来，日本经济增长缓慢，国内创新受限，软银以投资全球创新企业为战略出路。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软银集团通过其 “</a:t>
            </a:r>
            <a:r>
              <a:rPr lang="en-US" altLang="zh-CN" sz="2000" dirty="0"/>
              <a:t>SoftBank Vision Fund” </a:t>
            </a:r>
            <a:r>
              <a:rPr lang="zh-CN" altLang="en-US" sz="2000" dirty="0"/>
              <a:t>系列基金进行科技投资，其投资组合涵盖大量全球高科技初创</a:t>
            </a:r>
            <a:r>
              <a:rPr lang="en-US" altLang="zh-CN" sz="2000" dirty="0"/>
              <a:t>or</a:t>
            </a:r>
            <a:r>
              <a:rPr lang="zh-CN" altLang="en-US" sz="2000" dirty="0"/>
              <a:t>成长型公司</a:t>
            </a:r>
          </a:p>
        </p:txBody>
      </p:sp>
    </p:spTree>
    <p:extLst>
      <p:ext uri="{BB962C8B-B14F-4D97-AF65-F5344CB8AC3E}">
        <p14:creationId xmlns:p14="http://schemas.microsoft.com/office/powerpoint/2010/main" val="334766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B46DA-FEFC-664C-9CEF-3C8039A3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359404-013A-B4BE-A88B-1166356A5441}"/>
              </a:ext>
            </a:extLst>
          </p:cNvPr>
          <p:cNvSpPr txBox="1"/>
          <p:nvPr/>
        </p:nvSpPr>
        <p:spPr>
          <a:xfrm>
            <a:off x="669923" y="1028700"/>
            <a:ext cx="10850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形成“资本驱动型国际化”模式，成功获得技术与品牌溢价；</a:t>
            </a:r>
            <a:br>
              <a:rPr lang="zh-CN" altLang="en-US" dirty="0"/>
            </a:br>
            <a:r>
              <a:rPr lang="zh-CN" altLang="en-US" dirty="0"/>
              <a:t>启示：中国龙头企业（尤其是数字与高科技领域）可利用资本全球化实现“弯道超车”。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DA3B96-C853-89ED-2EBD-66CAA57DA88F}"/>
              </a:ext>
            </a:extLst>
          </p:cNvPr>
          <p:cNvSpPr txBox="1"/>
          <p:nvPr/>
        </p:nvSpPr>
        <p:spPr>
          <a:xfrm>
            <a:off x="669923" y="2429662"/>
            <a:ext cx="20572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截至</a:t>
            </a:r>
            <a:r>
              <a:rPr lang="en-US" altLang="zh-CN" dirty="0"/>
              <a:t>2025.6.30</a:t>
            </a:r>
            <a:r>
              <a:rPr lang="zh-CN" altLang="en-US" dirty="0"/>
              <a:t>，软银披露资产净值约为</a:t>
            </a:r>
            <a:r>
              <a:rPr lang="en-US" altLang="zh-CN" dirty="0"/>
              <a:t>32.4</a:t>
            </a:r>
            <a:r>
              <a:rPr lang="zh-CN" altLang="en-US" dirty="0"/>
              <a:t>万亿日元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截至</a:t>
            </a:r>
            <a:r>
              <a:rPr lang="en-US" altLang="zh-CN" dirty="0"/>
              <a:t>2024</a:t>
            </a:r>
            <a:r>
              <a:rPr lang="zh-CN" altLang="en-US" dirty="0"/>
              <a:t>财年，软银总资产约</a:t>
            </a:r>
            <a:r>
              <a:rPr lang="en-US" altLang="zh-CN" dirty="0"/>
              <a:t>46.72</a:t>
            </a:r>
            <a:r>
              <a:rPr lang="zh-CN" altLang="en-US" dirty="0"/>
              <a:t>万亿日元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右图是软银对海外高新科技企业的收购</a:t>
            </a:r>
            <a:r>
              <a:rPr lang="en-US" altLang="zh-CN" dirty="0"/>
              <a:t>/</a:t>
            </a:r>
            <a:r>
              <a:rPr lang="zh-CN" altLang="en-US" dirty="0"/>
              <a:t>投资表👉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8AC569-7801-6A4B-8413-194D4DD3F67D}"/>
              </a:ext>
            </a:extLst>
          </p:cNvPr>
          <p:cNvSpPr txBox="1"/>
          <p:nvPr/>
        </p:nvSpPr>
        <p:spPr>
          <a:xfrm>
            <a:off x="110067" y="6489711"/>
            <a:ext cx="863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2"/>
              </a:rPr>
              <a:t>https://group.softbank/media/Project/sbg/sbg/pdf/ir/financials/annual_reports/annual-report_fy2025_en.pdf</a:t>
            </a:r>
            <a:endParaRPr lang="en-US" altLang="zh-CN" sz="1400" dirty="0"/>
          </a:p>
          <a:p>
            <a:endParaRPr lang="zh-CN" altLang="en-US" sz="1400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C7F42BB-EF3F-48D6-904C-30CA026C5EBD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AE7949F-318D-4AB9-5EA6-41CA43D8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657412"/>
              </p:ext>
            </p:extLst>
          </p:nvPr>
        </p:nvGraphicFramePr>
        <p:xfrm>
          <a:off x="3014579" y="1772961"/>
          <a:ext cx="8691466" cy="4452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1638">
                  <a:extLst>
                    <a:ext uri="{9D8B030D-6E8A-4147-A177-3AD203B41FA5}">
                      <a16:colId xmlns:a16="http://schemas.microsoft.com/office/drawing/2014/main" val="2717891852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1051823370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4183763630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244557131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417843515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3076983068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2162572097"/>
                    </a:ext>
                  </a:extLst>
                </a:gridCol>
              </a:tblGrid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年份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收购标的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国家</a:t>
                      </a:r>
                      <a:r>
                        <a:rPr lang="en-US" altLang="zh-CN" sz="1100" b="1" dirty="0"/>
                        <a:t>/</a:t>
                      </a:r>
                      <a:r>
                        <a:rPr lang="zh-CN" altLang="en-US" sz="1100" b="1" dirty="0"/>
                        <a:t>地区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行业领域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收购金额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投资方式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主要来源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8170004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2015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Coupang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韩国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电商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10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直接投资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Reuters, SoftBank </a:t>
                      </a:r>
                      <a:r>
                        <a:rPr lang="zh-CN" altLang="en-US" sz="1100" b="1"/>
                        <a:t>公告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698053402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2016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ARM Holdings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英国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半导体</a:t>
                      </a:r>
                      <a:r>
                        <a:rPr lang="en-US" altLang="zh-CN" sz="1100" b="1"/>
                        <a:t>/</a:t>
                      </a:r>
                      <a:r>
                        <a:rPr lang="en-US" sz="1100" b="1"/>
                        <a:t>IP </a:t>
                      </a:r>
                      <a:r>
                        <a:rPr lang="zh-CN" altLang="en-US" sz="1100" b="1"/>
                        <a:t>设计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320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全资收购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SoftBank </a:t>
                      </a:r>
                      <a:r>
                        <a:rPr lang="zh-CN" altLang="en-US" sz="1100" b="1"/>
                        <a:t>年报</a:t>
                      </a:r>
                      <a:r>
                        <a:rPr lang="en-US" altLang="zh-CN" sz="1100" b="1"/>
                        <a:t>, </a:t>
                      </a:r>
                      <a:r>
                        <a:rPr lang="en-US" sz="1100" b="1"/>
                        <a:t>FT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289418052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2017–2019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WeWork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共享办公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约 </a:t>
                      </a:r>
                      <a:r>
                        <a:rPr lang="en-US" altLang="zh-CN" sz="1100" b="1"/>
                        <a:t>104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多轮投资与控股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Bloomberg, 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334732171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Uber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出行平台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约 </a:t>
                      </a:r>
                      <a:r>
                        <a:rPr lang="en-US" altLang="zh-CN" sz="1100" b="1"/>
                        <a:t>77 </a:t>
                      </a:r>
                      <a:r>
                        <a:rPr lang="zh-CN" altLang="en-US" sz="1100" b="1"/>
                        <a:t>亿（持股估值）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股权收购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463194659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DoorDash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外卖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平台经济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2.8 </a:t>
                      </a:r>
                      <a:r>
                        <a:rPr lang="zh-CN" altLang="en-US" sz="1100" b="1"/>
                        <a:t>亿首投，后多轮追加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基金投资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CNBC, Vision Fund </a:t>
                      </a:r>
                      <a:r>
                        <a:rPr lang="zh-CN" altLang="en-US" sz="1100" b="1"/>
                        <a:t>披露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4152167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2018–2021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Coupang（</a:t>
                      </a:r>
                      <a:r>
                        <a:rPr lang="zh-CN" altLang="en-US" sz="1100" b="1"/>
                        <a:t>追加）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韩国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电商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 dirty="0"/>
                        <a:t>20 </a:t>
                      </a:r>
                      <a:r>
                        <a:rPr lang="zh-CN" altLang="en-US" sz="1100" b="1" dirty="0"/>
                        <a:t>亿追加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Vision Fund </a:t>
                      </a:r>
                      <a:r>
                        <a:rPr lang="zh-CN" altLang="en-US" sz="1100" b="1"/>
                        <a:t>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Nikkei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284556658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2016–2020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Didi Chuxing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中国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自动驾驶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约 </a:t>
                      </a:r>
                      <a:r>
                        <a:rPr lang="en-US" altLang="zh-CN" sz="1100" b="1" dirty="0"/>
                        <a:t>50 </a:t>
                      </a:r>
                      <a:r>
                        <a:rPr lang="zh-CN" altLang="en-US" sz="1100" b="1" dirty="0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多轮投资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2281636138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2018–2019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Grab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东南亚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超级 </a:t>
                      </a:r>
                      <a:r>
                        <a:rPr lang="en-US" sz="1100" b="1"/>
                        <a:t>App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14.6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Vision Fund </a:t>
                      </a:r>
                      <a:r>
                        <a:rPr lang="zh-CN" altLang="en-US" sz="1100" b="1"/>
                        <a:t>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Nikkei, 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549466231"/>
                  </a:ext>
                </a:extLst>
              </a:tr>
              <a:tr h="203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GM Cruise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自动驾驶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22.5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战略投资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64368324"/>
                  </a:ext>
                </a:extLst>
              </a:tr>
              <a:tr h="203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OYO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印度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酒店平台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数亿美元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多轮投资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2364258424"/>
                  </a:ext>
                </a:extLst>
              </a:tr>
              <a:tr h="621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 dirty="0"/>
                        <a:t>2017–2023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Databricks、Graphcore、Nuro</a:t>
                      </a:r>
                      <a:r>
                        <a:rPr lang="en-US" sz="1100" b="1" dirty="0"/>
                        <a:t> </a:t>
                      </a:r>
                      <a:endParaRPr lang="zh-CN" altLang="en-US" sz="1100" b="1" dirty="0"/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高科技</a:t>
                      </a:r>
                      <a:r>
                        <a:rPr lang="en-US" altLang="zh-CN" sz="1100" b="1"/>
                        <a:t>/</a:t>
                      </a:r>
                      <a:r>
                        <a:rPr lang="en-US" sz="1100" b="1"/>
                        <a:t>AI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累计逾百亿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Vision Fund </a:t>
                      </a:r>
                      <a:r>
                        <a:rPr lang="zh-CN" altLang="en-US" sz="1100" b="1" dirty="0"/>
                        <a:t>系列投资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SoftBank Vision Fund </a:t>
                      </a:r>
                      <a:r>
                        <a:rPr lang="zh-CN" altLang="en-US" sz="1100" b="1" dirty="0"/>
                        <a:t>年报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124204189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2025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Ampere Computing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数据中心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半导体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65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全资收购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SoftBank </a:t>
                      </a:r>
                      <a:r>
                        <a:rPr lang="zh-CN" altLang="en-US" sz="1100" b="1" dirty="0"/>
                        <a:t>公告</a:t>
                      </a:r>
                      <a:r>
                        <a:rPr lang="en-US" altLang="zh-CN" sz="1100" b="1" dirty="0"/>
                        <a:t>, </a:t>
                      </a:r>
                      <a:r>
                        <a:rPr lang="en-US" sz="1100" b="1" dirty="0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868413569"/>
                  </a:ext>
                </a:extLst>
              </a:tr>
            </a:tbl>
          </a:graphicData>
        </a:graphic>
      </p:graphicFrame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1476C04F-AFD2-B48C-1CA8-DEB77AA6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5692" y="654494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510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FDA6-0DB7-6ABA-EF3B-7946939D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B336DA0-021E-57C6-2057-C8A04693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ym typeface="+mn-lt"/>
              </a:rPr>
              <a:t>其他国家的优秀经验</a:t>
            </a:r>
            <a:endParaRPr lang="en-US" altLang="zh-CN" b="0" dirty="0">
              <a:sym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FCE2421-88B5-FC59-C4AE-91B5A9B3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德国“隐形冠军”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287705-6DD0-34E8-1615-08C3603685F4}"/>
              </a:ext>
            </a:extLst>
          </p:cNvPr>
          <p:cNvSpPr txBox="1"/>
          <p:nvPr/>
        </p:nvSpPr>
        <p:spPr>
          <a:xfrm>
            <a:off x="1119503" y="1716734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66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4779-5CC6-C320-B9A9-ECE18BDC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05D3-0247-C0CE-A8D2-B5D0EC59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德国：以“隐形冠军”构建全球竞争力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2D1971-4B5D-18FF-F78D-86C7276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CF3FE7-C3DE-4BB2-F2C3-D6FDB69FCBFB}"/>
              </a:ext>
            </a:extLst>
          </p:cNvPr>
          <p:cNvSpPr txBox="1"/>
          <p:nvPr/>
        </p:nvSpPr>
        <p:spPr>
          <a:xfrm>
            <a:off x="669925" y="1549043"/>
            <a:ext cx="1085056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模式概述：</a:t>
            </a: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德国中小型制造企业长期深耕细分市场，通过持续创新、专注核心技术成为行业“隐形冠军”。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这些企业普遍规模不大，但在全球市场拥有极高份额，如海德汉（</a:t>
            </a:r>
            <a:r>
              <a:rPr lang="en-US" altLang="zh-CN" sz="2000" dirty="0" err="1"/>
              <a:t>Heidenhain</a:t>
            </a:r>
            <a:r>
              <a:rPr lang="zh-CN" altLang="en-US" sz="2000" dirty="0"/>
              <a:t>，精密测量设备）、赫伯罗特（</a:t>
            </a:r>
            <a:r>
              <a:rPr lang="en-US" altLang="zh-CN" sz="2000" dirty="0"/>
              <a:t>Hapag-Lloyd</a:t>
            </a:r>
            <a:r>
              <a:rPr lang="zh-CN" altLang="en-US" sz="2000" dirty="0"/>
              <a:t>，航运）等。</a:t>
            </a:r>
            <a:endParaRPr lang="en-US" altLang="zh-CN" sz="2000" dirty="0"/>
          </a:p>
          <a:p>
            <a:endParaRPr lang="zh-CN" altLang="en-US" sz="2000" dirty="0"/>
          </a:p>
          <a:p>
            <a:pPr>
              <a:buNone/>
            </a:pPr>
            <a:r>
              <a:rPr lang="zh-CN" altLang="en-US" sz="2000" b="1" dirty="0"/>
              <a:t>关键经验：</a:t>
            </a:r>
            <a:endParaRPr lang="zh-CN" altLang="en-US" sz="2000" dirty="0"/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长期主义与技术专精</a:t>
            </a:r>
            <a:r>
              <a:rPr lang="zh-CN" altLang="en-US" sz="2000" dirty="0"/>
              <a:t>：持续投入研发，掌握独门技术，不盲目扩张。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本地化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全球网络</a:t>
            </a:r>
            <a:r>
              <a:rPr lang="zh-CN" altLang="en-US" sz="2000" dirty="0"/>
              <a:t>：在海外建立技术服务中心和销售子公司，而非简单建厂。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职业教育与产业协同</a:t>
            </a:r>
            <a:r>
              <a:rPr lang="zh-CN" altLang="en-US" sz="2000" dirty="0"/>
              <a:t>：德国完善的“双元制”体系保障企业拥有稳定的技能型人才供给。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zh-CN" altLang="en-US" sz="2000" b="1" dirty="0"/>
              <a:t>对中国企业启示：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出海不仅是市场或成本行为，更要以技术和产品壁垒为核心；</a:t>
            </a:r>
            <a:br>
              <a:rPr lang="zh-CN" altLang="en-US" sz="2000" dirty="0"/>
            </a:br>
            <a:r>
              <a:rPr lang="zh-CN" altLang="en-US" sz="2000" dirty="0"/>
              <a:t>打造“专精特新”的全球化中小企业，而非追求规模扩张。</a:t>
            </a:r>
          </a:p>
        </p:txBody>
      </p:sp>
    </p:spTree>
    <p:extLst>
      <p:ext uri="{BB962C8B-B14F-4D97-AF65-F5344CB8AC3E}">
        <p14:creationId xmlns:p14="http://schemas.microsoft.com/office/powerpoint/2010/main" val="378960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60917-F913-830E-7492-76E00D25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成果和经验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522803-88FC-DF07-2CFB-EC49862B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9469B3-42D2-1EA1-2C36-95A2A99B90BC}"/>
              </a:ext>
            </a:extLst>
          </p:cNvPr>
          <p:cNvSpPr txBox="1"/>
          <p:nvPr/>
        </p:nvSpPr>
        <p:spPr>
          <a:xfrm>
            <a:off x="669924" y="13714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Hapag-Lloyd </a:t>
            </a:r>
            <a:r>
              <a:rPr lang="zh-CN" altLang="en-US" sz="2400" b="1" dirty="0"/>
              <a:t>赫伯罗特出海成效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509621-D915-66CC-7760-0CB6BFB4F12D}"/>
              </a:ext>
            </a:extLst>
          </p:cNvPr>
          <p:cNvSpPr txBox="1"/>
          <p:nvPr/>
        </p:nvSpPr>
        <p:spPr>
          <a:xfrm>
            <a:off x="6448928" y="13534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Heidenhain</a:t>
            </a:r>
            <a:r>
              <a:rPr lang="zh-CN" altLang="en-US" sz="2400" b="1" dirty="0"/>
              <a:t>海德汉特出海成效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93D9CA-217C-EFA7-5571-DF0BAD9F717F}"/>
              </a:ext>
            </a:extLst>
          </p:cNvPr>
          <p:cNvCxnSpPr/>
          <p:nvPr/>
        </p:nvCxnSpPr>
        <p:spPr>
          <a:xfrm>
            <a:off x="5999749" y="1407783"/>
            <a:ext cx="0" cy="483268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0468E0-8A3B-D241-8B8A-4F2A625D1D3E}"/>
              </a:ext>
            </a:extLst>
          </p:cNvPr>
          <p:cNvSpPr txBox="1"/>
          <p:nvPr/>
        </p:nvSpPr>
        <p:spPr>
          <a:xfrm>
            <a:off x="669923" y="2256010"/>
            <a:ext cx="51854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公司公报披露：“</a:t>
            </a:r>
            <a:r>
              <a:rPr lang="en-US" altLang="zh-CN" dirty="0"/>
              <a:t>397 offices in 139 countries” </a:t>
            </a:r>
            <a:r>
              <a:rPr lang="zh-CN" altLang="en-US" dirty="0"/>
              <a:t>和 “</a:t>
            </a:r>
            <a:r>
              <a:rPr lang="en-US" altLang="zh-CN" dirty="0"/>
              <a:t>113 liner services worldwide … more than 600 ports on all the continents”. (</a:t>
            </a:r>
            <a:r>
              <a:rPr lang="en-US" altLang="zh-CN" dirty="0">
                <a:hlinkClick r:id="rId2"/>
              </a:rPr>
              <a:t>https://www.marketscreener.com/quote/stock/HAPAG-LLOYD-AG-24857717/news/Hapag-Lloyd-publishes-2024-annual-report-and-announces-outlook-for-current-financial-year-49382082/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· 2024</a:t>
            </a:r>
            <a:r>
              <a:rPr lang="zh-CN" altLang="en-US" dirty="0"/>
              <a:t>财年，集团营收约</a:t>
            </a:r>
            <a:r>
              <a:rPr lang="en-US" altLang="zh-CN" dirty="0"/>
              <a:t>191.12</a:t>
            </a:r>
            <a:r>
              <a:rPr lang="zh-CN" altLang="en-US" dirty="0"/>
              <a:t>亿欧元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https://www.hapag-lloyd.com/en/company/press/releases/2025/03/hapag-lloyd-publishes-2024-annual-report-and-announces-outlook-f.html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DE3A79-EEB3-23FA-B245-6428EEF545BC}"/>
              </a:ext>
            </a:extLst>
          </p:cNvPr>
          <p:cNvSpPr txBox="1"/>
          <p:nvPr/>
        </p:nvSpPr>
        <p:spPr>
          <a:xfrm>
            <a:off x="6448133" y="2304135"/>
            <a:ext cx="39509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公司官网披露，全球设有约 “</a:t>
            </a:r>
            <a:r>
              <a:rPr lang="en-US" altLang="zh-CN" dirty="0"/>
              <a:t>30 sales and service subsidiaries” + “~40 distributors” (</a:t>
            </a:r>
            <a:r>
              <a:rPr lang="en-US" altLang="zh-CN" dirty="0">
                <a:hlinkClick r:id="rId4"/>
              </a:rPr>
              <a:t>https://www.heidenhain.co.jp/%E4%BC%81%E6%A5%AD%E6%83%85%E5%A0%B1/%E4%BC%9A%E7%A4%BE%E7%B4%B9%E4%BB%8B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· 2023</a:t>
            </a:r>
            <a:r>
              <a:rPr lang="zh-CN" altLang="en-US" dirty="0"/>
              <a:t>集团营业额约</a:t>
            </a:r>
            <a:r>
              <a:rPr lang="en-US" altLang="zh-CN" dirty="0"/>
              <a:t>13</a:t>
            </a:r>
            <a:r>
              <a:rPr lang="zh-CN" altLang="en-US" dirty="0"/>
              <a:t>亿欧元；管理层访谈披露：海外销售占比超过</a:t>
            </a:r>
            <a:r>
              <a:rPr lang="en-US" altLang="zh-CN" dirty="0"/>
              <a:t>50%  (</a:t>
            </a:r>
            <a:r>
              <a:rPr lang="en-US" altLang="zh-CN" dirty="0">
                <a:hlinkClick r:id="rId5"/>
              </a:rPr>
              <a:t>https://www.weltmarktfuehrerindex.de/profil/dr-johannes-heidenhain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0914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1163713" y="881342"/>
            <a:ext cx="3312130" cy="1507751"/>
          </a:xfrm>
        </p:spPr>
        <p:txBody>
          <a:bodyPr/>
          <a:lstStyle/>
          <a:p>
            <a:r>
              <a:rPr lang="zh-CN" altLang="en-US" sz="4800" dirty="0"/>
              <a:t>谢谢观看</a:t>
            </a:r>
            <a:endParaRPr lang="zh-CN" altLang="en-US" b="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163713" y="3598958"/>
            <a:ext cx="3312130" cy="310871"/>
          </a:xfrm>
        </p:spPr>
        <p:txBody>
          <a:bodyPr/>
          <a:lstStyle/>
          <a:p>
            <a:r>
              <a:rPr lang="en-US" altLang="zh-CN" dirty="0"/>
              <a:t>2025.11.11</a:t>
            </a:r>
            <a:endParaRPr lang="en-US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1163713" y="3238624"/>
            <a:ext cx="3312130" cy="296271"/>
          </a:xfrm>
        </p:spPr>
        <p:txBody>
          <a:bodyPr/>
          <a:lstStyle/>
          <a:p>
            <a:r>
              <a:rPr lang="zh-CN" altLang="en-US" dirty="0"/>
              <a:t>张天勤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89dd34d1-e440-4ce9-9dce-a3a368b0545c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85A75"/>
      </a:accent1>
      <a:accent2>
        <a:srgbClr val="BBC7DD"/>
      </a:accent2>
      <a:accent3>
        <a:srgbClr val="00215B"/>
      </a:accent3>
      <a:accent4>
        <a:srgbClr val="FFBF00"/>
      </a:accent4>
      <a:accent5>
        <a:srgbClr val="91A7CA"/>
      </a:accent5>
      <a:accent6>
        <a:srgbClr val="1D3248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85A75"/>
    </a:accent1>
    <a:accent2>
      <a:srgbClr val="BBC7DD"/>
    </a:accent2>
    <a:accent3>
      <a:srgbClr val="00215B"/>
    </a:accent3>
    <a:accent4>
      <a:srgbClr val="FFBF00"/>
    </a:accent4>
    <a:accent5>
      <a:srgbClr val="91A7CA"/>
    </a:accent5>
    <a:accent6>
      <a:srgbClr val="1D3248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182</TotalTime>
  <Words>1987</Words>
  <Application>Microsoft Office PowerPoint</Application>
  <PresentationFormat>宽屏</PresentationFormat>
  <Paragraphs>305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Arial</vt:lpstr>
      <vt:lpstr>Calibri</vt:lpstr>
      <vt:lpstr>Impact</vt:lpstr>
      <vt:lpstr>主题5</vt:lpstr>
      <vt:lpstr>可供参考的历史经验 日本企业出海</vt:lpstr>
      <vt:lpstr>PowerPoint 演示文稿</vt:lpstr>
      <vt:lpstr>日本企业出海模式分类和典型案例</vt:lpstr>
      <vt:lpstr>制造业外迁型 —— 成本导向的“雁行模式”</vt:lpstr>
      <vt:lpstr>成效与经验</vt:lpstr>
      <vt:lpstr>本地化深耕型 —— 市场导向的“在地融合”</vt:lpstr>
      <vt:lpstr>成效与经验：</vt:lpstr>
      <vt:lpstr>服务业全球化型 —— 由制造延伸至服务</vt:lpstr>
      <vt:lpstr>成效与经验</vt:lpstr>
      <vt:lpstr>中小企业链式出海型 —— 跟随主导企业的“协作模式”</vt:lpstr>
      <vt:lpstr>成效与经验：</vt:lpstr>
      <vt:lpstr>战略并购型 —— 技术与品牌的国际收购</vt:lpstr>
      <vt:lpstr>成效与经验：</vt:lpstr>
      <vt:lpstr>其他国家的优秀经验</vt:lpstr>
      <vt:lpstr>德国：以“隐形冠军”构建全球竞争力</vt:lpstr>
      <vt:lpstr>成果和经验</vt:lpstr>
      <vt:lpstr>谢谢观看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Tina Zhang</cp:lastModifiedBy>
  <cp:revision>44</cp:revision>
  <cp:lastPrinted>2019-03-24T16:00:00Z</cp:lastPrinted>
  <dcterms:created xsi:type="dcterms:W3CDTF">2019-03-24T16:00:00Z</dcterms:created>
  <dcterms:modified xsi:type="dcterms:W3CDTF">2025-11-11T07:34:56Z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