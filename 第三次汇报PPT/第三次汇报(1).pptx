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  <p:sldId id="263" r:id="rId9"/>
    <p:sldId id="265" r:id="rId10"/>
    <p:sldId id="264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0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BF44BC-DAC9-FF80-9D27-9192963A77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7AF0006-D8BB-2B3D-EB0C-4F5332BD9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D52F55-801B-1207-044C-00434793F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41F40-A2F8-4EB8-80DD-932F17A83454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860901-D892-CEE6-670D-2C4D57F10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F96A2F-93D7-C76C-FB71-C006F06F9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5E835-9D5E-4F9A-9D7E-F6DE656A19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0988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E3BAC4-021B-61CB-5F83-97081EC63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B939D8-4E19-09B0-4F5A-A264EBB13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846A00-FC8F-9C41-BB12-BADA11BE8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41F40-A2F8-4EB8-80DD-932F17A83454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504D18-8950-A221-F0A4-95CAF46A7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6394A6-4C69-9635-6D77-5EFC394ED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5E835-9D5E-4F9A-9D7E-F6DE656A19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4044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411A6A-D690-BF65-1BB6-4176C2541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F7DFCC-00D2-9484-90C9-84718714D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E5FDE3-992B-A653-0E13-0D38FE8B5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41F40-A2F8-4EB8-80DD-932F17A83454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6BBF9E-3040-C8DD-D786-BD3D12582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C1F730-2689-E51B-309B-BF8E9B060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5E835-9D5E-4F9A-9D7E-F6DE656A19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3368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82C2D9-FAB6-A8C6-DF3E-207FB964E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5F39B-1B8A-7384-9BF6-CD3FB3387B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2A4633-0366-8EE4-5E77-9D69DA9A4E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7CD3BE-A9C4-7A74-4383-7196F8716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41F40-A2F8-4EB8-80DD-932F17A83454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46ACEC-AC2D-375F-0CBF-A45D71B13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A08227-EBF4-DB50-DA5A-F64504E9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5E835-9D5E-4F9A-9D7E-F6DE656A19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638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C431BF-CF09-E6D7-1817-D62A95FAC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C833E3-69EC-DD6B-3A95-AEC599116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EACF54-5487-445D-DF27-04CD59802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E263748-33D1-2EFB-03F8-243E53830A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5A216E9-060E-9836-0178-CE0B001C4C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ABCF645-DDDE-1DBC-CDC9-1B6735787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41F40-A2F8-4EB8-80DD-932F17A83454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C2866EA-A97C-B8D4-C5AE-B6B04FAA5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A79DDAB-51BF-26A2-D6BA-60EE7E77B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5E835-9D5E-4F9A-9D7E-F6DE656A19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545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827416-7F04-80EC-97CB-C7BE16320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804B9A2-97C7-9B4D-ED04-B800A4084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41F40-A2F8-4EB8-80DD-932F17A83454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3174D01-4A3E-5D85-71B8-43E9B8824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E1E505-2ABF-D586-C433-620CD61CB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5E835-9D5E-4F9A-9D7E-F6DE656A19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4080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CFE3E08-0D33-CFFE-06B7-777C7D069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41F40-A2F8-4EB8-80DD-932F17A83454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BB81EE3-51CD-3FB4-4BBB-D39B0DA11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13B49C-9B3B-82FD-2FDB-D81763FF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5E835-9D5E-4F9A-9D7E-F6DE656A19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5244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95838B-D270-020E-9786-BB7FB6D71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5C69E5-9394-35FE-60EA-6A418C69C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632F8D-5AFF-D4AF-0A19-07871F1672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E08AB8-E202-EFAC-A6A7-3004E8EC9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41F40-A2F8-4EB8-80DD-932F17A83454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58B0B9-16DF-4A0C-2FB1-769641F8B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67E878-868D-37FB-1817-ACE983CB2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5E835-9D5E-4F9A-9D7E-F6DE656A19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705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967437-8BD4-B90D-D9C7-85BED5867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4E02C39-AF11-259D-052B-2D0B0B4BFF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D29333-A6F0-22E5-DE67-243DAA05E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2A437C-1ECB-F151-AB79-679C99F7D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41F40-A2F8-4EB8-80DD-932F17A83454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433195-59C1-75FA-E906-A44271153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9A90B7-1B57-8192-519A-658DC24A3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5E835-9D5E-4F9A-9D7E-F6DE656A19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452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F25BF6-A038-097F-1F90-09388A929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4DDB63-564C-F280-B96D-41E560C344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208832-A26E-2ED0-8404-F551AC3DA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41F40-A2F8-4EB8-80DD-932F17A83454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B1E980-649C-08EA-1BE9-8DAE9432F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AA50E5-AB5D-50A0-1916-2A1F1BDF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5E835-9D5E-4F9A-9D7E-F6DE656A19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3063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50A3CF0-C543-B9CF-8F60-F31AFC66EC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E7D235-D53E-0467-D84A-D5B65BE474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36F251-A69C-DCE7-6350-14C51571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41F40-A2F8-4EB8-80DD-932F17A83454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6DD92A-BB40-48CE-E9E9-6A06DE587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A57217-E890-973E-2722-68B62030E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65E835-9D5E-4F9A-9D7E-F6DE656A19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1612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2B9C884-44A1-E958-230E-53281212D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DAAD85-EE89-1235-7662-DFD370576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7F1DC4-EF7B-EC76-CC03-E97B93CB94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A41F40-A2F8-4EB8-80DD-932F17A83454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84D633-1176-9CD6-3814-7C175F85F6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F947F7-7980-4EE3-71A4-F49382AA7A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5E835-9D5E-4F9A-9D7E-F6DE656A19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255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566CFF-B100-FECC-E302-B3F91EE684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第三次汇报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9EFDCBF-B919-D7CB-CF51-965D63A539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936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9F568A-28BB-1590-E59B-B38B94949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371" y="89354"/>
            <a:ext cx="10515600" cy="1325563"/>
          </a:xfrm>
        </p:spPr>
        <p:txBody>
          <a:bodyPr/>
          <a:lstStyle/>
          <a:p>
            <a:r>
              <a:rPr lang="zh-CN" altLang="en-US" dirty="0"/>
              <a:t>行业分析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FA2B30-1747-5A12-2BE6-3FBF43C80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371" y="1414917"/>
            <a:ext cx="10515600" cy="544308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zh-CN" altLang="zh-CN" dirty="0"/>
              <a:t>行业规模</a:t>
            </a:r>
          </a:p>
          <a:p>
            <a:r>
              <a:rPr lang="zh-CN" altLang="zh-CN" dirty="0"/>
              <a:t>电助力自行车市场：全球年销量约</a:t>
            </a:r>
            <a:r>
              <a:rPr lang="en-US" altLang="zh-CN" dirty="0"/>
              <a:t> 4000</a:t>
            </a:r>
            <a:r>
              <a:rPr lang="zh-CN" altLang="zh-CN" dirty="0"/>
              <a:t>–</a:t>
            </a:r>
            <a:r>
              <a:rPr lang="en-US" altLang="zh-CN" dirty="0"/>
              <a:t>5000 </a:t>
            </a:r>
            <a:r>
              <a:rPr lang="zh-CN" altLang="zh-CN" dirty="0"/>
              <a:t>万辆。</a:t>
            </a:r>
          </a:p>
          <a:p>
            <a:r>
              <a:rPr lang="zh-CN" altLang="zh-CN" dirty="0"/>
              <a:t>驱动系统市场作为核心零部件，约占整车成本的</a:t>
            </a:r>
            <a:r>
              <a:rPr lang="en-US" altLang="zh-CN" dirty="0"/>
              <a:t> 15</a:t>
            </a:r>
            <a:r>
              <a:rPr lang="zh-CN" altLang="zh-CN" dirty="0"/>
              <a:t>–</a:t>
            </a:r>
            <a:r>
              <a:rPr lang="en-US" altLang="zh-CN" dirty="0"/>
              <a:t>25%</a:t>
            </a:r>
            <a:r>
              <a:rPr lang="zh-CN" altLang="zh-CN" dirty="0"/>
              <a:t>，市场规模随整车销量而增长。</a:t>
            </a:r>
          </a:p>
          <a:p>
            <a:pPr marL="0" indent="0">
              <a:buNone/>
            </a:pPr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出口市场规模</a:t>
            </a:r>
          </a:p>
          <a:p>
            <a:r>
              <a:rPr lang="zh-CN" altLang="zh-CN" dirty="0"/>
              <a:t>欧洲为最大出口市场，占全球电助力自行车销量约</a:t>
            </a:r>
            <a:r>
              <a:rPr lang="en-US" altLang="zh-CN" dirty="0"/>
              <a:t> 50%</a:t>
            </a:r>
            <a:r>
              <a:rPr lang="zh-CN" altLang="zh-CN" dirty="0"/>
              <a:t>。</a:t>
            </a:r>
          </a:p>
          <a:p>
            <a:r>
              <a:rPr lang="zh-CN" altLang="zh-CN" dirty="0"/>
              <a:t>八方股份出口市场主要集中在欧美市场，受市场成熟度和环保政策推动。</a:t>
            </a:r>
          </a:p>
          <a:p>
            <a:pPr marL="0" indent="0">
              <a:buNone/>
            </a:pPr>
            <a:r>
              <a:rPr lang="en-US" altLang="zh-CN" dirty="0"/>
              <a:t> </a:t>
            </a:r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增长趋势</a:t>
            </a:r>
          </a:p>
          <a:p>
            <a:r>
              <a:rPr lang="zh-CN" altLang="zh-CN" dirty="0"/>
              <a:t>高端电助力自行车（中置电机、智能控制）年增速可达</a:t>
            </a:r>
            <a:r>
              <a:rPr lang="en-US" altLang="zh-CN" dirty="0"/>
              <a:t> 10</a:t>
            </a:r>
            <a:r>
              <a:rPr lang="zh-CN" altLang="zh-CN" dirty="0"/>
              <a:t>–</a:t>
            </a:r>
            <a:r>
              <a:rPr lang="en-US" altLang="zh-CN" dirty="0"/>
              <a:t>15%</a:t>
            </a:r>
            <a:r>
              <a:rPr lang="zh-CN" altLang="zh-CN" dirty="0"/>
              <a:t>。</a:t>
            </a:r>
          </a:p>
          <a:p>
            <a:r>
              <a:rPr lang="zh-CN" altLang="zh-CN" dirty="0"/>
              <a:t>技术创新、智能化控制系统、续航提升等推动高端零部件需求增长。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3146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1AB5A-F72A-4724-927B-5A188EEB8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A3A6FB-9F43-E544-A70B-BED31E40E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371" y="89354"/>
            <a:ext cx="10515600" cy="1325563"/>
          </a:xfrm>
        </p:spPr>
        <p:txBody>
          <a:bodyPr/>
          <a:lstStyle/>
          <a:p>
            <a:r>
              <a:rPr lang="zh-CN" altLang="en-US" dirty="0"/>
              <a:t>行业分析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95C24C-400A-93A1-529E-74D9A42C8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371" y="1414917"/>
            <a:ext cx="10515600" cy="544308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zh-CN" altLang="zh-CN" dirty="0"/>
              <a:t>国内竞争</a:t>
            </a:r>
          </a:p>
          <a:p>
            <a:r>
              <a:rPr lang="zh-CN" altLang="zh-CN" dirty="0"/>
              <a:t>国内零部件企业集中度较低，除了八方股份外，还有 速珂、雅迪</a:t>
            </a:r>
            <a:r>
              <a:rPr lang="en-US" altLang="zh-CN" dirty="0"/>
              <a:t>/</a:t>
            </a:r>
            <a:r>
              <a:rPr lang="zh-CN" altLang="zh-CN" dirty="0"/>
              <a:t>绿源自主研发零部件等。</a:t>
            </a:r>
          </a:p>
          <a:p>
            <a:r>
              <a:rPr lang="zh-CN" altLang="zh-CN" dirty="0"/>
              <a:t>高端驱动系统技术壁垒较高，形成了前期投资和研发积累优势。</a:t>
            </a:r>
          </a:p>
          <a:p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国际竞争</a:t>
            </a:r>
          </a:p>
          <a:p>
            <a:r>
              <a:rPr lang="zh-CN" altLang="zh-CN" dirty="0"/>
              <a:t>欧洲品牌如</a:t>
            </a:r>
            <a:r>
              <a:rPr lang="en-US" altLang="zh-CN" dirty="0"/>
              <a:t> Bosch</a:t>
            </a:r>
            <a:r>
              <a:rPr lang="zh-CN" altLang="zh-CN" dirty="0"/>
              <a:t>、</a:t>
            </a:r>
            <a:r>
              <a:rPr lang="en-US" altLang="zh-CN" dirty="0"/>
              <a:t>Shimano</a:t>
            </a:r>
            <a:r>
              <a:rPr lang="zh-CN" altLang="zh-CN" dirty="0"/>
              <a:t>、</a:t>
            </a:r>
            <a:r>
              <a:rPr lang="en-US" altLang="zh-CN" dirty="0" err="1"/>
              <a:t>TranzX</a:t>
            </a:r>
            <a:r>
              <a:rPr lang="en-US" altLang="zh-CN" dirty="0"/>
              <a:t> </a:t>
            </a:r>
            <a:r>
              <a:rPr lang="zh-CN" altLang="zh-CN" dirty="0"/>
              <a:t>等占据高端市场。</a:t>
            </a:r>
          </a:p>
          <a:p>
            <a:r>
              <a:rPr lang="zh-CN" altLang="zh-CN" dirty="0"/>
              <a:t>中国企业通过成本优势和中高端系统研发，逐渐进入欧洲市场，但仍需面对品牌认知和认证门槛。</a:t>
            </a:r>
          </a:p>
          <a:p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行业特征</a:t>
            </a:r>
          </a:p>
          <a:p>
            <a:r>
              <a:rPr lang="zh-CN" altLang="zh-CN" dirty="0"/>
              <a:t>技术密集：高效电机、控制器、力矩传感器等技术要求高。</a:t>
            </a:r>
          </a:p>
          <a:p>
            <a:r>
              <a:rPr lang="zh-CN" altLang="zh-CN" dirty="0"/>
              <a:t>资本密集：研发投入和产能建设需较大资金。</a:t>
            </a:r>
          </a:p>
          <a:p>
            <a:r>
              <a:rPr lang="zh-CN" altLang="zh-CN" dirty="0"/>
              <a:t>渠道依赖：出口需建立长期客户关系或合作整车厂。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8463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C7621-B120-459C-0326-BA41DB0C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AB2B27-6239-6D80-848F-E02F6274D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371" y="89354"/>
            <a:ext cx="10515600" cy="1325563"/>
          </a:xfrm>
        </p:spPr>
        <p:txBody>
          <a:bodyPr/>
          <a:lstStyle/>
          <a:p>
            <a:r>
              <a:rPr lang="zh-CN" altLang="en-US" dirty="0"/>
              <a:t>行业分析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74F224-CACE-F9D0-4947-B2F8548A4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371" y="1414917"/>
            <a:ext cx="10515600" cy="54430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dirty="0"/>
              <a:t>市场竞争格局</a:t>
            </a:r>
          </a:p>
          <a:p>
            <a:pPr marL="0" indent="0">
              <a:buNone/>
            </a:pPr>
            <a:endParaRPr lang="zh-CN" altLang="zh-CN" dirty="0"/>
          </a:p>
          <a:p>
            <a:r>
              <a:rPr lang="zh-CN" altLang="zh-CN" dirty="0"/>
              <a:t>领先者：八方（技术＋系统方案＋海外品牌客户）、安乃达（系统方案＋快速海外布局）</a:t>
            </a:r>
          </a:p>
          <a:p>
            <a:r>
              <a:rPr lang="zh-CN" altLang="zh-CN" dirty="0"/>
              <a:t>追赶者</a:t>
            </a:r>
            <a:r>
              <a:rPr lang="en-US" altLang="zh-CN" dirty="0"/>
              <a:t>/</a:t>
            </a:r>
            <a:r>
              <a:rPr lang="zh-CN" altLang="zh-CN" dirty="0"/>
              <a:t>细分玩家：</a:t>
            </a:r>
            <a:r>
              <a:rPr lang="en-US" altLang="zh-CN" dirty="0"/>
              <a:t>QSMOTOR</a:t>
            </a:r>
            <a:r>
              <a:rPr lang="zh-CN" altLang="zh-CN" dirty="0"/>
              <a:t>（高功率</a:t>
            </a:r>
            <a:r>
              <a:rPr lang="en-US" altLang="zh-CN" dirty="0"/>
              <a:t>/</a:t>
            </a:r>
            <a:r>
              <a:rPr lang="zh-CN" altLang="zh-CN" dirty="0"/>
              <a:t>差异化）、松正（多场景</a:t>
            </a:r>
            <a:r>
              <a:rPr lang="en-US" altLang="zh-CN" dirty="0"/>
              <a:t>/</a:t>
            </a:r>
            <a:r>
              <a:rPr lang="zh-CN" altLang="zh-CN" dirty="0"/>
              <a:t>通用技术）</a:t>
            </a:r>
          </a:p>
          <a:p>
            <a:r>
              <a:rPr lang="zh-CN" altLang="zh-CN" dirty="0"/>
              <a:t>零部件</a:t>
            </a:r>
            <a:r>
              <a:rPr lang="en-US" altLang="zh-CN" dirty="0"/>
              <a:t>/</a:t>
            </a:r>
            <a:r>
              <a:rPr lang="zh-CN" altLang="zh-CN" dirty="0"/>
              <a:t>配套型：盛逸、同盛</a:t>
            </a:r>
          </a:p>
          <a:p>
            <a:r>
              <a:rPr lang="zh-CN" altLang="zh-CN" dirty="0"/>
              <a:t>新进入者：</a:t>
            </a:r>
            <a:r>
              <a:rPr lang="en-US" altLang="zh-CN" dirty="0"/>
              <a:t>TRUCKRUN</a:t>
            </a:r>
            <a:r>
              <a:rPr lang="zh-CN" altLang="zh-CN" dirty="0"/>
              <a:t>（量产</a:t>
            </a:r>
            <a:r>
              <a:rPr lang="en-US" altLang="zh-CN" dirty="0"/>
              <a:t>/</a:t>
            </a:r>
            <a:r>
              <a:rPr lang="zh-CN" altLang="zh-CN" dirty="0"/>
              <a:t>低成本）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8872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69A51-E993-4240-CFBE-9A8586439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B91E12-FD65-5ADF-E030-76E4F3ABC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371" y="89354"/>
            <a:ext cx="10515600" cy="1325563"/>
          </a:xfrm>
        </p:spPr>
        <p:txBody>
          <a:bodyPr/>
          <a:lstStyle/>
          <a:p>
            <a:r>
              <a:rPr lang="zh-CN" altLang="en-US" dirty="0"/>
              <a:t>行业分析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1FFD77F-9C17-A3D9-36BD-CAF5E5ED9B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822120"/>
              </p:ext>
            </p:extLst>
          </p:nvPr>
        </p:nvGraphicFramePr>
        <p:xfrm>
          <a:off x="713013" y="1181402"/>
          <a:ext cx="10765973" cy="49263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88886">
                  <a:extLst>
                    <a:ext uri="{9D8B030D-6E8A-4147-A177-3AD203B41FA5}">
                      <a16:colId xmlns:a16="http://schemas.microsoft.com/office/drawing/2014/main" val="1420648271"/>
                    </a:ext>
                  </a:extLst>
                </a:gridCol>
                <a:gridCol w="4056743">
                  <a:extLst>
                    <a:ext uri="{9D8B030D-6E8A-4147-A177-3AD203B41FA5}">
                      <a16:colId xmlns:a16="http://schemas.microsoft.com/office/drawing/2014/main" val="1650214767"/>
                    </a:ext>
                  </a:extLst>
                </a:gridCol>
                <a:gridCol w="4920344">
                  <a:extLst>
                    <a:ext uri="{9D8B030D-6E8A-4147-A177-3AD203B41FA5}">
                      <a16:colId xmlns:a16="http://schemas.microsoft.com/office/drawing/2014/main" val="204734126"/>
                    </a:ext>
                  </a:extLst>
                </a:gridCol>
              </a:tblGrid>
              <a:tr h="15849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>
                          <a:effectLst/>
                        </a:rPr>
                        <a:t>维度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>
                          <a:effectLst/>
                        </a:rPr>
                        <a:t>行业现状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 dirty="0">
                          <a:effectLst/>
                        </a:rPr>
                        <a:t>案例映射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extLst>
                  <a:ext uri="{0D108BD9-81ED-4DB2-BD59-A6C34878D82A}">
                    <a16:rowId xmlns:a16="http://schemas.microsoft.com/office/drawing/2014/main" val="1002615415"/>
                  </a:ext>
                </a:extLst>
              </a:tr>
              <a:tr h="83747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 dirty="0">
                          <a:effectLst/>
                        </a:rPr>
                        <a:t>技术与产品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 dirty="0">
                          <a:effectLst/>
                        </a:rPr>
                        <a:t>技术壁垒高，整套系统能力是核心竞争力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>
                          <a:effectLst/>
                        </a:rPr>
                        <a:t>八方、安乃达领先；</a:t>
                      </a:r>
                      <a:r>
                        <a:rPr lang="en-US" sz="1600" kern="100">
                          <a:effectLst/>
                        </a:rPr>
                        <a:t>TRUCKRUN</a:t>
                      </a:r>
                      <a:r>
                        <a:rPr lang="zh-CN" sz="1600" kern="100">
                          <a:effectLst/>
                        </a:rPr>
                        <a:t>量产导向；盛逸、同盛零部件专注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extLst>
                  <a:ext uri="{0D108BD9-81ED-4DB2-BD59-A6C34878D82A}">
                    <a16:rowId xmlns:a16="http://schemas.microsoft.com/office/drawing/2014/main" val="2048449752"/>
                  </a:ext>
                </a:extLst>
              </a:tr>
              <a:tr h="84713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>
                          <a:effectLst/>
                        </a:rPr>
                        <a:t>出口与国际化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>
                          <a:effectLst/>
                        </a:rPr>
                        <a:t>出口市场空间大，但需认证、服务、海外布局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>
                          <a:effectLst/>
                        </a:rPr>
                        <a:t>八方欧美成熟；安乃达新布局；盛逸、同盛出口零部件；</a:t>
                      </a:r>
                      <a:r>
                        <a:rPr lang="en-US" sz="1600" kern="100">
                          <a:effectLst/>
                        </a:rPr>
                        <a:t>TRUCKRUN</a:t>
                      </a:r>
                      <a:r>
                        <a:rPr lang="zh-CN" sz="1600" kern="100">
                          <a:effectLst/>
                        </a:rPr>
                        <a:t>新进入量产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extLst>
                  <a:ext uri="{0D108BD9-81ED-4DB2-BD59-A6C34878D82A}">
                    <a16:rowId xmlns:a16="http://schemas.microsoft.com/office/drawing/2014/main" val="158127391"/>
                  </a:ext>
                </a:extLst>
              </a:tr>
              <a:tr h="89262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>
                          <a:effectLst/>
                        </a:rPr>
                        <a:t>市场竞争格局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>
                          <a:effectLst/>
                        </a:rPr>
                        <a:t>高端系统方案利润高、门槛高；中低端竞争激烈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>
                          <a:effectLst/>
                        </a:rPr>
                        <a:t>八方</a:t>
                      </a:r>
                      <a:r>
                        <a:rPr lang="en-US" sz="1600" kern="100">
                          <a:effectLst/>
                        </a:rPr>
                        <a:t>/</a:t>
                      </a:r>
                      <a:r>
                        <a:rPr lang="zh-CN" sz="1600" kern="100">
                          <a:effectLst/>
                        </a:rPr>
                        <a:t>安乃达领先；</a:t>
                      </a:r>
                      <a:r>
                        <a:rPr lang="en-US" sz="1600" kern="100">
                          <a:effectLst/>
                        </a:rPr>
                        <a:t>QSMOTOR/</a:t>
                      </a:r>
                      <a:r>
                        <a:rPr lang="zh-CN" sz="1600" kern="100">
                          <a:effectLst/>
                        </a:rPr>
                        <a:t>松正差异化；盛逸</a:t>
                      </a:r>
                      <a:r>
                        <a:rPr lang="en-US" sz="1600" kern="100">
                          <a:effectLst/>
                        </a:rPr>
                        <a:t>/</a:t>
                      </a:r>
                      <a:r>
                        <a:rPr lang="zh-CN" sz="1600" kern="100">
                          <a:effectLst/>
                        </a:rPr>
                        <a:t>同盛配套；</a:t>
                      </a:r>
                      <a:r>
                        <a:rPr lang="en-US" sz="1600" kern="100">
                          <a:effectLst/>
                        </a:rPr>
                        <a:t>TRUCKRUN</a:t>
                      </a:r>
                      <a:r>
                        <a:rPr lang="zh-CN" sz="1600" kern="100">
                          <a:effectLst/>
                        </a:rPr>
                        <a:t>新进入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extLst>
                  <a:ext uri="{0D108BD9-81ED-4DB2-BD59-A6C34878D82A}">
                    <a16:rowId xmlns:a16="http://schemas.microsoft.com/office/drawing/2014/main" val="2329190472"/>
                  </a:ext>
                </a:extLst>
              </a:tr>
              <a:tr h="89988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>
                          <a:effectLst/>
                        </a:rPr>
                        <a:t>技术趋势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>
                          <a:effectLst/>
                        </a:rPr>
                        <a:t>中置电机、智能控制、续航优化、系统集成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>
                          <a:effectLst/>
                        </a:rPr>
                        <a:t>八方</a:t>
                      </a:r>
                      <a:r>
                        <a:rPr lang="en-US" sz="1600" kern="100">
                          <a:effectLst/>
                        </a:rPr>
                        <a:t>/</a:t>
                      </a:r>
                      <a:r>
                        <a:rPr lang="zh-CN" sz="1600" kern="100">
                          <a:effectLst/>
                        </a:rPr>
                        <a:t>安乃达在中置</a:t>
                      </a:r>
                      <a:r>
                        <a:rPr lang="en-US" sz="1600" kern="100">
                          <a:effectLst/>
                        </a:rPr>
                        <a:t>+</a:t>
                      </a:r>
                      <a:r>
                        <a:rPr lang="zh-CN" sz="1600" kern="100">
                          <a:effectLst/>
                        </a:rPr>
                        <a:t>智能系统，</a:t>
                      </a:r>
                      <a:r>
                        <a:rPr lang="en-US" sz="1600" kern="100">
                          <a:effectLst/>
                        </a:rPr>
                        <a:t>QSMOTOR</a:t>
                      </a:r>
                      <a:r>
                        <a:rPr lang="zh-CN" sz="1600" kern="100">
                          <a:effectLst/>
                        </a:rPr>
                        <a:t>高功率差异化，</a:t>
                      </a:r>
                      <a:r>
                        <a:rPr lang="en-US" sz="1600" kern="100">
                          <a:effectLst/>
                        </a:rPr>
                        <a:t>TRUCKRUN</a:t>
                      </a:r>
                      <a:r>
                        <a:rPr lang="zh-CN" sz="1600" kern="100">
                          <a:effectLst/>
                        </a:rPr>
                        <a:t>量产</a:t>
                      </a:r>
                      <a:r>
                        <a:rPr lang="en-US" sz="1600" kern="100">
                          <a:effectLst/>
                        </a:rPr>
                        <a:t>/</a:t>
                      </a:r>
                      <a:r>
                        <a:rPr lang="zh-CN" sz="1600" kern="100">
                          <a:effectLst/>
                        </a:rPr>
                        <a:t>低成本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extLst>
                  <a:ext uri="{0D108BD9-81ED-4DB2-BD59-A6C34878D82A}">
                    <a16:rowId xmlns:a16="http://schemas.microsoft.com/office/drawing/2014/main" val="1939814047"/>
                  </a:ext>
                </a:extLst>
              </a:tr>
              <a:tr h="60753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 dirty="0">
                          <a:effectLst/>
                        </a:rPr>
                        <a:t>产业机会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>
                          <a:effectLst/>
                        </a:rPr>
                        <a:t>高端出口、中高端定制化、电驱动系统增量市场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>
                          <a:effectLst/>
                        </a:rPr>
                        <a:t>系统方案、定制化、海外品牌合作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extLst>
                  <a:ext uri="{0D108BD9-81ED-4DB2-BD59-A6C34878D82A}">
                    <a16:rowId xmlns:a16="http://schemas.microsoft.com/office/drawing/2014/main" val="585598123"/>
                  </a:ext>
                </a:extLst>
              </a:tr>
              <a:tr h="59441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 dirty="0">
                          <a:effectLst/>
                        </a:rPr>
                        <a:t>产业风险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>
                          <a:effectLst/>
                        </a:rPr>
                        <a:t>低端价格竞争、原材料</a:t>
                      </a:r>
                      <a:r>
                        <a:rPr lang="en-US" sz="1600" kern="100">
                          <a:effectLst/>
                        </a:rPr>
                        <a:t>/</a:t>
                      </a:r>
                      <a:r>
                        <a:rPr lang="zh-CN" sz="1600" kern="100">
                          <a:effectLst/>
                        </a:rPr>
                        <a:t>物流</a:t>
                      </a:r>
                      <a:r>
                        <a:rPr lang="en-US" sz="1600" kern="100">
                          <a:effectLst/>
                        </a:rPr>
                        <a:t>/</a:t>
                      </a:r>
                      <a:r>
                        <a:rPr lang="zh-CN" sz="1600" kern="100">
                          <a:effectLst/>
                        </a:rPr>
                        <a:t>贸易政策、认证标准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 kern="100" dirty="0">
                          <a:effectLst/>
                        </a:rPr>
                        <a:t>TRUCKRUN</a:t>
                      </a:r>
                      <a:r>
                        <a:rPr lang="zh-CN" sz="1600" kern="100" dirty="0">
                          <a:effectLst/>
                        </a:rPr>
                        <a:t>、盛逸等需管控成本和出口风险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extLst>
                  <a:ext uri="{0D108BD9-81ED-4DB2-BD59-A6C34878D82A}">
                    <a16:rowId xmlns:a16="http://schemas.microsoft.com/office/drawing/2014/main" val="564151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5556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132EA-8239-5769-4917-C830C213C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1240A3-172F-D96A-9903-CFBF3B94B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八方股份年报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8D88AC61-5855-2D54-8C2C-CCF1CCD208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8289" y="1825625"/>
            <a:ext cx="7015421" cy="4351338"/>
          </a:xfrm>
        </p:spPr>
      </p:pic>
    </p:spTree>
    <p:extLst>
      <p:ext uri="{BB962C8B-B14F-4D97-AF65-F5344CB8AC3E}">
        <p14:creationId xmlns:p14="http://schemas.microsoft.com/office/powerpoint/2010/main" val="774789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8F82C9-6D00-E496-B529-ED85C8FA9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八方股份年报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B9CAEDB-74FB-C7D9-F8C6-19EC578214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577" y="1825625"/>
            <a:ext cx="7006541" cy="4351338"/>
          </a:xfrm>
        </p:spPr>
      </p:pic>
    </p:spTree>
    <p:extLst>
      <p:ext uri="{BB962C8B-B14F-4D97-AF65-F5344CB8AC3E}">
        <p14:creationId xmlns:p14="http://schemas.microsoft.com/office/powerpoint/2010/main" val="198467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E1626-8A0F-71DE-7BB3-A4A74C51B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A8DBF6-68D9-E8D9-76C8-BE4DC8549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八方股份年报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FEE7F60-0A12-B72B-1411-6E33F610D6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873" y="1609597"/>
            <a:ext cx="6539186" cy="464953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3FF3E25-018D-F534-BB72-EAF42489EA53}"/>
              </a:ext>
            </a:extLst>
          </p:cNvPr>
          <p:cNvSpPr txBox="1"/>
          <p:nvPr/>
        </p:nvSpPr>
        <p:spPr>
          <a:xfrm>
            <a:off x="7094441" y="933456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境外存在高附加值，仍待开发</a:t>
            </a:r>
          </a:p>
        </p:txBody>
      </p:sp>
    </p:spTree>
    <p:extLst>
      <p:ext uri="{BB962C8B-B14F-4D97-AF65-F5344CB8AC3E}">
        <p14:creationId xmlns:p14="http://schemas.microsoft.com/office/powerpoint/2010/main" val="973529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BA089-ED6A-5103-94A3-327379AB7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653129-45CE-14D2-7AAC-AECFFE7AB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554"/>
            <a:ext cx="10515600" cy="1325563"/>
          </a:xfrm>
        </p:spPr>
        <p:txBody>
          <a:bodyPr/>
          <a:lstStyle/>
          <a:p>
            <a:r>
              <a:rPr lang="zh-CN" altLang="en-US" dirty="0"/>
              <a:t>八方股份年报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556D19-EFC5-3004-4B0C-3D8471988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8569"/>
            <a:ext cx="10515600" cy="5299656"/>
          </a:xfrm>
        </p:spPr>
        <p:txBody>
          <a:bodyPr>
            <a:normAutofit/>
          </a:bodyPr>
          <a:lstStyle/>
          <a:p>
            <a:r>
              <a:rPr lang="zh-CN" altLang="en-US" dirty="0"/>
              <a:t>增长驱动：公司</a:t>
            </a:r>
            <a:r>
              <a:rPr lang="en-US" altLang="zh-CN" dirty="0"/>
              <a:t>2022-2024</a:t>
            </a:r>
            <a:r>
              <a:rPr lang="zh-CN" altLang="en-US" dirty="0"/>
              <a:t>年的整体增长，很可能主要由境外市场和高毛利产品（如电池、套件等）所驱动。境外市场的高毛利率为公司的净利润增长提供了核心保障。</a:t>
            </a:r>
          </a:p>
          <a:p>
            <a:r>
              <a:rPr lang="zh-CN" altLang="en-US" dirty="0"/>
              <a:t>盈利模式：八方股份呈现一种 “内外有别”的盈利模式。</a:t>
            </a:r>
          </a:p>
          <a:p>
            <a:pPr lvl="1"/>
            <a:r>
              <a:rPr lang="zh-CN" altLang="en-US" dirty="0"/>
              <a:t>海外主攻利润：在海外，凭借技术、品牌或差异化产品获取高额利润。</a:t>
            </a:r>
          </a:p>
          <a:p>
            <a:pPr lvl="1"/>
            <a:r>
              <a:rPr lang="zh-CN" altLang="en-US" dirty="0"/>
              <a:t>国内可能主攻份额：在国内，可能通过更具竞争力的价格来维持或扩大市场份额，导致毛利率较低。</a:t>
            </a:r>
          </a:p>
          <a:p>
            <a:r>
              <a:rPr lang="zh-CN" altLang="en-US" dirty="0"/>
              <a:t>风险与机遇：</a:t>
            </a:r>
          </a:p>
          <a:p>
            <a:pPr lvl="1"/>
            <a:r>
              <a:rPr lang="zh-CN" altLang="en-US" dirty="0"/>
              <a:t>风险：公司业绩对海外市场的依赖性较高，需要警惕国际贸易环境、汇率、地缘政治等因素的风险。同时，国内市场的低盈利能力是一个短板。</a:t>
            </a:r>
          </a:p>
          <a:p>
            <a:pPr lvl="1"/>
            <a:r>
              <a:rPr lang="zh-CN" altLang="en-US" dirty="0"/>
              <a:t>机遇：如果公司能成功将海外的高毛利业务模式或产品引入国内，提升国内市场的盈利能力，将打开新的增长空间。同时，优化产品结构，继续提高高毛利产品的收入占比，是提升整体利润率的关键。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7038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8400CE-6BA6-FE6A-D6E9-13FA7EE09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安乃达年报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F6D335EA-79F3-F4F8-361C-CBE92E5657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1161827"/>
              </p:ext>
            </p:extLst>
          </p:nvPr>
        </p:nvGraphicFramePr>
        <p:xfrm>
          <a:off x="838199" y="1629177"/>
          <a:ext cx="10515600" cy="46299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466568592"/>
                    </a:ext>
                  </a:extLst>
                </a:gridCol>
                <a:gridCol w="2920286">
                  <a:extLst>
                    <a:ext uri="{9D8B030D-6E8A-4147-A177-3AD203B41FA5}">
                      <a16:colId xmlns:a16="http://schemas.microsoft.com/office/drawing/2014/main" val="1627823568"/>
                    </a:ext>
                  </a:extLst>
                </a:gridCol>
                <a:gridCol w="4090114">
                  <a:extLst>
                    <a:ext uri="{9D8B030D-6E8A-4147-A177-3AD203B41FA5}">
                      <a16:colId xmlns:a16="http://schemas.microsoft.com/office/drawing/2014/main" val="3886634796"/>
                    </a:ext>
                  </a:extLst>
                </a:gridCol>
              </a:tblGrid>
              <a:tr h="92599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>
                          <a:effectLst/>
                        </a:rPr>
                        <a:t>项目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00">
                          <a:effectLst/>
                        </a:rPr>
                        <a:t>2024</a:t>
                      </a:r>
                      <a:r>
                        <a:rPr lang="zh-CN" sz="2000" kern="100">
                          <a:effectLst/>
                        </a:rPr>
                        <a:t>年数据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</a:rPr>
                        <a:t>说明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389022024"/>
                  </a:ext>
                </a:extLst>
              </a:tr>
              <a:tr h="92599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>
                          <a:effectLst/>
                        </a:rPr>
                        <a:t>境外销售收入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00">
                          <a:effectLst/>
                        </a:rPr>
                        <a:t>25,452.49</a:t>
                      </a:r>
                      <a:r>
                        <a:rPr lang="zh-CN" sz="2000" kern="100">
                          <a:effectLst/>
                        </a:rPr>
                        <a:t>万元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>
                          <a:effectLst/>
                        </a:rPr>
                        <a:t>同比增长</a:t>
                      </a:r>
                      <a:r>
                        <a:rPr lang="en-US" sz="2000" kern="100">
                          <a:effectLst/>
                        </a:rPr>
                        <a:t>7.76%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18832973"/>
                  </a:ext>
                </a:extLst>
              </a:tr>
              <a:tr h="92599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>
                          <a:effectLst/>
                        </a:rPr>
                        <a:t>境外毛利率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00">
                          <a:effectLst/>
                        </a:rPr>
                        <a:t>48.41%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>
                          <a:effectLst/>
                        </a:rPr>
                        <a:t>高于境内毛利率（</a:t>
                      </a:r>
                      <a:r>
                        <a:rPr lang="en-US" sz="2000" kern="100">
                          <a:effectLst/>
                        </a:rPr>
                        <a:t>11.27%</a:t>
                      </a:r>
                      <a:r>
                        <a:rPr lang="zh-CN" sz="2000" kern="100">
                          <a:effectLst/>
                        </a:rPr>
                        <a:t>）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770730222"/>
                  </a:ext>
                </a:extLst>
              </a:tr>
              <a:tr h="92599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>
                          <a:effectLst/>
                        </a:rPr>
                        <a:t>汇兑损益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00">
                          <a:effectLst/>
                        </a:rPr>
                        <a:t>119.88</a:t>
                      </a:r>
                      <a:r>
                        <a:rPr lang="zh-CN" sz="2000" kern="100">
                          <a:effectLst/>
                        </a:rPr>
                        <a:t>万元（损失）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>
                          <a:effectLst/>
                        </a:rPr>
                        <a:t>因人民币兑美元汇率波动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666140716"/>
                  </a:ext>
                </a:extLst>
              </a:tr>
              <a:tr h="92599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>
                          <a:effectLst/>
                        </a:rPr>
                        <a:t>前五大客户销售占比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00">
                          <a:effectLst/>
                        </a:rPr>
                        <a:t>77.31%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</a:rPr>
                        <a:t>客户集中度高，包括多家欧洲品牌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2199138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0985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BB85B-D613-437E-2D61-D45BD0E8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B4C217-6532-2734-17F5-E38FCD391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安乃达年报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6165947-D1AB-4A7E-B7A8-ABC8D6BDA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作为新上市公司，安乃达的</a:t>
            </a:r>
            <a:r>
              <a:rPr lang="en-US" altLang="zh-CN" dirty="0"/>
              <a:t>IPO</a:t>
            </a:r>
            <a:r>
              <a:rPr lang="zh-CN" altLang="en-US" dirty="0"/>
              <a:t>募资为其扩产和研发提供了资金支持（借助资本市场力量积极扩张）。其机遇在于，如果能借助新增产能，成功提升高毛利的中置电机和减速轮毂电机的销售占比，将显著改善其盈利能力和估值水平。然而，这也伴随着挑战：公司目前客户集中度较高（前五大客户销售占比曾超</a:t>
            </a:r>
            <a:r>
              <a:rPr lang="en-US" altLang="zh-CN" dirty="0"/>
              <a:t>70%</a:t>
            </a:r>
            <a:r>
              <a:rPr lang="zh-CN" altLang="en-US" dirty="0"/>
              <a:t>），且未来大规模扩产后，如果市场需求或销售渠道开拓不及预期，将面临产能消化风险。此外，固定资产大幅增加后，能否保持目前的低费用率也存在疑问。</a:t>
            </a:r>
          </a:p>
        </p:txBody>
      </p:sp>
    </p:spTree>
    <p:extLst>
      <p:ext uri="{BB962C8B-B14F-4D97-AF65-F5344CB8AC3E}">
        <p14:creationId xmlns:p14="http://schemas.microsoft.com/office/powerpoint/2010/main" val="3244266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6DAB4-F61F-C573-8CAF-3F201ABCD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F19E6B-48F7-DC6F-CDDE-70B549FE2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2646"/>
            <a:ext cx="10515600" cy="1325563"/>
          </a:xfrm>
        </p:spPr>
        <p:txBody>
          <a:bodyPr/>
          <a:lstStyle/>
          <a:p>
            <a:r>
              <a:rPr lang="zh-CN" altLang="en-US" dirty="0"/>
              <a:t>安乃达年报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0FEDFE5-D87E-CAA4-84F2-C88C5BC91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3145"/>
            <a:ext cx="10515600" cy="482742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/>
              <a:t>明确战略重心：全力优化产品结构</a:t>
            </a:r>
          </a:p>
          <a:p>
            <a:pPr lvl="1"/>
            <a:r>
              <a:rPr lang="zh-CN" altLang="en-US" dirty="0"/>
              <a:t>这是安乃达提升估值和盈利能力的最关键一步。必须将资源向高毛利的电踏车电机（特别是中置电机） 倾斜。</a:t>
            </a:r>
          </a:p>
          <a:p>
            <a:pPr marL="0" indent="0">
              <a:buNone/>
            </a:pPr>
            <a:r>
              <a:rPr lang="zh-CN" altLang="en-US" dirty="0"/>
              <a:t>审慎管理产能，防范消化风险</a:t>
            </a:r>
          </a:p>
          <a:p>
            <a:pPr lvl="1"/>
            <a:r>
              <a:rPr lang="en-US" altLang="zh-CN" dirty="0"/>
              <a:t>IPO</a:t>
            </a:r>
            <a:r>
              <a:rPr lang="zh-CN" altLang="en-US" dirty="0"/>
              <a:t>募投项目的新增产能不应盲目释放，而应与市场开拓进度紧密挂钩。</a:t>
            </a:r>
          </a:p>
          <a:p>
            <a:pPr lvl="1"/>
            <a:r>
              <a:rPr lang="zh-CN" altLang="en-US" dirty="0"/>
              <a:t>考虑采取“柔性生产线”策略，使产能能在低毛利和高毛利产品之间灵活切换，以应对市场波动。</a:t>
            </a:r>
          </a:p>
          <a:p>
            <a:pPr marL="0" indent="0">
              <a:buNone/>
            </a:pPr>
            <a:r>
              <a:rPr lang="zh-CN" altLang="en-US" dirty="0"/>
              <a:t>积极管理资本市场预期</a:t>
            </a:r>
          </a:p>
          <a:p>
            <a:pPr lvl="1"/>
            <a:r>
              <a:rPr lang="zh-CN" altLang="en-US" dirty="0"/>
              <a:t>作为新股，透明度至关重要。应通过定期报告和投资者交流活动，清晰传达产品结构升级的战略进展。</a:t>
            </a:r>
          </a:p>
          <a:p>
            <a:pPr lvl="1"/>
            <a:r>
              <a:rPr lang="zh-CN" altLang="en-US" dirty="0"/>
              <a:t>对于限售股解禁可能带来的股价波动，可考虑通过引入战略投资者、管理层释放信心信号（如自愿延长锁定期）等方式进行缓冲，维护市场稳定。</a:t>
            </a:r>
          </a:p>
        </p:txBody>
      </p:sp>
    </p:spTree>
    <p:extLst>
      <p:ext uri="{BB962C8B-B14F-4D97-AF65-F5344CB8AC3E}">
        <p14:creationId xmlns:p14="http://schemas.microsoft.com/office/powerpoint/2010/main" val="237339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1117</Words>
  <Application>Microsoft Office PowerPoint</Application>
  <PresentationFormat>宽屏</PresentationFormat>
  <Paragraphs>94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等线</vt:lpstr>
      <vt:lpstr>等线 Light</vt:lpstr>
      <vt:lpstr>Arial</vt:lpstr>
      <vt:lpstr>Office 主题​​</vt:lpstr>
      <vt:lpstr>第三次汇报</vt:lpstr>
      <vt:lpstr>行业分析</vt:lpstr>
      <vt:lpstr>行业分析</vt:lpstr>
      <vt:lpstr>行业分析</vt:lpstr>
      <vt:lpstr>行业分析</vt:lpstr>
      <vt:lpstr>八方股份年报</vt:lpstr>
      <vt:lpstr>八方股份年报</vt:lpstr>
      <vt:lpstr>八方股份年报</vt:lpstr>
      <vt:lpstr>八方股份年报</vt:lpstr>
      <vt:lpstr>安乃达年报</vt:lpstr>
      <vt:lpstr>安乃达年报</vt:lpstr>
      <vt:lpstr>安乃达年报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燕平 龚</dc:creator>
  <cp:lastModifiedBy>燕平 龚</cp:lastModifiedBy>
  <cp:revision>1</cp:revision>
  <dcterms:created xsi:type="dcterms:W3CDTF">2025-11-09T08:43:42Z</dcterms:created>
  <dcterms:modified xsi:type="dcterms:W3CDTF">2025-11-09T09:20:48Z</dcterms:modified>
</cp:coreProperties>
</file>