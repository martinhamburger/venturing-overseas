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9" r:id="rId3"/>
    <p:sldId id="288" r:id="rId4"/>
    <p:sldId id="277" r:id="rId5"/>
    <p:sldId id="278" r:id="rId6"/>
    <p:sldId id="279" r:id="rId7"/>
    <p:sldId id="273" r:id="rId8"/>
    <p:sldId id="274" r:id="rId9"/>
    <p:sldId id="289" r:id="rId10"/>
    <p:sldId id="261" r:id="rId11"/>
    <p:sldId id="270" r:id="rId12"/>
    <p:sldId id="280" r:id="rId13"/>
    <p:sldId id="263" r:id="rId14"/>
    <p:sldId id="290" r:id="rId15"/>
    <p:sldId id="276" r:id="rId16"/>
    <p:sldId id="287" r:id="rId17"/>
    <p:sldId id="262" r:id="rId18"/>
    <p:sldId id="271" r:id="rId19"/>
    <p:sldId id="272" r:id="rId20"/>
    <p:sldId id="291" r:id="rId21"/>
    <p:sldId id="264" r:id="rId22"/>
    <p:sldId id="282" r:id="rId23"/>
    <p:sldId id="292" r:id="rId24"/>
    <p:sldId id="293" r:id="rId2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SIIC\Desktop\&#22270;&#29255;%201_20251104235605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16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4400"/>
              <a:t>需求结构占比</a:t>
            </a:r>
            <a:endParaRPr sz="4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需求结构占比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动力型</c:v>
                </c:pt>
                <c:pt idx="1">
                  <c:v>储能型</c:v>
                </c:pt>
                <c:pt idx="2">
                  <c:v>消费型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0.718</c:v>
                </c:pt>
                <c:pt idx="1">
                  <c:v>0.197</c:v>
                </c:pt>
                <c:pt idx="2">
                  <c:v>0.085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1b579e5-cc7d-442e-9221-8eeb641a4ed8}"/>
      </c:ext>
    </c:extLst>
  </c:chart>
  <c:spPr>
    <a:noFill/>
    <a:ln>
      <a:noFill/>
    </a:ln>
    <a:effectLst/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'[图片 1_20251104235605.xlsx]Sheet1'!$C$2</c:f>
              <c:strCache>
                <c:ptCount val="1"/>
                <c:pt idx="0">
                  <c:v>2025年1-8月
装机量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'[图片 1_20251104235605.xlsx]Sheet1'!$B$3:$B$12</c:f>
              <c:strCache>
                <c:ptCount val="10"/>
                <c:pt idx="0">
                  <c:v>宁德时代</c:v>
                </c:pt>
                <c:pt idx="1">
                  <c:v>比亚迪</c:v>
                </c:pt>
                <c:pt idx="2">
                  <c:v>LG新能源</c:v>
                </c:pt>
                <c:pt idx="3">
                  <c:v>中创新航</c:v>
                </c:pt>
                <c:pt idx="4">
                  <c:v>SK ON</c:v>
                </c:pt>
                <c:pt idx="5">
                  <c:v>松下</c:v>
                </c:pt>
                <c:pt idx="6">
                  <c:v>国轩高科</c:v>
                </c:pt>
                <c:pt idx="7">
                  <c:v>三星SDI</c:v>
                </c:pt>
                <c:pt idx="8">
                  <c:v>亿纬锂能</c:v>
                </c:pt>
                <c:pt idx="9">
                  <c:v>蜂巢能源</c:v>
                </c:pt>
              </c:strCache>
            </c:strRef>
          </c:cat>
          <c:val>
            <c:numRef>
              <c:f>'[图片 1_20251104235605.xlsx]Sheet1'!$C$3:$C$12</c:f>
              <c:numCache>
                <c:formatCode>0.0_ </c:formatCode>
                <c:ptCount val="10"/>
                <c:pt idx="0">
                  <c:v>254.5</c:v>
                </c:pt>
                <c:pt idx="1">
                  <c:v>124.8</c:v>
                </c:pt>
                <c:pt idx="2">
                  <c:v>67.4</c:v>
                </c:pt>
                <c:pt idx="3">
                  <c:v>32.1</c:v>
                </c:pt>
                <c:pt idx="4">
                  <c:v>29.2</c:v>
                </c:pt>
                <c:pt idx="5">
                  <c:v>25.8</c:v>
                </c:pt>
                <c:pt idx="6">
                  <c:v>25.1</c:v>
                </c:pt>
                <c:pt idx="7">
                  <c:v>20</c:v>
                </c:pt>
                <c:pt idx="8">
                  <c:v>19.9</c:v>
                </c:pt>
                <c:pt idx="9">
                  <c:v>17.5</c:v>
                </c:pt>
              </c:numCache>
            </c:numRef>
          </c:val>
        </c:ser>
        <c:ser>
          <c:idx val="1"/>
          <c:order val="1"/>
          <c:tx>
            <c:strRef>
              <c:f>'[图片 1_20251104235605.xlsx]Sheet1'!$D$2</c:f>
              <c:strCache>
                <c:ptCount val="1"/>
                <c:pt idx="0">
                  <c:v>2024年1-8月
装机量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'[图片 1_20251104235605.xlsx]Sheet1'!$B$3:$B$12</c:f>
              <c:strCache>
                <c:ptCount val="10"/>
                <c:pt idx="0">
                  <c:v>宁德时代</c:v>
                </c:pt>
                <c:pt idx="1">
                  <c:v>比亚迪</c:v>
                </c:pt>
                <c:pt idx="2">
                  <c:v>LG新能源</c:v>
                </c:pt>
                <c:pt idx="3">
                  <c:v>中创新航</c:v>
                </c:pt>
                <c:pt idx="4">
                  <c:v>SK ON</c:v>
                </c:pt>
                <c:pt idx="5">
                  <c:v>松下</c:v>
                </c:pt>
                <c:pt idx="6">
                  <c:v>国轩高科</c:v>
                </c:pt>
                <c:pt idx="7">
                  <c:v>三星SDI</c:v>
                </c:pt>
                <c:pt idx="8">
                  <c:v>亿纬锂能</c:v>
                </c:pt>
                <c:pt idx="9">
                  <c:v>蜂巢能源</c:v>
                </c:pt>
              </c:strCache>
            </c:strRef>
          </c:cat>
          <c:val>
            <c:numRef>
              <c:f>'[图片 1_20251104235605.xlsx]Sheet1'!$D$3:$D$12</c:f>
              <c:numCache>
                <c:formatCode>0.0_ </c:formatCode>
                <c:ptCount val="10"/>
                <c:pt idx="0">
                  <c:v>193</c:v>
                </c:pt>
                <c:pt idx="1">
                  <c:v>83</c:v>
                </c:pt>
                <c:pt idx="2">
                  <c:v>59.5</c:v>
                </c:pt>
                <c:pt idx="3">
                  <c:v>24.3</c:v>
                </c:pt>
                <c:pt idx="4">
                  <c:v>24.3</c:v>
                </c:pt>
                <c:pt idx="5">
                  <c:v>22.2</c:v>
                </c:pt>
                <c:pt idx="6">
                  <c:v>14.6</c:v>
                </c:pt>
                <c:pt idx="7">
                  <c:v>22</c:v>
                </c:pt>
                <c:pt idx="8">
                  <c:v>10.8</c:v>
                </c:pt>
                <c:pt idx="9">
                  <c:v>8.8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05947c5-f5ed-4a8a-8f03-dc752ef3d288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中国电池企业出海战略与全球布局分析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4000">
                <a:sym typeface="+mn-ea"/>
              </a:rPr>
              <a:t>—</a:t>
            </a:r>
            <a:r>
              <a:rPr lang="zh-CN" altLang="en-US" sz="4000">
                <a:sym typeface="+mn-ea"/>
              </a:rPr>
              <a:t>数据、案例与挑战</a:t>
            </a:r>
            <a:endParaRPr lang="en-US" altLang="zh-CN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70250" y="2766060"/>
            <a:ext cx="5567045" cy="1325880"/>
          </a:xfrm>
        </p:spPr>
        <p:txBody>
          <a:bodyPr/>
          <a:p>
            <a:r>
              <a:rPr lang="en-US" altLang="zh-CN"/>
              <a:t>1</a:t>
            </a:r>
            <a:r>
              <a:rPr lang="zh-CN" altLang="en-US"/>
              <a:t>，全球电池行业现状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行业主要方向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r>
              <a:rPr lang="zh-CN" altLang="en-US" sz="3600"/>
              <a:t>动力电池领域</a:t>
            </a:r>
            <a:endParaRPr lang="zh-CN" altLang="en-US" sz="3600"/>
          </a:p>
          <a:p>
            <a:r>
              <a:rPr lang="zh-CN" altLang="en-US" sz="3600"/>
              <a:t>储能电池领域</a:t>
            </a:r>
            <a:endParaRPr lang="zh-CN" altLang="en-US" sz="3600"/>
          </a:p>
          <a:p>
            <a:r>
              <a:rPr lang="zh-CN" altLang="en-US" sz="3600"/>
              <a:t>产业链协同（相关矿业企业等）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</p:nvPr>
        </p:nvGraphicFramePr>
        <p:xfrm>
          <a:off x="435610" y="560705"/>
          <a:ext cx="10918190" cy="5774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全球锂电池市场规模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704975"/>
            <a:ext cx="675767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全球锂电池价格趋势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8289925" cy="4643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全球供应链比较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rcRect b="61367"/>
          <a:stretch>
            <a:fillRect/>
          </a:stretch>
        </p:blipFill>
        <p:spPr>
          <a:xfrm>
            <a:off x="838200" y="2077720"/>
            <a:ext cx="7348220" cy="31927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68015" y="2766060"/>
            <a:ext cx="5855970" cy="1325880"/>
          </a:xfrm>
        </p:spPr>
        <p:txBody>
          <a:bodyPr/>
          <a:p>
            <a:r>
              <a:rPr lang="en-US" altLang="zh-CN"/>
              <a:t>2</a:t>
            </a:r>
            <a:r>
              <a:rPr lang="zh-CN" altLang="en-US"/>
              <a:t>，国内企业出海情况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产业出口数据概览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中国宏观趋势：高速增长后首次下滑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84120"/>
            <a:ext cx="6874510" cy="39154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全球市场份额</a:t>
            </a:r>
            <a:endParaRPr lang="zh-CN" altLang="en-US"/>
          </a:p>
        </p:txBody>
      </p:sp>
      <p:graphicFrame>
        <p:nvGraphicFramePr>
          <p:cNvPr id="5" name="图表 4"/>
          <p:cNvGraphicFramePr/>
          <p:nvPr/>
        </p:nvGraphicFramePr>
        <p:xfrm>
          <a:off x="838200" y="1848485"/>
          <a:ext cx="7322820" cy="4182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178560"/>
            <a:ext cx="9015730" cy="5222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60450" y="409575"/>
            <a:ext cx="65481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中国电池制造业规模</a:t>
            </a:r>
            <a:endParaRPr lang="zh-CN" altLang="en-US" sz="4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目标市场布局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主要布局区域：欧洲、美洲、东南亚</a:t>
            </a:r>
            <a:endParaRPr lang="zh-CN" altLang="en-US"/>
          </a:p>
          <a:p>
            <a:pPr marL="457200" lvl="1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46350"/>
            <a:ext cx="6812280" cy="3879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2700" y="2766060"/>
            <a:ext cx="4547235" cy="1325880"/>
          </a:xfrm>
        </p:spPr>
        <p:txBody>
          <a:bodyPr/>
          <a:p>
            <a:r>
              <a:rPr lang="en-US" altLang="zh-CN"/>
              <a:t>3</a:t>
            </a:r>
            <a:r>
              <a:rPr lang="zh-CN" altLang="en-US"/>
              <a:t>，企业案例分析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企业分析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708150"/>
            <a:ext cx="993140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940" y="1135380"/>
            <a:ext cx="1066546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企业数据概览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3590" y="2606675"/>
            <a:ext cx="10515600" cy="31064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2063115"/>
            <a:ext cx="2430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宁德时代行情走势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比亚迪行情走势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12060"/>
            <a:ext cx="1053465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亿纬锂能行情走势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74925"/>
            <a:ext cx="10217150" cy="31686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75150" y="2766060"/>
            <a:ext cx="3441700" cy="1325880"/>
          </a:xfrm>
        </p:spPr>
        <p:txBody>
          <a:bodyPr/>
          <a:p>
            <a:r>
              <a:rPr lang="en-US" altLang="zh-CN"/>
              <a:t>4</a:t>
            </a:r>
            <a:r>
              <a:rPr lang="zh-CN" altLang="en-US"/>
              <a:t>，潜在挑战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关键政策分析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57350"/>
            <a:ext cx="10685145" cy="49441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0380" y="1697990"/>
            <a:ext cx="11191240" cy="46526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0380" y="827405"/>
            <a:ext cx="5557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《新电池法规》条例举例：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欧洲市场</a:t>
            </a:r>
            <a:endParaRPr lang="zh-CN" altLang="en-US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838200" y="1848485"/>
          <a:ext cx="7420610" cy="4029075"/>
        </p:xfrm>
        <a:graphic>
          <a:graphicData uri="http://schemas.openxmlformats.org/drawingml/2006/table">
            <a:tbl>
              <a:tblPr/>
              <a:tblGrid>
                <a:gridCol w="2145665"/>
                <a:gridCol w="5274945"/>
              </a:tblGrid>
              <a:tr h="26860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应对策略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高投资与运营成本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与当地政府谈判税收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补贴优惠；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选址中东欧（如匈牙利）降低人力成本；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③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推进自动化生产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客户认证周期长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提前与车企合作设计产品；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收购已通过认证的欧洲本土企业或合资建厂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宏观政治与法律风险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建立本地化团队跟踪政策；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分散布局（如北欧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南欧），降低单一市场依赖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基础设施与人才短缺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优先选择工业基础好的地区（如德国鲁尔区）；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与高校合作定向培养技术人才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市场与消费者差异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适配欧盟标准（如碳足迹披露）；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布局循环经济（回收合作）；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③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绑定本土车企供应链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本土竞争加剧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技术差异化（如快充、固态电池）；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与欧洲能源公司合作（如储能项目）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北美市场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190" y="2063115"/>
            <a:ext cx="11332210" cy="29946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84*316"/>
  <p:tag name="TABLE_ENDDRAG_RECT" val="66*145*584*31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</Words>
  <Application>WPS 演示</Application>
  <PresentationFormat>宽屏</PresentationFormat>
  <Paragraphs>100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中国电池企业出海战略与全球布局分析</vt:lpstr>
      <vt:lpstr>1，全球电池行业现状</vt:lpstr>
      <vt:lpstr>行业主要方向</vt:lpstr>
      <vt:lpstr>PowerPoint 演示文稿</vt:lpstr>
      <vt:lpstr>全球锂电池市场规模</vt:lpstr>
      <vt:lpstr>全球锂电池价格趋势</vt:lpstr>
      <vt:lpstr>全球供应链比较</vt:lpstr>
      <vt:lpstr>2，国内企业出海情况</vt:lpstr>
      <vt:lpstr>产业出口数据概览</vt:lpstr>
      <vt:lpstr>全球市场份额</vt:lpstr>
      <vt:lpstr>PowerPoint 演示文稿</vt:lpstr>
      <vt:lpstr>目标市场布局</vt:lpstr>
      <vt:lpstr>3，企业案例分析</vt:lpstr>
      <vt:lpstr>企业分析</vt:lpstr>
      <vt:lpstr>PowerPoint 演示文稿</vt:lpstr>
      <vt:lpstr>企业数据概览</vt:lpstr>
      <vt:lpstr>PowerPoint 演示文稿</vt:lpstr>
      <vt:lpstr>PowerPoint 演示文稿</vt:lpstr>
      <vt:lpstr>4，潜在挑战</vt:lpstr>
      <vt:lpstr>关键政策分析</vt:lpstr>
      <vt:lpstr>PowerPoint 演示文稿</vt:lpstr>
      <vt:lpstr>欧洲市场</vt:lpstr>
      <vt:lpstr>北美市场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中国电池企业出海战略与全球布局分析</dc:title>
  <dc:creator/>
  <cp:lastModifiedBy>小楼</cp:lastModifiedBy>
  <cp:revision>7</cp:revision>
  <dcterms:created xsi:type="dcterms:W3CDTF">2025-10-27T04:56:00Z</dcterms:created>
  <dcterms:modified xsi:type="dcterms:W3CDTF">2025-11-11T07:09:50Z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B15A095481FC4E87B1DCA594C95D9524_13</vt:lpwstr>
  </property>
</Properties>
</file>