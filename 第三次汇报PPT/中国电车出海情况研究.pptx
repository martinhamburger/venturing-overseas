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08" r:id="rId3"/>
    <p:sldId id="289" r:id="rId4"/>
    <p:sldId id="297" r:id="rId5"/>
    <p:sldId id="298" r:id="rId6"/>
    <p:sldId id="303" r:id="rId7"/>
    <p:sldId id="310" r:id="rId8"/>
    <p:sldId id="304" r:id="rId9"/>
    <p:sldId id="309" r:id="rId10"/>
    <p:sldId id="305" r:id="rId11"/>
    <p:sldId id="294" r:id="rId12"/>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88EE"/>
    <a:srgbClr val="0E419C"/>
    <a:srgbClr val="F6B940"/>
    <a:srgbClr val="29A3FF"/>
    <a:srgbClr val="059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75" d="100"/>
          <a:sy n="75" d="100"/>
        </p:scale>
        <p:origin x="-112" y="-888"/>
      </p:cViewPr>
      <p:guideLst>
        <p:guide orient="horz" pos="2160"/>
        <p:guide pos="382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gs" Target="tags/tag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2.xml"/><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t>出口目的地占比</a:t>
            </a:r>
          </a:p>
        </c:rich>
      </c:tx>
      <c:layout/>
      <c:overlay val="0"/>
      <c:spPr>
        <a:noFill/>
        <a:ln>
          <a:noFill/>
        </a:ln>
        <a:effectLst/>
      </c:spPr>
    </c:title>
    <c:autoTitleDeleted val="0"/>
    <c:plotArea>
      <c:layout/>
      <c:pieChart>
        <c:varyColors val="1"/>
        <c:ser>
          <c:idx val="0"/>
          <c:order val="0"/>
          <c:tx>
            <c:strRef>
              <c:f>Sheet1!$B$1</c:f>
              <c:strCache>
                <c:ptCount val="1"/>
                <c:pt idx="0">
                  <c:v>目的地出口额占比</c:v>
                </c:pt>
              </c:strCache>
            </c:strRef>
          </c:tx>
          <c:spPr>
            <a:noFill/>
            <a:ln w="19050">
              <a:solidFill>
                <a:schemeClr val="accent1"/>
              </a:solidFill>
              <a:prstDash val="lgDashDot"/>
            </a:ln>
          </c:spPr>
          <c:explosion val="8"/>
          <c:dPt>
            <c:idx val="0"/>
            <c:bubble3D val="0"/>
            <c:spPr>
              <a:noFill/>
              <a:ln w="19050">
                <a:solidFill>
                  <a:schemeClr val="accent1"/>
                </a:solidFill>
                <a:prstDash val="lgDashDot"/>
              </a:ln>
              <a:effectLst/>
            </c:spPr>
          </c:dPt>
          <c:dPt>
            <c:idx val="1"/>
            <c:bubble3D val="0"/>
            <c:spPr>
              <a:noFill/>
              <a:ln w="19050">
                <a:solidFill>
                  <a:schemeClr val="accent2"/>
                </a:solidFill>
                <a:prstDash val="lgDashDot"/>
              </a:ln>
              <a:effectLst/>
            </c:spPr>
          </c:dPt>
          <c:dPt>
            <c:idx val="2"/>
            <c:bubble3D val="0"/>
            <c:spPr>
              <a:noFill/>
              <a:ln w="19050">
                <a:solidFill>
                  <a:schemeClr val="accent3"/>
                </a:solidFill>
                <a:prstDash val="lgDashDot"/>
              </a:ln>
              <a:effectLst/>
            </c:spPr>
          </c:dPt>
          <c:dPt>
            <c:idx val="3"/>
            <c:bubble3D val="0"/>
            <c:spPr>
              <a:noFill/>
              <a:ln w="19050">
                <a:solidFill>
                  <a:schemeClr val="accent4"/>
                </a:solidFill>
                <a:prstDash val="lgDashDot"/>
              </a:ln>
              <a:effectLst/>
            </c:spPr>
          </c:dPt>
          <c:dLbls>
            <c:dLbl>
              <c:idx val="0"/>
              <c:layout/>
              <c:tx>
                <c:rich>
                  <a:bodyPr rot="0" spcFirstLastPara="0" vertOverflow="ellipsis" vert="horz" wrap="square" lIns="38100" tIns="19050" rIns="38100" bIns="19050" anchor="ctr" anchorCtr="1" forceAA="0"/>
                  <a:lstStyle/>
                  <a:p>
                    <a:pPr defTabSz="914400">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t>欧盟</a:t>
                    </a:r>
                  </a:p>
                  <a:p>
                    <a:pPr defTabSz="914400">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a:t>30%</a:t>
                    </a:r>
                    <a:endParaRPr lang="en-US" altLang="zh-CN"/>
                  </a:p>
                </c:rich>
              </c:tx>
              <c:dLblPos val="inEnd"/>
              <c:showLegendKey val="0"/>
              <c:showVal val="1"/>
              <c:showCatName val="1"/>
              <c:showSerName val="0"/>
              <c:showPercent val="0"/>
              <c:showBubbleSize val="0"/>
              <c:separator>
</c:separator>
              <c:extLst>
                <c:ext xmlns:c15="http://schemas.microsoft.com/office/drawing/2012/chart" uri="{CE6537A1-D6FC-4f65-9D91-7224C49458BB}"/>
              </c:extLst>
            </c:dLbl>
            <c:numFmt formatCode="General" sourceLinked="1"/>
            <c:spPr>
              <a:noFill/>
              <a:ln>
                <a:noFill/>
              </a:ln>
              <a:effectLst/>
            </c:spPr>
            <c:txPr>
              <a:bodyPr rot="0" spcFirstLastPara="0" vertOverflow="ellipsis" vert="horz" wrap="square" lIns="38100" tIns="19050" rIns="38100" bIns="19050" anchor="ctr" anchorCtr="1" forceAA="0"/>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欧盟</c:v>
                </c:pt>
                <c:pt idx="1">
                  <c:v>亚洲</c:v>
                </c:pt>
                <c:pt idx="2">
                  <c:v>拉丁美洲</c:v>
                </c:pt>
                <c:pt idx="3">
                  <c:v>其他</c:v>
                </c:pt>
              </c:strCache>
            </c:strRef>
          </c:cat>
          <c:val>
            <c:numRef>
              <c:f>Sheet1!$B$2:$B$5</c:f>
              <c:numCache>
                <c:formatCode>0%</c:formatCode>
                <c:ptCount val="4"/>
                <c:pt idx="0">
                  <c:v>0.3</c:v>
                </c:pt>
                <c:pt idx="1">
                  <c:v>0.25</c:v>
                </c:pt>
                <c:pt idx="2">
                  <c:v>0.2</c:v>
                </c:pt>
                <c:pt idx="3">
                  <c:v>0.25</c:v>
                </c:pt>
              </c:numCache>
            </c:numRef>
          </c:val>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7d9523c2-9533-43af-a202-180354444872}"/>
      </c:ext>
    </c:extLst>
  </c:chart>
  <c:spPr>
    <a:solidFill>
      <a:schemeClr val="bg1"/>
    </a:solidFill>
    <a:ln w="6350" cap="flat" cmpd="sng" algn="ctr">
      <a:solidFill>
        <a:schemeClr val="tx1">
          <a:lumMod val="50000"/>
          <a:lumOff val="50000"/>
          <a:alpha val="25000"/>
        </a:schemeClr>
      </a:solidFill>
      <a:round/>
    </a:ln>
    <a:effectLst>
      <a:outerShdw blurRad="63500" dist="37357" dir="2700000" sx="0" sy="0" rotWithShape="0">
        <a:scrgbClr r="0" g="0" b="0"/>
      </a:outerShdw>
    </a:effectLst>
  </c:spPr>
  <c:txPr>
    <a:bodyPr/>
    <a:lstStyle/>
    <a:p>
      <a:pPr>
        <a:defRPr lang="zh-CN">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a:t>2024</a:t>
            </a:r>
            <a:r>
              <a:rPr altLang="en-US"/>
              <a:t>中国电车企业出口量统计</a:t>
            </a:r>
            <a:endParaRPr altLang="en-US"/>
          </a:p>
        </c:rich>
      </c:tx>
      <c:layout>
        <c:manualLayout>
          <c:xMode val="edge"/>
          <c:yMode val="edge"/>
          <c:x val="0.31447446015463"/>
          <c:y val="0.0416867825665585"/>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出口额</c:v>
                </c:pt>
              </c:strCache>
            </c:strRef>
          </c:tx>
          <c:spPr>
            <a:solidFill>
              <a:schemeClr val="accent1"/>
            </a:solidFill>
            <a:ln>
              <a:noFill/>
            </a:ln>
            <a:effectLst/>
          </c:spPr>
          <c:invertIfNegative val="0"/>
          <c:dLbls>
            <c:delete val="1"/>
          </c:dLbls>
          <c:cat>
            <c:strRef>
              <c:f>Sheet1!$A$2:$A$5</c:f>
              <c:strCache>
                <c:ptCount val="4"/>
                <c:pt idx="0">
                  <c:v>奇瑞</c:v>
                </c:pt>
                <c:pt idx="1">
                  <c:v>名爵</c:v>
                </c:pt>
                <c:pt idx="2">
                  <c:v>比亚迪</c:v>
                </c:pt>
                <c:pt idx="3">
                  <c:v>吉利</c:v>
                </c:pt>
              </c:strCache>
            </c:strRef>
          </c:cat>
          <c:val>
            <c:numRef>
              <c:f>Sheet1!$B$2:$B$5</c:f>
              <c:numCache>
                <c:formatCode>General</c:formatCode>
                <c:ptCount val="4"/>
                <c:pt idx="0">
                  <c:v>881541</c:v>
                </c:pt>
                <c:pt idx="1">
                  <c:v>460942</c:v>
                </c:pt>
                <c:pt idx="2">
                  <c:v>405786</c:v>
                </c:pt>
                <c:pt idx="3">
                  <c:v>373742</c:v>
                </c:pt>
              </c:numCache>
            </c:numRef>
          </c:val>
        </c:ser>
        <c:dLbls>
          <c:showLegendKey val="0"/>
          <c:showVal val="0"/>
          <c:showCatName val="0"/>
          <c:showSerName val="0"/>
          <c:showPercent val="0"/>
          <c:showBubbleSize val="0"/>
        </c:dLbls>
        <c:gapWidth val="219"/>
        <c:overlap val="-27"/>
        <c:axId val="215769896"/>
        <c:axId val="467393443"/>
      </c:barChart>
      <c:lineChart>
        <c:grouping val="standard"/>
        <c:varyColors val="0"/>
        <c:ser>
          <c:idx val="2"/>
          <c:order val="2"/>
          <c:tx>
            <c:strRef>
              <c:f>Sheet1!#REF!</c:f>
              <c:strCache>
                <c:ptCount val="1"/>
                <c:pt idx="0">
                  <c:v/>
                </c:pt>
              </c:strCache>
            </c:strRef>
          </c:tx>
          <c:spPr>
            <a:ln w="28575" cap="rnd">
              <a:solidFill>
                <a:schemeClr val="accent3"/>
              </a:solidFill>
              <a:round/>
            </a:ln>
            <a:effectLst/>
          </c:spPr>
          <c:marker>
            <c:symbol val="none"/>
          </c:marker>
          <c:dLbls>
            <c:delete val="1"/>
          </c:dLbls>
          <c:cat>
            <c:strRef>
              <c:f>Sheet1!$A$2:$A$5</c:f>
              <c:strCache>
                <c:ptCount val="4"/>
                <c:pt idx="0">
                  <c:v>奇瑞</c:v>
                </c:pt>
                <c:pt idx="1">
                  <c:v>名爵</c:v>
                </c:pt>
                <c:pt idx="2">
                  <c:v>比亚迪</c:v>
                </c:pt>
                <c:pt idx="3">
                  <c:v>吉利</c:v>
                </c:pt>
              </c:strCache>
            </c:strRef>
          </c:cat>
          <c:val>
            <c:numRef>
              <c:f>Sheet1!#REF!</c:f>
              <c:numCache>
                <c:formatCode>General</c:formatCode>
                <c:ptCount val="1"/>
                <c:pt idx="0">
                  <c:v>1</c:v>
                </c:pt>
              </c:numCache>
            </c:numRef>
          </c:val>
          <c:smooth val="0"/>
        </c:ser>
        <c:dLbls>
          <c:showLegendKey val="0"/>
          <c:showVal val="0"/>
          <c:showCatName val="0"/>
          <c:showSerName val="0"/>
          <c:showPercent val="0"/>
          <c:showBubbleSize val="0"/>
        </c:dLbls>
        <c:marker val="0"/>
        <c:smooth val="0"/>
        <c:axId val="215769896"/>
        <c:axId val="467393443"/>
      </c:lineChart>
      <c:lineChart>
        <c:grouping val="standard"/>
        <c:varyColors val="0"/>
        <c:ser>
          <c:idx val="1"/>
          <c:order val="1"/>
          <c:tx>
            <c:strRef>
              <c:f>Sheet1!$C$1</c:f>
              <c:strCache>
                <c:ptCount val="1"/>
                <c:pt idx="0">
                  <c:v>同比增长</c:v>
                </c:pt>
              </c:strCache>
            </c:strRef>
          </c:tx>
          <c:spPr>
            <a:ln w="28575" cap="rnd">
              <a:solidFill>
                <a:schemeClr val="accent2"/>
              </a:solidFill>
              <a:round/>
            </a:ln>
            <a:effectLst/>
          </c:spPr>
          <c:marker>
            <c:symbol val="none"/>
          </c:marker>
          <c:dLbls>
            <c:delete val="1"/>
          </c:dLbls>
          <c:cat>
            <c:strRef>
              <c:f>Sheet1!$A$2:$A$5</c:f>
              <c:strCache>
                <c:ptCount val="4"/>
                <c:pt idx="0">
                  <c:v>奇瑞</c:v>
                </c:pt>
                <c:pt idx="1">
                  <c:v>名爵</c:v>
                </c:pt>
                <c:pt idx="2">
                  <c:v>比亚迪</c:v>
                </c:pt>
                <c:pt idx="3">
                  <c:v>吉利</c:v>
                </c:pt>
              </c:strCache>
            </c:strRef>
          </c:cat>
          <c:val>
            <c:numRef>
              <c:f>Sheet1!$C$2:$C$5</c:f>
              <c:numCache>
                <c:formatCode>0.00%</c:formatCode>
                <c:ptCount val="4"/>
                <c:pt idx="0">
                  <c:v>0.2304</c:v>
                </c:pt>
                <c:pt idx="1">
                  <c:v>-0.2762</c:v>
                </c:pt>
                <c:pt idx="2">
                  <c:v>0.6716</c:v>
                </c:pt>
                <c:pt idx="3">
                  <c:v>0.5497</c:v>
                </c:pt>
              </c:numCache>
            </c:numRef>
          </c:val>
          <c:smooth val="0"/>
        </c:ser>
        <c:dLbls>
          <c:showLegendKey val="0"/>
          <c:showVal val="0"/>
          <c:showCatName val="0"/>
          <c:showSerName val="0"/>
          <c:showPercent val="0"/>
          <c:showBubbleSize val="0"/>
        </c:dLbls>
        <c:marker val="0"/>
        <c:smooth val="0"/>
        <c:axId val="185411946"/>
        <c:axId val="928904393"/>
      </c:lineChart>
      <c:catAx>
        <c:axId val="215769896"/>
        <c:scaling>
          <c:orientation val="minMax"/>
        </c:scaling>
        <c:delete val="0"/>
        <c:axPos val="b"/>
        <c:numFmt formatCode="General" sourceLinked="1"/>
        <c:majorTickMark val="none"/>
        <c:minorTickMark val="none"/>
        <c:tickLblPos val="nextTo"/>
        <c:spPr>
          <a:noFill/>
          <a:ln w="6350" cap="flat" cmpd="sng" algn="ctr">
            <a:solidFill>
              <a:schemeClr val="tx1">
                <a:lumMod val="50000"/>
                <a:lumOff val="50000"/>
                <a:alpha val="2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467393443"/>
        <c:crosses val="autoZero"/>
        <c:auto val="1"/>
        <c:lblAlgn val="ctr"/>
        <c:lblOffset val="100"/>
        <c:noMultiLvlLbl val="0"/>
      </c:catAx>
      <c:valAx>
        <c:axId val="467393443"/>
        <c:scaling>
          <c:orientation val="minMax"/>
        </c:scaling>
        <c:delete val="0"/>
        <c:axPos val="l"/>
        <c:numFmt formatCode="General"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215769896"/>
        <c:crosses val="autoZero"/>
        <c:crossBetween val="between"/>
      </c:valAx>
      <c:catAx>
        <c:axId val="185411946"/>
        <c:scaling>
          <c:orientation val="minMax"/>
        </c:scaling>
        <c:delete val="1"/>
        <c:axPos val="b"/>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928904393"/>
        <c:crosses val="autoZero"/>
        <c:auto val="1"/>
        <c:lblAlgn val="ctr"/>
        <c:lblOffset val="100"/>
        <c:noMultiLvlLbl val="0"/>
      </c:catAx>
      <c:valAx>
        <c:axId val="928904393"/>
        <c:scaling>
          <c:orientation val="minMax"/>
        </c:scaling>
        <c:delete val="0"/>
        <c:axPos val="r"/>
        <c:numFmt formatCode="0.0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185411946"/>
        <c:crosses val="max"/>
        <c:crossBetween val="between"/>
      </c:valAx>
      <c:spPr>
        <a:noFill/>
        <a:ln>
          <a:noFill/>
        </a:ln>
        <a:effectLst/>
      </c:spPr>
    </c:plotArea>
    <c:legend>
      <c:legendPos val="t"/>
      <c:legendEntry>
        <c:idx val="1"/>
        <c:delete val="1"/>
      </c:legendEntry>
      <c:layou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
    <c:plotVisOnly val="1"/>
    <c:dispBlanksAs val="gap"/>
    <c:showDLblsOverMax val="0"/>
    <c:extLst>
      <c:ext uri="{0b15fc19-7d7d-44ad-8c2d-2c3a37ce22c3}">
        <chartProps xmlns="https://web.wps.cn/et/2018/main" chartId="{e7416804-154b-4530-8693-4b644c33266a}"/>
      </c:ext>
    </c:extLst>
  </c:chart>
  <c:spPr>
    <a:solidFill>
      <a:schemeClr val="bg1"/>
    </a:solidFill>
    <a:ln w="6350" cap="flat" cmpd="sng" algn="ctr">
      <a:solidFill>
        <a:schemeClr val="tx1">
          <a:lumMod val="50000"/>
          <a:lumOff val="50000"/>
          <a:alpha val="25000"/>
        </a:schemeClr>
      </a:solidFill>
      <a:round/>
    </a:ln>
    <a:effectLst>
      <a:outerShdw blurRad="63500" dist="37357" dir="2700000" sx="0" sy="0" rotWithShape="0">
        <a:scrgbClr r="0" g="0" b="0"/>
      </a:outerShdw>
    </a:effectLst>
  </c:spPr>
  <c:txPr>
    <a:bodyPr/>
    <a:lstStyle/>
    <a:p>
      <a:pPr>
        <a:defRPr lang="zh-CN">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比亚迪</a:t>
            </a:r>
            <a:r>
              <a:rPr lang="en-US" altLang="zh-CN"/>
              <a:t>2021-2024</a:t>
            </a:r>
            <a:r>
              <a:rPr altLang="en-US"/>
              <a:t>海外电车</a:t>
            </a:r>
            <a:r>
              <a:rPr altLang="en-US"/>
              <a:t>销量</a:t>
            </a:r>
            <a:endParaRPr altLang="en-US"/>
          </a:p>
        </c:rich>
      </c:tx>
      <c:layout>
        <c:manualLayout>
          <c:xMode val="edge"/>
          <c:yMode val="edge"/>
          <c:x val="0.246501350356003"/>
          <c:y val="0.0346546403987657"/>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海外电车销量</c:v>
                </c:pt>
              </c:strCache>
            </c:strRef>
          </c:tx>
          <c:spPr>
            <a:solidFill>
              <a:schemeClr val="accent1"/>
            </a:solidFill>
            <a:ln>
              <a:noFill/>
            </a:ln>
            <a:effectLst/>
          </c:spPr>
          <c:invertIfNegative val="0"/>
          <c:dLbls>
            <c:delete val="1"/>
          </c:dLbls>
          <c:cat>
            <c:numRef>
              <c:f>Sheet1!$A$2:$A$5</c:f>
              <c:numCache>
                <c:formatCode>General</c:formatCode>
                <c:ptCount val="4"/>
                <c:pt idx="0">
                  <c:v>2021</c:v>
                </c:pt>
                <c:pt idx="1">
                  <c:v>2022</c:v>
                </c:pt>
                <c:pt idx="2">
                  <c:v>2023</c:v>
                </c:pt>
                <c:pt idx="3">
                  <c:v>2024</c:v>
                </c:pt>
              </c:numCache>
            </c:numRef>
          </c:cat>
          <c:val>
            <c:numRef>
              <c:f>Sheet1!$B$2:$B$5</c:f>
              <c:numCache>
                <c:formatCode>General</c:formatCode>
                <c:ptCount val="4"/>
                <c:pt idx="0">
                  <c:v>15000</c:v>
                </c:pt>
                <c:pt idx="1">
                  <c:v>55916</c:v>
                </c:pt>
                <c:pt idx="2">
                  <c:v>242759</c:v>
                </c:pt>
                <c:pt idx="3">
                  <c:v>431552</c:v>
                </c:pt>
              </c:numCache>
            </c:numRef>
          </c:val>
        </c:ser>
        <c:ser>
          <c:idx val="1"/>
          <c:order val="1"/>
          <c:tx>
            <c:strRef>
              <c:f>Sheet1!#REF!</c:f>
              <c:strCache>
                <c:ptCount val="1"/>
                <c:pt idx="0">
                  <c:v/>
                </c:pt>
              </c:strCache>
            </c:strRef>
          </c:tx>
          <c:spPr>
            <a:solidFill>
              <a:schemeClr val="accent2"/>
            </a:solidFill>
            <a:ln>
              <a:noFill/>
            </a:ln>
            <a:effectLst/>
          </c:spPr>
          <c:invertIfNegative val="0"/>
          <c:dLbls>
            <c:delete val="1"/>
          </c:dLbls>
          <c:cat>
            <c:numRef>
              <c:f>Sheet1!$A$2:$A$5</c:f>
              <c:numCache>
                <c:formatCode>General</c:formatCode>
                <c:ptCount val="4"/>
                <c:pt idx="0">
                  <c:v>2021</c:v>
                </c:pt>
                <c:pt idx="1">
                  <c:v>2022</c:v>
                </c:pt>
                <c:pt idx="2">
                  <c:v>2023</c:v>
                </c:pt>
                <c:pt idx="3">
                  <c:v>2024</c:v>
                </c:pt>
              </c:numCache>
            </c:numRef>
          </c:cat>
          <c:val>
            <c:numRef>
              <c:f>Sheet1!#REF!</c:f>
              <c:numCache>
                <c:formatCode>General</c:formatCode>
                <c:ptCount val="1"/>
                <c:pt idx="0">
                  <c:v>1</c:v>
                </c:pt>
              </c:numCache>
            </c:numRef>
          </c:val>
        </c:ser>
        <c:ser>
          <c:idx val="2"/>
          <c:order val="2"/>
          <c:tx>
            <c:strRef>
              <c:f>Sheet1!#REF!</c:f>
              <c:strCache>
                <c:ptCount val="1"/>
                <c:pt idx="0">
                  <c:v/>
                </c:pt>
              </c:strCache>
            </c:strRef>
          </c:tx>
          <c:spPr>
            <a:solidFill>
              <a:schemeClr val="accent3"/>
            </a:solidFill>
            <a:ln>
              <a:noFill/>
            </a:ln>
            <a:effectLst/>
          </c:spPr>
          <c:invertIfNegative val="0"/>
          <c:dLbls>
            <c:delete val="1"/>
          </c:dLbls>
          <c:cat>
            <c:numRef>
              <c:f>Sheet1!$A$2:$A$5</c:f>
              <c:numCache>
                <c:formatCode>General</c:formatCode>
                <c:ptCount val="4"/>
                <c:pt idx="0">
                  <c:v>2021</c:v>
                </c:pt>
                <c:pt idx="1">
                  <c:v>2022</c:v>
                </c:pt>
                <c:pt idx="2">
                  <c:v>2023</c:v>
                </c:pt>
                <c:pt idx="3">
                  <c:v>2024</c:v>
                </c:pt>
              </c:numCache>
            </c:numRef>
          </c:cat>
          <c:val>
            <c:numRef>
              <c:f>Sheet1!#REF!</c:f>
              <c:numCache>
                <c:formatCode>General</c:formatCode>
                <c:ptCount val="1"/>
                <c:pt idx="0">
                  <c:v>1</c:v>
                </c:pt>
              </c:numCache>
            </c:numRef>
          </c:val>
        </c:ser>
        <c:dLbls>
          <c:showLegendKey val="0"/>
          <c:showVal val="0"/>
          <c:showCatName val="0"/>
          <c:showSerName val="0"/>
          <c:showPercent val="0"/>
          <c:showBubbleSize val="0"/>
        </c:dLbls>
        <c:gapWidth val="246"/>
        <c:overlap val="-28"/>
        <c:axId val="624280469"/>
        <c:axId val="735569098"/>
      </c:barChart>
      <c:catAx>
        <c:axId val="62428046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35569098"/>
        <c:crosses val="autoZero"/>
        <c:auto val="1"/>
        <c:lblAlgn val="ctr"/>
        <c:lblOffset val="100"/>
        <c:noMultiLvlLbl val="0"/>
      </c:catAx>
      <c:valAx>
        <c:axId val="735569098"/>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624280469"/>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microsoft.com/office/2007/relationships/hdphoto" Target="../media/image3.wdp"/><Relationship Id="rId4" Type="http://schemas.openxmlformats.org/officeDocument/2006/relationships/image" Target="../media/image2.png"/><Relationship Id="rId3" Type="http://schemas.openxmlformats.org/officeDocument/2006/relationships/hyperlink" Target="http://www.officeplus.cn/Template/Home.shtml"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microsoft.com/office/2007/relationships/hdphoto" Target="../media/image3.wdp"/><Relationship Id="rId6" Type="http://schemas.openxmlformats.org/officeDocument/2006/relationships/image" Target="../media/image2.png"/><Relationship Id="rId5" Type="http://schemas.openxmlformats.org/officeDocument/2006/relationships/hyperlink" Target="http://www.officeplus.cn/Template/Home.shtml" TargetMode="External"/><Relationship Id="rId4" Type="http://schemas.openxmlformats.org/officeDocument/2006/relationships/image" Target="../media/image6.png"/><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9801" name="副标题 2"/>
          <p:cNvSpPr>
            <a:spLocks noGrp="1"/>
          </p:cNvSpPr>
          <p:nvPr userDrawn="1">
            <p:ph type="subTitle" idx="1" hasCustomPrompt="1"/>
          </p:nvPr>
        </p:nvSpPr>
        <p:spPr>
          <a:xfrm>
            <a:off x="669925" y="2150019"/>
            <a:ext cx="4423002" cy="558799"/>
          </a:xfrm>
        </p:spPr>
        <p:txBody>
          <a:bodyPr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Click to edit Master title style</a:t>
            </a:r>
            <a:endParaRPr lang="zh-CN" altLang="en-US" dirty="0"/>
          </a:p>
        </p:txBody>
      </p:sp>
      <p:sp>
        <p:nvSpPr>
          <p:cNvPr id="9802" name="标题 1"/>
          <p:cNvSpPr>
            <a:spLocks noGrp="1"/>
          </p:cNvSpPr>
          <p:nvPr userDrawn="1">
            <p:ph type="ctrTitle"/>
          </p:nvPr>
        </p:nvSpPr>
        <p:spPr>
          <a:xfrm>
            <a:off x="669925" y="1320800"/>
            <a:ext cx="4423002" cy="698591"/>
          </a:xfrm>
        </p:spPr>
        <p:txBody>
          <a:bodyPr anchor="ctr">
            <a:normAutofit/>
          </a:bodyPr>
          <a:lstStyle>
            <a:lvl1pPr algn="l">
              <a:defRPr sz="4000">
                <a:solidFill>
                  <a:schemeClr val="tx1"/>
                </a:solidFill>
              </a:defRPr>
            </a:lvl1pPr>
          </a:lstStyle>
          <a:p>
            <a:r>
              <a:rPr lang="en-US" altLang="zh-CN" dirty="0"/>
              <a:t>Click to edit Master title style</a:t>
            </a:r>
            <a:endParaRPr lang="zh-CN" altLang="en-US" dirty="0"/>
          </a:p>
        </p:txBody>
      </p:sp>
      <p:sp>
        <p:nvSpPr>
          <p:cNvPr id="12" name="文本占位符 13"/>
          <p:cNvSpPr>
            <a:spLocks noGrp="1"/>
          </p:cNvSpPr>
          <p:nvPr userDrawn="1">
            <p:ph type="body" sz="quarter" idx="10" hasCustomPrompt="1"/>
          </p:nvPr>
        </p:nvSpPr>
        <p:spPr>
          <a:xfrm>
            <a:off x="669925" y="3189949"/>
            <a:ext cx="2045144" cy="248371"/>
          </a:xfrm>
        </p:spPr>
        <p:txBody>
          <a:bodyPr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userDrawn="1">
            <p:ph type="body" sz="quarter" idx="11" hasCustomPrompt="1"/>
          </p:nvPr>
        </p:nvSpPr>
        <p:spPr>
          <a:xfrm>
            <a:off x="669925" y="3453845"/>
            <a:ext cx="2045144" cy="248371"/>
          </a:xfrm>
        </p:spPr>
        <p:txBody>
          <a:bodyPr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grpSp>
        <p:nvGrpSpPr>
          <p:cNvPr id="60" name="组合 59"/>
          <p:cNvGrpSpPr/>
          <p:nvPr userDrawn="1"/>
        </p:nvGrpSpPr>
        <p:grpSpPr>
          <a:xfrm>
            <a:off x="-12088" y="4794394"/>
            <a:ext cx="12204089" cy="2063607"/>
            <a:chOff x="-12088" y="4794394"/>
            <a:chExt cx="12204089" cy="2063607"/>
          </a:xfrm>
        </p:grpSpPr>
        <p:sp>
          <p:nvSpPr>
            <p:cNvPr id="52" name="任意多边形: 形状 51"/>
            <p:cNvSpPr/>
            <p:nvPr userDrawn="1"/>
          </p:nvSpPr>
          <p:spPr bwMode="auto">
            <a:xfrm>
              <a:off x="554582" y="4942832"/>
              <a:ext cx="11637418" cy="1915168"/>
            </a:xfrm>
            <a:custGeom>
              <a:avLst/>
              <a:gdLst>
                <a:gd name="connsiteX0" fmla="*/ 8612903 w 11637418"/>
                <a:gd name="connsiteY0" fmla="*/ 0 h 1915168"/>
                <a:gd name="connsiteX1" fmla="*/ 11637418 w 11637418"/>
                <a:gd name="connsiteY1" fmla="*/ 1581105 h 1915168"/>
                <a:gd name="connsiteX2" fmla="*/ 11637418 w 11637418"/>
                <a:gd name="connsiteY2" fmla="*/ 1915168 h 1915168"/>
                <a:gd name="connsiteX3" fmla="*/ 0 w 11637418"/>
                <a:gd name="connsiteY3" fmla="*/ 1915168 h 1915168"/>
              </a:gdLst>
              <a:ahLst/>
              <a:cxnLst>
                <a:cxn ang="0">
                  <a:pos x="connsiteX0" y="connsiteY0"/>
                </a:cxn>
                <a:cxn ang="0">
                  <a:pos x="connsiteX1" y="connsiteY1"/>
                </a:cxn>
                <a:cxn ang="0">
                  <a:pos x="connsiteX2" y="connsiteY2"/>
                </a:cxn>
                <a:cxn ang="0">
                  <a:pos x="connsiteX3" y="connsiteY3"/>
                </a:cxn>
              </a:cxnLst>
              <a:rect l="l" t="t" r="r" b="b"/>
              <a:pathLst>
                <a:path w="11637418" h="1915168">
                  <a:moveTo>
                    <a:pt x="8612903" y="0"/>
                  </a:moveTo>
                  <a:lnTo>
                    <a:pt x="11637418" y="1581105"/>
                  </a:lnTo>
                  <a:lnTo>
                    <a:pt x="11637418" y="1915168"/>
                  </a:lnTo>
                  <a:lnTo>
                    <a:pt x="0" y="1915168"/>
                  </a:lnTo>
                  <a:close/>
                </a:path>
              </a:pathLst>
            </a:custGeom>
            <a:solidFill>
              <a:schemeClr val="accent1">
                <a:lumMod val="40000"/>
                <a:lumOff val="60000"/>
                <a:alpha val="34000"/>
              </a:schemeClr>
            </a:solidFill>
            <a:ln>
              <a:noFill/>
            </a:ln>
          </p:spPr>
          <p:txBody>
            <a:bodyPr vert="horz" wrap="square" lIns="91440" tIns="45720" rIns="91440" bIns="45720" numCol="1" anchor="t" anchorCtr="0" compatLnSpc="1">
              <a:noAutofit/>
            </a:bodyPr>
            <a:lstStyle/>
            <a:p>
              <a:pPr lvl="0"/>
              <a:endParaRPr lang="zh-CN" altLang="en-US"/>
            </a:p>
          </p:txBody>
        </p:sp>
        <p:sp>
          <p:nvSpPr>
            <p:cNvPr id="54" name="任意多边形: 形状 53"/>
            <p:cNvSpPr/>
            <p:nvPr userDrawn="1"/>
          </p:nvSpPr>
          <p:spPr bwMode="auto">
            <a:xfrm>
              <a:off x="335096" y="4794394"/>
              <a:ext cx="11856904" cy="2063607"/>
            </a:xfrm>
            <a:custGeom>
              <a:avLst/>
              <a:gdLst>
                <a:gd name="connsiteX0" fmla="*/ 7128328 w 11856904"/>
                <a:gd name="connsiteY0" fmla="*/ 0 h 2063607"/>
                <a:gd name="connsiteX1" fmla="*/ 11856904 w 11856904"/>
                <a:gd name="connsiteY1" fmla="*/ 1832069 h 2063607"/>
                <a:gd name="connsiteX2" fmla="*/ 11856904 w 11856904"/>
                <a:gd name="connsiteY2" fmla="*/ 2063607 h 2063607"/>
                <a:gd name="connsiteX3" fmla="*/ 0 w 11856904"/>
                <a:gd name="connsiteY3" fmla="*/ 2063607 h 2063607"/>
              </a:gdLst>
              <a:ahLst/>
              <a:cxnLst>
                <a:cxn ang="0">
                  <a:pos x="connsiteX0" y="connsiteY0"/>
                </a:cxn>
                <a:cxn ang="0">
                  <a:pos x="connsiteX1" y="connsiteY1"/>
                </a:cxn>
                <a:cxn ang="0">
                  <a:pos x="connsiteX2" y="connsiteY2"/>
                </a:cxn>
                <a:cxn ang="0">
                  <a:pos x="connsiteX3" y="connsiteY3"/>
                </a:cxn>
              </a:cxnLst>
              <a:rect l="l" t="t" r="r" b="b"/>
              <a:pathLst>
                <a:path w="11856904" h="2063607">
                  <a:moveTo>
                    <a:pt x="7128328" y="0"/>
                  </a:moveTo>
                  <a:lnTo>
                    <a:pt x="11856904" y="1832069"/>
                  </a:lnTo>
                  <a:lnTo>
                    <a:pt x="11856904" y="2063607"/>
                  </a:lnTo>
                  <a:lnTo>
                    <a:pt x="0" y="2063607"/>
                  </a:lnTo>
                  <a:close/>
                </a:path>
              </a:pathLst>
            </a:custGeom>
            <a:solidFill>
              <a:schemeClr val="accent2">
                <a:lumMod val="60000"/>
                <a:lumOff val="40000"/>
                <a:alpha val="47000"/>
              </a:schemeClr>
            </a:solidFill>
            <a:ln>
              <a:noFill/>
            </a:ln>
          </p:spPr>
          <p:txBody>
            <a:bodyPr vert="horz" wrap="square" lIns="91440" tIns="45720" rIns="91440" bIns="45720" numCol="1" anchor="t" anchorCtr="0" compatLnSpc="1">
              <a:noAutofit/>
            </a:bodyPr>
            <a:lstStyle/>
            <a:p>
              <a:endParaRPr lang="zh-CN" altLang="en-US"/>
            </a:p>
          </p:txBody>
        </p:sp>
        <p:sp>
          <p:nvSpPr>
            <p:cNvPr id="56" name="任意多边形: 形状 55"/>
            <p:cNvSpPr/>
            <p:nvPr userDrawn="1"/>
          </p:nvSpPr>
          <p:spPr bwMode="auto">
            <a:xfrm>
              <a:off x="139320" y="4847832"/>
              <a:ext cx="12052680" cy="2010168"/>
            </a:xfrm>
            <a:custGeom>
              <a:avLst/>
              <a:gdLst>
                <a:gd name="connsiteX0" fmla="*/ 5073792 w 12052680"/>
                <a:gd name="connsiteY0" fmla="*/ 0 h 2010168"/>
                <a:gd name="connsiteX1" fmla="*/ 12052680 w 12052680"/>
                <a:gd name="connsiteY1" fmla="*/ 1869250 h 2010168"/>
                <a:gd name="connsiteX2" fmla="*/ 12052680 w 12052680"/>
                <a:gd name="connsiteY2" fmla="*/ 2010168 h 2010168"/>
                <a:gd name="connsiteX3" fmla="*/ 0 w 12052680"/>
                <a:gd name="connsiteY3" fmla="*/ 2010168 h 2010168"/>
              </a:gdLst>
              <a:ahLst/>
              <a:cxnLst>
                <a:cxn ang="0">
                  <a:pos x="connsiteX0" y="connsiteY0"/>
                </a:cxn>
                <a:cxn ang="0">
                  <a:pos x="connsiteX1" y="connsiteY1"/>
                </a:cxn>
                <a:cxn ang="0">
                  <a:pos x="connsiteX2" y="connsiteY2"/>
                </a:cxn>
                <a:cxn ang="0">
                  <a:pos x="connsiteX3" y="connsiteY3"/>
                </a:cxn>
              </a:cxnLst>
              <a:rect l="l" t="t" r="r" b="b"/>
              <a:pathLst>
                <a:path w="12052680" h="2010168">
                  <a:moveTo>
                    <a:pt x="5073792" y="0"/>
                  </a:moveTo>
                  <a:lnTo>
                    <a:pt x="12052680" y="1869250"/>
                  </a:lnTo>
                  <a:lnTo>
                    <a:pt x="12052680" y="2010168"/>
                  </a:lnTo>
                  <a:lnTo>
                    <a:pt x="0" y="2010168"/>
                  </a:lnTo>
                  <a:close/>
                </a:path>
              </a:pathLst>
            </a:custGeom>
            <a:solidFill>
              <a:schemeClr val="accent2"/>
            </a:solidFill>
            <a:ln>
              <a:noFill/>
            </a:ln>
          </p:spPr>
          <p:txBody>
            <a:bodyPr vert="horz" wrap="square" lIns="91440" tIns="45720" rIns="91440" bIns="45720" numCol="1" anchor="t" anchorCtr="0" compatLnSpc="1">
              <a:noAutofit/>
            </a:bodyPr>
            <a:lstStyle/>
            <a:p>
              <a:pPr lvl="0"/>
              <a:endParaRPr lang="zh-CN" altLang="en-US"/>
            </a:p>
          </p:txBody>
        </p:sp>
        <p:sp>
          <p:nvSpPr>
            <p:cNvPr id="58" name="任意多边形: 形状 57"/>
            <p:cNvSpPr/>
            <p:nvPr userDrawn="1"/>
          </p:nvSpPr>
          <p:spPr bwMode="auto">
            <a:xfrm>
              <a:off x="-12088" y="5275332"/>
              <a:ext cx="12204089" cy="1582668"/>
            </a:xfrm>
            <a:custGeom>
              <a:avLst/>
              <a:gdLst>
                <a:gd name="connsiteX0" fmla="*/ 2856139 w 12204089"/>
                <a:gd name="connsiteY0" fmla="*/ 0 h 1582668"/>
                <a:gd name="connsiteX1" fmla="*/ 12204089 w 12204089"/>
                <a:gd name="connsiteY1" fmla="*/ 1521377 h 1582668"/>
                <a:gd name="connsiteX2" fmla="*/ 12204089 w 12204089"/>
                <a:gd name="connsiteY2" fmla="*/ 1582668 h 1582668"/>
                <a:gd name="connsiteX3" fmla="*/ 0 w 12204089"/>
                <a:gd name="connsiteY3" fmla="*/ 1582668 h 1582668"/>
              </a:gdLst>
              <a:ahLst/>
              <a:cxnLst>
                <a:cxn ang="0">
                  <a:pos x="connsiteX0" y="connsiteY0"/>
                </a:cxn>
                <a:cxn ang="0">
                  <a:pos x="connsiteX1" y="connsiteY1"/>
                </a:cxn>
                <a:cxn ang="0">
                  <a:pos x="connsiteX2" y="connsiteY2"/>
                </a:cxn>
                <a:cxn ang="0">
                  <a:pos x="connsiteX3" y="connsiteY3"/>
                </a:cxn>
              </a:cxnLst>
              <a:rect l="l" t="t" r="r" b="b"/>
              <a:pathLst>
                <a:path w="12204089" h="1582668">
                  <a:moveTo>
                    <a:pt x="2856139" y="0"/>
                  </a:moveTo>
                  <a:lnTo>
                    <a:pt x="12204089" y="1521377"/>
                  </a:lnTo>
                  <a:lnTo>
                    <a:pt x="12204089" y="1582668"/>
                  </a:lnTo>
                  <a:lnTo>
                    <a:pt x="0" y="1582668"/>
                  </a:lnTo>
                  <a:close/>
                </a:path>
              </a:pathLst>
            </a:custGeom>
            <a:solidFill>
              <a:schemeClr val="accent1">
                <a:alpha val="71000"/>
              </a:schemeClr>
            </a:solidFill>
            <a:ln>
              <a:noFill/>
            </a:ln>
          </p:spPr>
          <p:txBody>
            <a:bodyPr vert="horz" wrap="square" lIns="91440" tIns="45720" rIns="91440" bIns="45720" numCol="1" anchor="t" anchorCtr="0" compatLnSpc="1">
              <a:noAutofit/>
            </a:bodyPr>
            <a:lstStyle/>
            <a:p>
              <a:pPr lvl="0"/>
              <a:endParaRPr lang="zh-CN" altLang="en-US" dirty="0"/>
            </a:p>
          </p:txBody>
        </p:sp>
      </p:grpSp>
      <p:grpSp>
        <p:nvGrpSpPr>
          <p:cNvPr id="59" name="组合 58"/>
          <p:cNvGrpSpPr/>
          <p:nvPr userDrawn="1"/>
        </p:nvGrpSpPr>
        <p:grpSpPr>
          <a:xfrm>
            <a:off x="7778078" y="0"/>
            <a:ext cx="4413923" cy="3499502"/>
            <a:chOff x="7778078" y="0"/>
            <a:chExt cx="4413923" cy="3499502"/>
          </a:xfrm>
        </p:grpSpPr>
        <p:sp>
          <p:nvSpPr>
            <p:cNvPr id="42" name="任意多边形: 形状 41"/>
            <p:cNvSpPr/>
            <p:nvPr userDrawn="1"/>
          </p:nvSpPr>
          <p:spPr bwMode="auto">
            <a:xfrm>
              <a:off x="7778078" y="1"/>
              <a:ext cx="4413922" cy="3499501"/>
            </a:xfrm>
            <a:custGeom>
              <a:avLst/>
              <a:gdLst>
                <a:gd name="connsiteX0" fmla="*/ 0 w 4413922"/>
                <a:gd name="connsiteY0" fmla="*/ 0 h 3499501"/>
                <a:gd name="connsiteX1" fmla="*/ 4413922 w 4413922"/>
                <a:gd name="connsiteY1" fmla="*/ 0 h 3499501"/>
                <a:gd name="connsiteX2" fmla="*/ 4413922 w 4413922"/>
                <a:gd name="connsiteY2" fmla="*/ 3499501 h 3499501"/>
              </a:gdLst>
              <a:ahLst/>
              <a:cxnLst>
                <a:cxn ang="0">
                  <a:pos x="connsiteX0" y="connsiteY0"/>
                </a:cxn>
                <a:cxn ang="0">
                  <a:pos x="connsiteX1" y="connsiteY1"/>
                </a:cxn>
                <a:cxn ang="0">
                  <a:pos x="connsiteX2" y="connsiteY2"/>
                </a:cxn>
              </a:cxnLst>
              <a:rect l="l" t="t" r="r" b="b"/>
              <a:pathLst>
                <a:path w="4413922" h="3499501">
                  <a:moveTo>
                    <a:pt x="0" y="0"/>
                  </a:moveTo>
                  <a:lnTo>
                    <a:pt x="4413922" y="0"/>
                  </a:lnTo>
                  <a:lnTo>
                    <a:pt x="4413922" y="3499501"/>
                  </a:lnTo>
                  <a:close/>
                </a:path>
              </a:pathLst>
            </a:custGeom>
            <a:solidFill>
              <a:schemeClr val="accent1">
                <a:lumMod val="40000"/>
                <a:lumOff val="60000"/>
                <a:alpha val="34000"/>
              </a:schemeClr>
            </a:solidFill>
            <a:ln>
              <a:noFill/>
            </a:ln>
          </p:spPr>
          <p:txBody>
            <a:bodyPr vert="horz" wrap="square" lIns="91440" tIns="45720" rIns="91440" bIns="45720" numCol="1" anchor="t" anchorCtr="0" compatLnSpc="1">
              <a:noAutofit/>
            </a:bodyPr>
            <a:lstStyle/>
            <a:p>
              <a:endParaRPr lang="zh-CN" altLang="en-US"/>
            </a:p>
          </p:txBody>
        </p:sp>
        <p:sp>
          <p:nvSpPr>
            <p:cNvPr id="40" name="任意多边形: 形状 39"/>
            <p:cNvSpPr/>
            <p:nvPr userDrawn="1"/>
          </p:nvSpPr>
          <p:spPr bwMode="auto">
            <a:xfrm>
              <a:off x="7821128" y="0"/>
              <a:ext cx="4370872" cy="2993432"/>
            </a:xfrm>
            <a:custGeom>
              <a:avLst/>
              <a:gdLst>
                <a:gd name="connsiteX0" fmla="*/ 0 w 4370872"/>
                <a:gd name="connsiteY0" fmla="*/ 0 h 2993432"/>
                <a:gd name="connsiteX1" fmla="*/ 4370872 w 4370872"/>
                <a:gd name="connsiteY1" fmla="*/ 0 h 2993432"/>
                <a:gd name="connsiteX2" fmla="*/ 4370872 w 4370872"/>
                <a:gd name="connsiteY2" fmla="*/ 2993432 h 2993432"/>
              </a:gdLst>
              <a:ahLst/>
              <a:cxnLst>
                <a:cxn ang="0">
                  <a:pos x="connsiteX0" y="connsiteY0"/>
                </a:cxn>
                <a:cxn ang="0">
                  <a:pos x="connsiteX1" y="connsiteY1"/>
                </a:cxn>
                <a:cxn ang="0">
                  <a:pos x="connsiteX2" y="connsiteY2"/>
                </a:cxn>
              </a:cxnLst>
              <a:rect l="l" t="t" r="r" b="b"/>
              <a:pathLst>
                <a:path w="4370872" h="2993432">
                  <a:moveTo>
                    <a:pt x="0" y="0"/>
                  </a:moveTo>
                  <a:lnTo>
                    <a:pt x="4370872" y="0"/>
                  </a:lnTo>
                  <a:lnTo>
                    <a:pt x="4370872" y="2993432"/>
                  </a:lnTo>
                  <a:close/>
                </a:path>
              </a:pathLst>
            </a:custGeom>
            <a:solidFill>
              <a:schemeClr val="accent1">
                <a:lumMod val="40000"/>
                <a:lumOff val="60000"/>
              </a:schemeClr>
            </a:solidFill>
            <a:ln>
              <a:noFill/>
            </a:ln>
          </p:spPr>
          <p:txBody>
            <a:bodyPr vert="horz" wrap="square" lIns="91440" tIns="45720" rIns="91440" bIns="45720" numCol="1" anchor="t" anchorCtr="0" compatLnSpc="1">
              <a:noAutofit/>
            </a:bodyPr>
            <a:lstStyle/>
            <a:p>
              <a:endParaRPr lang="zh-CN" altLang="en-US"/>
            </a:p>
          </p:txBody>
        </p:sp>
        <p:sp>
          <p:nvSpPr>
            <p:cNvPr id="38" name="任意多边形: 形状 37"/>
            <p:cNvSpPr/>
            <p:nvPr userDrawn="1"/>
          </p:nvSpPr>
          <p:spPr bwMode="auto">
            <a:xfrm>
              <a:off x="7889890" y="1"/>
              <a:ext cx="4302111" cy="2419939"/>
            </a:xfrm>
            <a:custGeom>
              <a:avLst/>
              <a:gdLst>
                <a:gd name="connsiteX0" fmla="*/ 0 w 4302111"/>
                <a:gd name="connsiteY0" fmla="*/ 0 h 2419939"/>
                <a:gd name="connsiteX1" fmla="*/ 4302111 w 4302111"/>
                <a:gd name="connsiteY1" fmla="*/ 0 h 2419939"/>
                <a:gd name="connsiteX2" fmla="*/ 4302111 w 4302111"/>
                <a:gd name="connsiteY2" fmla="*/ 2419939 h 2419939"/>
              </a:gdLst>
              <a:ahLst/>
              <a:cxnLst>
                <a:cxn ang="0">
                  <a:pos x="connsiteX0" y="connsiteY0"/>
                </a:cxn>
                <a:cxn ang="0">
                  <a:pos x="connsiteX1" y="connsiteY1"/>
                </a:cxn>
                <a:cxn ang="0">
                  <a:pos x="connsiteX2" y="connsiteY2"/>
                </a:cxn>
              </a:cxnLst>
              <a:rect l="l" t="t" r="r" b="b"/>
              <a:pathLst>
                <a:path w="4302111" h="2419939">
                  <a:moveTo>
                    <a:pt x="0" y="0"/>
                  </a:moveTo>
                  <a:lnTo>
                    <a:pt x="4302111" y="0"/>
                  </a:lnTo>
                  <a:lnTo>
                    <a:pt x="4302111" y="2419939"/>
                  </a:lnTo>
                  <a:close/>
                </a:path>
              </a:pathLst>
            </a:custGeom>
            <a:solidFill>
              <a:schemeClr val="accent1">
                <a:lumMod val="75000"/>
              </a:schemeClr>
            </a:solidFill>
            <a:ln>
              <a:noFill/>
            </a:ln>
          </p:spPr>
          <p:txBody>
            <a:bodyPr vert="horz" wrap="square" lIns="91440" tIns="45720" rIns="91440" bIns="45720" numCol="1" anchor="t" anchorCtr="0" compatLnSpc="1">
              <a:noAutofit/>
            </a:bodyPr>
            <a:lstStyle/>
            <a:p>
              <a:endParaRPr lang="zh-CN" altLang="en-US"/>
            </a:p>
          </p:txBody>
        </p:sp>
        <p:sp>
          <p:nvSpPr>
            <p:cNvPr id="36" name="任意多边形: 形状 35"/>
            <p:cNvSpPr/>
            <p:nvPr userDrawn="1"/>
          </p:nvSpPr>
          <p:spPr bwMode="auto">
            <a:xfrm>
              <a:off x="7985356" y="0"/>
              <a:ext cx="4206644" cy="1895952"/>
            </a:xfrm>
            <a:custGeom>
              <a:avLst/>
              <a:gdLst>
                <a:gd name="connsiteX0" fmla="*/ 0 w 4206644"/>
                <a:gd name="connsiteY0" fmla="*/ 0 h 1895952"/>
                <a:gd name="connsiteX1" fmla="*/ 4206644 w 4206644"/>
                <a:gd name="connsiteY1" fmla="*/ 0 h 1895952"/>
                <a:gd name="connsiteX2" fmla="*/ 4206644 w 4206644"/>
                <a:gd name="connsiteY2" fmla="*/ 1895952 h 1895952"/>
              </a:gdLst>
              <a:ahLst/>
              <a:cxnLst>
                <a:cxn ang="0">
                  <a:pos x="connsiteX0" y="connsiteY0"/>
                </a:cxn>
                <a:cxn ang="0">
                  <a:pos x="connsiteX1" y="connsiteY1"/>
                </a:cxn>
                <a:cxn ang="0">
                  <a:pos x="connsiteX2" y="connsiteY2"/>
                </a:cxn>
              </a:cxnLst>
              <a:rect l="l" t="t" r="r" b="b"/>
              <a:pathLst>
                <a:path w="4206644" h="1895952">
                  <a:moveTo>
                    <a:pt x="0" y="0"/>
                  </a:moveTo>
                  <a:lnTo>
                    <a:pt x="4206644" y="0"/>
                  </a:lnTo>
                  <a:lnTo>
                    <a:pt x="4206644" y="1895952"/>
                  </a:lnTo>
                  <a:close/>
                </a:path>
              </a:pathLst>
            </a:custGeom>
            <a:solidFill>
              <a:schemeClr val="accent1">
                <a:alpha val="71000"/>
              </a:schemeClr>
            </a:solidFill>
            <a:ln>
              <a:noFill/>
            </a:ln>
          </p:spPr>
          <p:txBody>
            <a:bodyPr vert="horz" wrap="square" lIns="91440" tIns="45720" rIns="91440" bIns="45720" numCol="1" anchor="t" anchorCtr="0" compatLnSpc="1">
              <a:noAutofit/>
            </a:bodyPr>
            <a:lstStyle/>
            <a:p>
              <a:endParaRPr lang="zh-CN" alt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0" name="标题 1"/>
          <p:cNvSpPr>
            <a:spLocks noGrp="1"/>
          </p:cNvSpPr>
          <p:nvPr>
            <p:ph type="title"/>
          </p:nvPr>
        </p:nvSpPr>
        <p:spPr>
          <a:xfrm>
            <a:off x="1956131" y="2352597"/>
            <a:ext cx="4535055" cy="656792"/>
          </a:xfrm>
        </p:spPr>
        <p:txBody>
          <a:bodyPr anchor="ctr">
            <a:normAutofit/>
          </a:bodyPr>
          <a:lstStyle>
            <a:lvl1pPr algn="ctr">
              <a:defRPr sz="2400" b="1">
                <a:solidFill>
                  <a:srgbClr val="003D61"/>
                </a:solidFill>
              </a:defRPr>
            </a:lvl1pPr>
          </a:lstStyle>
          <a:p>
            <a:r>
              <a:rPr lang="en-US" altLang="zh-CN" dirty="0"/>
              <a:t>Click to edit Master title style</a:t>
            </a:r>
            <a:endParaRPr lang="zh-CN" altLang="en-US" dirty="0"/>
          </a:p>
        </p:txBody>
      </p:sp>
      <p:sp>
        <p:nvSpPr>
          <p:cNvPr id="21" name="文本占位符 2"/>
          <p:cNvSpPr>
            <a:spLocks noGrp="1"/>
          </p:cNvSpPr>
          <p:nvPr>
            <p:ph type="body" idx="1"/>
          </p:nvPr>
        </p:nvSpPr>
        <p:spPr>
          <a:xfrm>
            <a:off x="1950358" y="3233648"/>
            <a:ext cx="4546600" cy="1015623"/>
          </a:xfrm>
        </p:spPr>
        <p:txBody>
          <a:bodyPr anchor="t">
            <a:normAutofit/>
          </a:bodyPr>
          <a:lstStyle>
            <a:lvl1pPr marL="0" indent="0" algn="ctr">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Edit Master text styles</a:t>
            </a:r>
            <a:endParaRPr lang="en-US" altLang="zh-CN" dirty="0"/>
          </a:p>
        </p:txBody>
      </p:sp>
      <p:grpSp>
        <p:nvGrpSpPr>
          <p:cNvPr id="9" name="组合 8"/>
          <p:cNvGrpSpPr/>
          <p:nvPr userDrawn="1"/>
        </p:nvGrpSpPr>
        <p:grpSpPr>
          <a:xfrm flipV="1">
            <a:off x="8256760" y="-16020"/>
            <a:ext cx="3935241" cy="6874019"/>
            <a:chOff x="7778078" y="0"/>
            <a:chExt cx="4413923" cy="3499502"/>
          </a:xfrm>
        </p:grpSpPr>
        <p:sp>
          <p:nvSpPr>
            <p:cNvPr id="10" name="任意多边形: 形状 9"/>
            <p:cNvSpPr/>
            <p:nvPr userDrawn="1"/>
          </p:nvSpPr>
          <p:spPr bwMode="auto">
            <a:xfrm>
              <a:off x="7778078" y="1"/>
              <a:ext cx="4413922" cy="3499501"/>
            </a:xfrm>
            <a:custGeom>
              <a:avLst/>
              <a:gdLst>
                <a:gd name="connsiteX0" fmla="*/ 0 w 4413922"/>
                <a:gd name="connsiteY0" fmla="*/ 0 h 3499501"/>
                <a:gd name="connsiteX1" fmla="*/ 4413922 w 4413922"/>
                <a:gd name="connsiteY1" fmla="*/ 0 h 3499501"/>
                <a:gd name="connsiteX2" fmla="*/ 4413922 w 4413922"/>
                <a:gd name="connsiteY2" fmla="*/ 3499501 h 3499501"/>
              </a:gdLst>
              <a:ahLst/>
              <a:cxnLst>
                <a:cxn ang="0">
                  <a:pos x="connsiteX0" y="connsiteY0"/>
                </a:cxn>
                <a:cxn ang="0">
                  <a:pos x="connsiteX1" y="connsiteY1"/>
                </a:cxn>
                <a:cxn ang="0">
                  <a:pos x="connsiteX2" y="connsiteY2"/>
                </a:cxn>
              </a:cxnLst>
              <a:rect l="l" t="t" r="r" b="b"/>
              <a:pathLst>
                <a:path w="4413922" h="3499501">
                  <a:moveTo>
                    <a:pt x="0" y="0"/>
                  </a:moveTo>
                  <a:lnTo>
                    <a:pt x="4413922" y="0"/>
                  </a:lnTo>
                  <a:lnTo>
                    <a:pt x="4413922" y="3499501"/>
                  </a:lnTo>
                  <a:close/>
                </a:path>
              </a:pathLst>
            </a:custGeom>
            <a:solidFill>
              <a:schemeClr val="accent1">
                <a:lumMod val="40000"/>
                <a:lumOff val="60000"/>
                <a:alpha val="34000"/>
              </a:schemeClr>
            </a:solidFill>
            <a:ln>
              <a:noFill/>
            </a:ln>
          </p:spPr>
          <p:txBody>
            <a:bodyPr vert="horz" wrap="square" lIns="91440" tIns="45720" rIns="91440" bIns="45720" numCol="1" anchor="t" anchorCtr="0" compatLnSpc="1">
              <a:noAutofit/>
            </a:bodyPr>
            <a:lstStyle/>
            <a:p>
              <a:endParaRPr lang="zh-CN" altLang="en-US"/>
            </a:p>
          </p:txBody>
        </p:sp>
        <p:sp>
          <p:nvSpPr>
            <p:cNvPr id="11" name="任意多边形: 形状 10"/>
            <p:cNvSpPr/>
            <p:nvPr userDrawn="1"/>
          </p:nvSpPr>
          <p:spPr bwMode="auto">
            <a:xfrm>
              <a:off x="7821128" y="0"/>
              <a:ext cx="4370872" cy="2993432"/>
            </a:xfrm>
            <a:custGeom>
              <a:avLst/>
              <a:gdLst>
                <a:gd name="connsiteX0" fmla="*/ 0 w 4370872"/>
                <a:gd name="connsiteY0" fmla="*/ 0 h 2993432"/>
                <a:gd name="connsiteX1" fmla="*/ 4370872 w 4370872"/>
                <a:gd name="connsiteY1" fmla="*/ 0 h 2993432"/>
                <a:gd name="connsiteX2" fmla="*/ 4370872 w 4370872"/>
                <a:gd name="connsiteY2" fmla="*/ 2993432 h 2993432"/>
              </a:gdLst>
              <a:ahLst/>
              <a:cxnLst>
                <a:cxn ang="0">
                  <a:pos x="connsiteX0" y="connsiteY0"/>
                </a:cxn>
                <a:cxn ang="0">
                  <a:pos x="connsiteX1" y="connsiteY1"/>
                </a:cxn>
                <a:cxn ang="0">
                  <a:pos x="connsiteX2" y="connsiteY2"/>
                </a:cxn>
              </a:cxnLst>
              <a:rect l="l" t="t" r="r" b="b"/>
              <a:pathLst>
                <a:path w="4370872" h="2993432">
                  <a:moveTo>
                    <a:pt x="0" y="0"/>
                  </a:moveTo>
                  <a:lnTo>
                    <a:pt x="4370872" y="0"/>
                  </a:lnTo>
                  <a:lnTo>
                    <a:pt x="4370872" y="2993432"/>
                  </a:lnTo>
                  <a:close/>
                </a:path>
              </a:pathLst>
            </a:custGeom>
            <a:solidFill>
              <a:schemeClr val="accent1">
                <a:lumMod val="40000"/>
                <a:lumOff val="60000"/>
              </a:schemeClr>
            </a:solidFill>
            <a:ln>
              <a:noFill/>
            </a:ln>
          </p:spPr>
          <p:txBody>
            <a:bodyPr vert="horz" wrap="square" lIns="91440" tIns="45720" rIns="91440" bIns="45720" numCol="1" anchor="t" anchorCtr="0" compatLnSpc="1">
              <a:noAutofit/>
            </a:bodyPr>
            <a:lstStyle/>
            <a:p>
              <a:endParaRPr lang="zh-CN" altLang="en-US"/>
            </a:p>
          </p:txBody>
        </p:sp>
        <p:sp>
          <p:nvSpPr>
            <p:cNvPr id="12" name="任意多边形: 形状 11"/>
            <p:cNvSpPr/>
            <p:nvPr userDrawn="1"/>
          </p:nvSpPr>
          <p:spPr bwMode="auto">
            <a:xfrm>
              <a:off x="7889890" y="1"/>
              <a:ext cx="4302111" cy="2419939"/>
            </a:xfrm>
            <a:custGeom>
              <a:avLst/>
              <a:gdLst>
                <a:gd name="connsiteX0" fmla="*/ 0 w 4302111"/>
                <a:gd name="connsiteY0" fmla="*/ 0 h 2419939"/>
                <a:gd name="connsiteX1" fmla="*/ 4302111 w 4302111"/>
                <a:gd name="connsiteY1" fmla="*/ 0 h 2419939"/>
                <a:gd name="connsiteX2" fmla="*/ 4302111 w 4302111"/>
                <a:gd name="connsiteY2" fmla="*/ 2419939 h 2419939"/>
              </a:gdLst>
              <a:ahLst/>
              <a:cxnLst>
                <a:cxn ang="0">
                  <a:pos x="connsiteX0" y="connsiteY0"/>
                </a:cxn>
                <a:cxn ang="0">
                  <a:pos x="connsiteX1" y="connsiteY1"/>
                </a:cxn>
                <a:cxn ang="0">
                  <a:pos x="connsiteX2" y="connsiteY2"/>
                </a:cxn>
              </a:cxnLst>
              <a:rect l="l" t="t" r="r" b="b"/>
              <a:pathLst>
                <a:path w="4302111" h="2419939">
                  <a:moveTo>
                    <a:pt x="0" y="0"/>
                  </a:moveTo>
                  <a:lnTo>
                    <a:pt x="4302111" y="0"/>
                  </a:lnTo>
                  <a:lnTo>
                    <a:pt x="4302111" y="2419939"/>
                  </a:lnTo>
                  <a:close/>
                </a:path>
              </a:pathLst>
            </a:custGeom>
            <a:solidFill>
              <a:schemeClr val="accent1">
                <a:lumMod val="75000"/>
              </a:schemeClr>
            </a:solidFill>
            <a:ln>
              <a:noFill/>
            </a:ln>
          </p:spPr>
          <p:txBody>
            <a:bodyPr vert="horz" wrap="square" lIns="91440" tIns="45720" rIns="91440" bIns="45720" numCol="1" anchor="t" anchorCtr="0" compatLnSpc="1">
              <a:noAutofit/>
            </a:bodyPr>
            <a:lstStyle/>
            <a:p>
              <a:endParaRPr lang="zh-CN" altLang="en-US"/>
            </a:p>
          </p:txBody>
        </p:sp>
        <p:sp>
          <p:nvSpPr>
            <p:cNvPr id="13" name="任意多边形: 形状 12"/>
            <p:cNvSpPr/>
            <p:nvPr userDrawn="1"/>
          </p:nvSpPr>
          <p:spPr bwMode="auto">
            <a:xfrm>
              <a:off x="7985356" y="0"/>
              <a:ext cx="4206644" cy="1895952"/>
            </a:xfrm>
            <a:custGeom>
              <a:avLst/>
              <a:gdLst>
                <a:gd name="connsiteX0" fmla="*/ 0 w 4206644"/>
                <a:gd name="connsiteY0" fmla="*/ 0 h 1895952"/>
                <a:gd name="connsiteX1" fmla="*/ 4206644 w 4206644"/>
                <a:gd name="connsiteY1" fmla="*/ 0 h 1895952"/>
                <a:gd name="connsiteX2" fmla="*/ 4206644 w 4206644"/>
                <a:gd name="connsiteY2" fmla="*/ 1895952 h 1895952"/>
              </a:gdLst>
              <a:ahLst/>
              <a:cxnLst>
                <a:cxn ang="0">
                  <a:pos x="connsiteX0" y="connsiteY0"/>
                </a:cxn>
                <a:cxn ang="0">
                  <a:pos x="connsiteX1" y="connsiteY1"/>
                </a:cxn>
                <a:cxn ang="0">
                  <a:pos x="connsiteX2" y="connsiteY2"/>
                </a:cxn>
              </a:cxnLst>
              <a:rect l="l" t="t" r="r" b="b"/>
              <a:pathLst>
                <a:path w="4206644" h="1895952">
                  <a:moveTo>
                    <a:pt x="0" y="0"/>
                  </a:moveTo>
                  <a:lnTo>
                    <a:pt x="4206644" y="0"/>
                  </a:lnTo>
                  <a:lnTo>
                    <a:pt x="4206644" y="1895952"/>
                  </a:lnTo>
                  <a:close/>
                </a:path>
              </a:pathLst>
            </a:custGeom>
            <a:solidFill>
              <a:schemeClr val="accent1">
                <a:alpha val="71000"/>
              </a:schemeClr>
            </a:solidFill>
            <a:ln>
              <a:noFill/>
            </a:ln>
          </p:spPr>
          <p:txBody>
            <a:bodyPr vert="horz" wrap="square" lIns="91440" tIns="45720" rIns="91440" bIns="45720" numCol="1" anchor="t" anchorCtr="0" compatLnSpc="1">
              <a:noAutofit/>
            </a:bodyPr>
            <a:lstStyle/>
            <a:p>
              <a:endParaRPr lang="zh-CN" alt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en-US" altLang="zh-CN" dirty="0"/>
              <a:t>Click to edit Master title style</a:t>
            </a:r>
            <a:endParaRPr lang="zh-CN" altLang="en-US" dirty="0"/>
          </a:p>
        </p:txBody>
      </p:sp>
      <p:sp>
        <p:nvSpPr>
          <p:cNvPr id="3" name="内容占位符 2"/>
          <p:cNvSpPr>
            <a:spLocks noGrp="1"/>
          </p:cNvSpPr>
          <p:nvPr>
            <p:ph idx="1"/>
          </p:nvPr>
        </p:nvSpPr>
        <p:spPr/>
        <p:txBody>
          <a:bodyPr/>
          <a:lstStyle>
            <a:lvl1pPr>
              <a:defRPr/>
            </a:lvl1pPr>
            <a:lvl2pPr>
              <a:defRPr/>
            </a:lvl2pPr>
            <a:lvl3pPr>
              <a:defRPr/>
            </a:lvl3pPr>
            <a:lvl4pPr>
              <a:defRPr/>
            </a:lvl4pPr>
            <a:lvl5pPr>
              <a:defRPr/>
            </a:lvl5pPr>
          </a:lstStyle>
          <a:p>
            <a:pPr lvl="0"/>
            <a:r>
              <a:rPr lang="en-US" altLang="zh-CN" dirty="0"/>
              <a:t>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
        <p:nvSpPr>
          <p:cNvPr id="4" name="日期占位符 3"/>
          <p:cNvSpPr>
            <a:spLocks noGrp="1"/>
          </p:cNvSpPr>
          <p:nvPr>
            <p:ph type="dt" sz="half" idx="10"/>
          </p:nvPr>
        </p:nvSpPr>
        <p:spPr/>
        <p:txBody>
          <a:bodyPr/>
          <a:lstStyle/>
          <a:p>
            <a:fld id="{6489D9C7-5DC6-4263-87FF-7C99F6FB63C3}"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www.islide.cc</a:t>
            </a:r>
            <a:endParaRPr lang="zh-CN" altLang="en-US" dirty="0"/>
          </a:p>
        </p:txBody>
      </p:sp>
      <p:sp>
        <p:nvSpPr>
          <p:cNvPr id="6" name="灯片编号占位符 5"/>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en-US" altLang="zh-CN" dirty="0"/>
              <a:t>Click to edit Master title style</a:t>
            </a:r>
            <a:endParaRPr lang="zh-CN" altLang="en-US" dirty="0"/>
          </a:p>
        </p:txBody>
      </p:sp>
      <p:sp>
        <p:nvSpPr>
          <p:cNvPr id="3" name="日期占位符 2"/>
          <p:cNvSpPr>
            <a:spLocks noGrp="1"/>
          </p:cNvSpPr>
          <p:nvPr>
            <p:ph type="dt" sz="half" idx="10"/>
          </p:nvPr>
        </p:nvSpPr>
        <p:spPr/>
        <p:txBody>
          <a:bodyPr/>
          <a:lstStyle/>
          <a:p>
            <a:fld id="{6489D9C7-5DC6-4263-87FF-7C99F6FB63C3}" type="datetime1">
              <a:rPr lang="zh-CN" altLang="en-US" smtClean="0"/>
            </a:fld>
            <a:endParaRPr lang="zh-CN" altLang="en-US"/>
          </a:p>
        </p:txBody>
      </p:sp>
      <p:sp>
        <p:nvSpPr>
          <p:cNvPr id="4" name="页脚占位符 3"/>
          <p:cNvSpPr>
            <a:spLocks noGrp="1"/>
          </p:cNvSpPr>
          <p:nvPr>
            <p:ph type="ftr" sz="quarter" idx="11"/>
          </p:nvPr>
        </p:nvSpPr>
        <p:spPr/>
        <p:txBody>
          <a:bodyPr/>
          <a:lstStyle/>
          <a:p>
            <a:r>
              <a:rPr lang="en-US" altLang="zh-CN"/>
              <a:t>www.islide.cc</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3" name="标题 1"/>
          <p:cNvSpPr>
            <a:spLocks noGrp="1"/>
          </p:cNvSpPr>
          <p:nvPr userDrawn="1">
            <p:ph type="ctrTitle" hasCustomPrompt="1"/>
          </p:nvPr>
        </p:nvSpPr>
        <p:spPr>
          <a:xfrm>
            <a:off x="6299591" y="1502142"/>
            <a:ext cx="3985202" cy="865136"/>
          </a:xfrm>
        </p:spPr>
        <p:txBody>
          <a:bodyPr anchor="ctr">
            <a:normAutofit/>
          </a:bodyPr>
          <a:lstStyle>
            <a:lvl1pPr marL="0" indent="0" algn="r">
              <a:buFont typeface="Arial" panose="020B0604020202020204" pitchFamily="34" charset="0"/>
              <a:buNone/>
              <a:defRPr sz="3200">
                <a:solidFill>
                  <a:schemeClr val="tx1"/>
                </a:solidFill>
              </a:defRPr>
            </a:lvl1pPr>
          </a:lstStyle>
          <a:p>
            <a:r>
              <a:rPr lang="en-US" altLang="zh-CN" dirty="0"/>
              <a:t>Conclusion</a:t>
            </a:r>
            <a:endParaRPr lang="zh-CN" altLang="en-US" dirty="0"/>
          </a:p>
        </p:txBody>
      </p:sp>
      <p:sp>
        <p:nvSpPr>
          <p:cNvPr id="14" name="文本占位符 62"/>
          <p:cNvSpPr>
            <a:spLocks noGrp="1"/>
          </p:cNvSpPr>
          <p:nvPr userDrawn="1">
            <p:ph type="body" sz="quarter" idx="17" hasCustomPrompt="1"/>
          </p:nvPr>
        </p:nvSpPr>
        <p:spPr>
          <a:xfrm>
            <a:off x="6299591" y="2930176"/>
            <a:ext cx="3985202" cy="310871"/>
          </a:xfrm>
        </p:spPr>
        <p:txBody>
          <a:bodyPr vert="horz" lIns="91440" tIns="45720" rIns="91440" bIns="45720" rtlCol="0">
            <a:normAutofit/>
          </a:bodyPr>
          <a:lstStyle>
            <a:lvl1pPr marL="0" indent="0" algn="r">
              <a:buNone/>
              <a:defRPr lang="zh-CN" altLang="en-US" sz="16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dirty="0"/>
              <a:t>Signature</a:t>
            </a:r>
            <a:endParaRPr lang="en-US" altLang="zh-CN" dirty="0"/>
          </a:p>
        </p:txBody>
      </p:sp>
      <p:sp>
        <p:nvSpPr>
          <p:cNvPr id="15" name="文本占位符 62"/>
          <p:cNvSpPr>
            <a:spLocks noGrp="1"/>
          </p:cNvSpPr>
          <p:nvPr userDrawn="1">
            <p:ph type="body" sz="quarter" idx="18" hasCustomPrompt="1"/>
          </p:nvPr>
        </p:nvSpPr>
        <p:spPr>
          <a:xfrm>
            <a:off x="6299591" y="3245810"/>
            <a:ext cx="3985202" cy="310871"/>
          </a:xfrm>
        </p:spPr>
        <p:txBody>
          <a:bodyPr vert="horz" lIns="91440" tIns="45720" rIns="91440" bIns="45720" rtlCol="0">
            <a:normAutofit/>
          </a:bodyPr>
          <a:lstStyle>
            <a:lvl1pPr marL="0" indent="0" algn="r">
              <a:buNone/>
              <a:defRPr lang="zh-CN" altLang="en-US" sz="16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dirty="0"/>
              <a:t>Date</a:t>
            </a:r>
            <a:endParaRPr lang="zh-CN" altLang="en-US" dirty="0"/>
          </a:p>
        </p:txBody>
      </p:sp>
      <p:grpSp>
        <p:nvGrpSpPr>
          <p:cNvPr id="16" name="组合 15"/>
          <p:cNvGrpSpPr/>
          <p:nvPr userDrawn="1"/>
        </p:nvGrpSpPr>
        <p:grpSpPr>
          <a:xfrm flipH="1">
            <a:off x="-1" y="0"/>
            <a:ext cx="3893927" cy="3087232"/>
            <a:chOff x="7778078" y="0"/>
            <a:chExt cx="4413923" cy="3499502"/>
          </a:xfrm>
        </p:grpSpPr>
        <p:sp>
          <p:nvSpPr>
            <p:cNvPr id="17" name="任意多边形: 形状 16"/>
            <p:cNvSpPr/>
            <p:nvPr userDrawn="1"/>
          </p:nvSpPr>
          <p:spPr bwMode="auto">
            <a:xfrm>
              <a:off x="7778078" y="1"/>
              <a:ext cx="4413922" cy="3499501"/>
            </a:xfrm>
            <a:custGeom>
              <a:avLst/>
              <a:gdLst>
                <a:gd name="connsiteX0" fmla="*/ 0 w 4413922"/>
                <a:gd name="connsiteY0" fmla="*/ 0 h 3499501"/>
                <a:gd name="connsiteX1" fmla="*/ 4413922 w 4413922"/>
                <a:gd name="connsiteY1" fmla="*/ 0 h 3499501"/>
                <a:gd name="connsiteX2" fmla="*/ 4413922 w 4413922"/>
                <a:gd name="connsiteY2" fmla="*/ 3499501 h 3499501"/>
              </a:gdLst>
              <a:ahLst/>
              <a:cxnLst>
                <a:cxn ang="0">
                  <a:pos x="connsiteX0" y="connsiteY0"/>
                </a:cxn>
                <a:cxn ang="0">
                  <a:pos x="connsiteX1" y="connsiteY1"/>
                </a:cxn>
                <a:cxn ang="0">
                  <a:pos x="connsiteX2" y="connsiteY2"/>
                </a:cxn>
              </a:cxnLst>
              <a:rect l="l" t="t" r="r" b="b"/>
              <a:pathLst>
                <a:path w="4413922" h="3499501">
                  <a:moveTo>
                    <a:pt x="0" y="0"/>
                  </a:moveTo>
                  <a:lnTo>
                    <a:pt x="4413922" y="0"/>
                  </a:lnTo>
                  <a:lnTo>
                    <a:pt x="4413922" y="3499501"/>
                  </a:lnTo>
                  <a:close/>
                </a:path>
              </a:pathLst>
            </a:custGeom>
            <a:solidFill>
              <a:schemeClr val="accent1">
                <a:lumMod val="40000"/>
                <a:lumOff val="60000"/>
                <a:alpha val="34000"/>
              </a:schemeClr>
            </a:solidFill>
            <a:ln>
              <a:noFill/>
            </a:ln>
          </p:spPr>
          <p:txBody>
            <a:bodyPr vert="horz" wrap="square" lIns="91440" tIns="45720" rIns="91440" bIns="45720" numCol="1" anchor="t" anchorCtr="0" compatLnSpc="1">
              <a:noAutofit/>
            </a:bodyPr>
            <a:lstStyle/>
            <a:p>
              <a:endParaRPr lang="zh-CN" altLang="en-US"/>
            </a:p>
          </p:txBody>
        </p:sp>
        <p:sp>
          <p:nvSpPr>
            <p:cNvPr id="19" name="任意多边形: 形状 18"/>
            <p:cNvSpPr/>
            <p:nvPr userDrawn="1"/>
          </p:nvSpPr>
          <p:spPr bwMode="auto">
            <a:xfrm>
              <a:off x="7821128" y="0"/>
              <a:ext cx="4370872" cy="2993432"/>
            </a:xfrm>
            <a:custGeom>
              <a:avLst/>
              <a:gdLst>
                <a:gd name="connsiteX0" fmla="*/ 0 w 4370872"/>
                <a:gd name="connsiteY0" fmla="*/ 0 h 2993432"/>
                <a:gd name="connsiteX1" fmla="*/ 4370872 w 4370872"/>
                <a:gd name="connsiteY1" fmla="*/ 0 h 2993432"/>
                <a:gd name="connsiteX2" fmla="*/ 4370872 w 4370872"/>
                <a:gd name="connsiteY2" fmla="*/ 2993432 h 2993432"/>
              </a:gdLst>
              <a:ahLst/>
              <a:cxnLst>
                <a:cxn ang="0">
                  <a:pos x="connsiteX0" y="connsiteY0"/>
                </a:cxn>
                <a:cxn ang="0">
                  <a:pos x="connsiteX1" y="connsiteY1"/>
                </a:cxn>
                <a:cxn ang="0">
                  <a:pos x="connsiteX2" y="connsiteY2"/>
                </a:cxn>
              </a:cxnLst>
              <a:rect l="l" t="t" r="r" b="b"/>
              <a:pathLst>
                <a:path w="4370872" h="2993432">
                  <a:moveTo>
                    <a:pt x="0" y="0"/>
                  </a:moveTo>
                  <a:lnTo>
                    <a:pt x="4370872" y="0"/>
                  </a:lnTo>
                  <a:lnTo>
                    <a:pt x="4370872" y="2993432"/>
                  </a:lnTo>
                  <a:close/>
                </a:path>
              </a:pathLst>
            </a:custGeom>
            <a:solidFill>
              <a:schemeClr val="accent1">
                <a:lumMod val="40000"/>
                <a:lumOff val="60000"/>
              </a:schemeClr>
            </a:solidFill>
            <a:ln>
              <a:noFill/>
            </a:ln>
          </p:spPr>
          <p:txBody>
            <a:bodyPr vert="horz" wrap="square" lIns="91440" tIns="45720" rIns="91440" bIns="45720" numCol="1" anchor="t" anchorCtr="0" compatLnSpc="1">
              <a:noAutofit/>
            </a:bodyPr>
            <a:lstStyle/>
            <a:p>
              <a:endParaRPr lang="zh-CN" altLang="en-US"/>
            </a:p>
          </p:txBody>
        </p:sp>
        <p:sp>
          <p:nvSpPr>
            <p:cNvPr id="21" name="任意多边形: 形状 20"/>
            <p:cNvSpPr/>
            <p:nvPr userDrawn="1"/>
          </p:nvSpPr>
          <p:spPr bwMode="auto">
            <a:xfrm>
              <a:off x="7889890" y="1"/>
              <a:ext cx="4302111" cy="2419939"/>
            </a:xfrm>
            <a:custGeom>
              <a:avLst/>
              <a:gdLst>
                <a:gd name="connsiteX0" fmla="*/ 0 w 4302111"/>
                <a:gd name="connsiteY0" fmla="*/ 0 h 2419939"/>
                <a:gd name="connsiteX1" fmla="*/ 4302111 w 4302111"/>
                <a:gd name="connsiteY1" fmla="*/ 0 h 2419939"/>
                <a:gd name="connsiteX2" fmla="*/ 4302111 w 4302111"/>
                <a:gd name="connsiteY2" fmla="*/ 2419939 h 2419939"/>
              </a:gdLst>
              <a:ahLst/>
              <a:cxnLst>
                <a:cxn ang="0">
                  <a:pos x="connsiteX0" y="connsiteY0"/>
                </a:cxn>
                <a:cxn ang="0">
                  <a:pos x="connsiteX1" y="connsiteY1"/>
                </a:cxn>
                <a:cxn ang="0">
                  <a:pos x="connsiteX2" y="connsiteY2"/>
                </a:cxn>
              </a:cxnLst>
              <a:rect l="l" t="t" r="r" b="b"/>
              <a:pathLst>
                <a:path w="4302111" h="2419939">
                  <a:moveTo>
                    <a:pt x="0" y="0"/>
                  </a:moveTo>
                  <a:lnTo>
                    <a:pt x="4302111" y="0"/>
                  </a:lnTo>
                  <a:lnTo>
                    <a:pt x="4302111" y="2419939"/>
                  </a:lnTo>
                  <a:close/>
                </a:path>
              </a:pathLst>
            </a:custGeom>
            <a:solidFill>
              <a:schemeClr val="accent1">
                <a:lumMod val="75000"/>
              </a:schemeClr>
            </a:solidFill>
            <a:ln>
              <a:noFill/>
            </a:ln>
          </p:spPr>
          <p:txBody>
            <a:bodyPr vert="horz" wrap="square" lIns="91440" tIns="45720" rIns="91440" bIns="45720" numCol="1" anchor="t" anchorCtr="0" compatLnSpc="1">
              <a:noAutofit/>
            </a:bodyPr>
            <a:lstStyle/>
            <a:p>
              <a:endParaRPr lang="zh-CN" altLang="en-US"/>
            </a:p>
          </p:txBody>
        </p:sp>
        <p:sp>
          <p:nvSpPr>
            <p:cNvPr id="24" name="任意多边形: 形状 23"/>
            <p:cNvSpPr/>
            <p:nvPr userDrawn="1"/>
          </p:nvSpPr>
          <p:spPr bwMode="auto">
            <a:xfrm>
              <a:off x="7985356" y="0"/>
              <a:ext cx="4206644" cy="1895952"/>
            </a:xfrm>
            <a:custGeom>
              <a:avLst/>
              <a:gdLst>
                <a:gd name="connsiteX0" fmla="*/ 0 w 4206644"/>
                <a:gd name="connsiteY0" fmla="*/ 0 h 1895952"/>
                <a:gd name="connsiteX1" fmla="*/ 4206644 w 4206644"/>
                <a:gd name="connsiteY1" fmla="*/ 0 h 1895952"/>
                <a:gd name="connsiteX2" fmla="*/ 4206644 w 4206644"/>
                <a:gd name="connsiteY2" fmla="*/ 1895952 h 1895952"/>
              </a:gdLst>
              <a:ahLst/>
              <a:cxnLst>
                <a:cxn ang="0">
                  <a:pos x="connsiteX0" y="connsiteY0"/>
                </a:cxn>
                <a:cxn ang="0">
                  <a:pos x="connsiteX1" y="connsiteY1"/>
                </a:cxn>
                <a:cxn ang="0">
                  <a:pos x="connsiteX2" y="connsiteY2"/>
                </a:cxn>
              </a:cxnLst>
              <a:rect l="l" t="t" r="r" b="b"/>
              <a:pathLst>
                <a:path w="4206644" h="1895952">
                  <a:moveTo>
                    <a:pt x="0" y="0"/>
                  </a:moveTo>
                  <a:lnTo>
                    <a:pt x="4206644" y="0"/>
                  </a:lnTo>
                  <a:lnTo>
                    <a:pt x="4206644" y="1895952"/>
                  </a:lnTo>
                  <a:close/>
                </a:path>
              </a:pathLst>
            </a:custGeom>
            <a:solidFill>
              <a:schemeClr val="accent1">
                <a:alpha val="71000"/>
              </a:schemeClr>
            </a:solidFill>
            <a:ln>
              <a:noFill/>
            </a:ln>
          </p:spPr>
          <p:txBody>
            <a:bodyPr vert="horz" wrap="square" lIns="91440" tIns="45720" rIns="91440" bIns="45720" numCol="1" anchor="t" anchorCtr="0" compatLnSpc="1">
              <a:noAutofit/>
            </a:bodyPr>
            <a:lstStyle/>
            <a:p>
              <a:endParaRPr lang="zh-CN" altLang="en-US"/>
            </a:p>
          </p:txBody>
        </p:sp>
      </p:grpSp>
      <p:grpSp>
        <p:nvGrpSpPr>
          <p:cNvPr id="25" name="组合 24"/>
          <p:cNvGrpSpPr/>
          <p:nvPr userDrawn="1"/>
        </p:nvGrpSpPr>
        <p:grpSpPr>
          <a:xfrm flipH="1">
            <a:off x="-12089" y="4291344"/>
            <a:ext cx="12204089" cy="2566658"/>
            <a:chOff x="-12088" y="4794394"/>
            <a:chExt cx="12204089" cy="2063607"/>
          </a:xfrm>
        </p:grpSpPr>
        <p:sp>
          <p:nvSpPr>
            <p:cNvPr id="26" name="任意多边形: 形状 25"/>
            <p:cNvSpPr/>
            <p:nvPr userDrawn="1"/>
          </p:nvSpPr>
          <p:spPr bwMode="auto">
            <a:xfrm>
              <a:off x="554582" y="4942832"/>
              <a:ext cx="11637418" cy="1915168"/>
            </a:xfrm>
            <a:custGeom>
              <a:avLst/>
              <a:gdLst>
                <a:gd name="connsiteX0" fmla="*/ 8612903 w 11637418"/>
                <a:gd name="connsiteY0" fmla="*/ 0 h 1915168"/>
                <a:gd name="connsiteX1" fmla="*/ 11637418 w 11637418"/>
                <a:gd name="connsiteY1" fmla="*/ 1581105 h 1915168"/>
                <a:gd name="connsiteX2" fmla="*/ 11637418 w 11637418"/>
                <a:gd name="connsiteY2" fmla="*/ 1915168 h 1915168"/>
                <a:gd name="connsiteX3" fmla="*/ 0 w 11637418"/>
                <a:gd name="connsiteY3" fmla="*/ 1915168 h 1915168"/>
              </a:gdLst>
              <a:ahLst/>
              <a:cxnLst>
                <a:cxn ang="0">
                  <a:pos x="connsiteX0" y="connsiteY0"/>
                </a:cxn>
                <a:cxn ang="0">
                  <a:pos x="connsiteX1" y="connsiteY1"/>
                </a:cxn>
                <a:cxn ang="0">
                  <a:pos x="connsiteX2" y="connsiteY2"/>
                </a:cxn>
                <a:cxn ang="0">
                  <a:pos x="connsiteX3" y="connsiteY3"/>
                </a:cxn>
              </a:cxnLst>
              <a:rect l="l" t="t" r="r" b="b"/>
              <a:pathLst>
                <a:path w="11637418" h="1915168">
                  <a:moveTo>
                    <a:pt x="8612903" y="0"/>
                  </a:moveTo>
                  <a:lnTo>
                    <a:pt x="11637418" y="1581105"/>
                  </a:lnTo>
                  <a:lnTo>
                    <a:pt x="11637418" y="1915168"/>
                  </a:lnTo>
                  <a:lnTo>
                    <a:pt x="0" y="1915168"/>
                  </a:lnTo>
                  <a:close/>
                </a:path>
              </a:pathLst>
            </a:custGeom>
            <a:solidFill>
              <a:schemeClr val="accent1">
                <a:lumMod val="40000"/>
                <a:lumOff val="60000"/>
                <a:alpha val="34000"/>
              </a:schemeClr>
            </a:solidFill>
            <a:ln>
              <a:noFill/>
            </a:ln>
          </p:spPr>
          <p:txBody>
            <a:bodyPr vert="horz" wrap="square" lIns="91440" tIns="45720" rIns="91440" bIns="45720" numCol="1" anchor="t" anchorCtr="0" compatLnSpc="1">
              <a:noAutofit/>
            </a:bodyPr>
            <a:lstStyle/>
            <a:p>
              <a:pPr lvl="0"/>
              <a:endParaRPr lang="zh-CN" altLang="en-US"/>
            </a:p>
          </p:txBody>
        </p:sp>
        <p:sp>
          <p:nvSpPr>
            <p:cNvPr id="27" name="任意多边形: 形状 26"/>
            <p:cNvSpPr/>
            <p:nvPr userDrawn="1"/>
          </p:nvSpPr>
          <p:spPr bwMode="auto">
            <a:xfrm>
              <a:off x="335096" y="4794394"/>
              <a:ext cx="11856904" cy="2063607"/>
            </a:xfrm>
            <a:custGeom>
              <a:avLst/>
              <a:gdLst>
                <a:gd name="connsiteX0" fmla="*/ 7128328 w 11856904"/>
                <a:gd name="connsiteY0" fmla="*/ 0 h 2063607"/>
                <a:gd name="connsiteX1" fmla="*/ 11856904 w 11856904"/>
                <a:gd name="connsiteY1" fmla="*/ 1832069 h 2063607"/>
                <a:gd name="connsiteX2" fmla="*/ 11856904 w 11856904"/>
                <a:gd name="connsiteY2" fmla="*/ 2063607 h 2063607"/>
                <a:gd name="connsiteX3" fmla="*/ 0 w 11856904"/>
                <a:gd name="connsiteY3" fmla="*/ 2063607 h 2063607"/>
              </a:gdLst>
              <a:ahLst/>
              <a:cxnLst>
                <a:cxn ang="0">
                  <a:pos x="connsiteX0" y="connsiteY0"/>
                </a:cxn>
                <a:cxn ang="0">
                  <a:pos x="connsiteX1" y="connsiteY1"/>
                </a:cxn>
                <a:cxn ang="0">
                  <a:pos x="connsiteX2" y="connsiteY2"/>
                </a:cxn>
                <a:cxn ang="0">
                  <a:pos x="connsiteX3" y="connsiteY3"/>
                </a:cxn>
              </a:cxnLst>
              <a:rect l="l" t="t" r="r" b="b"/>
              <a:pathLst>
                <a:path w="11856904" h="2063607">
                  <a:moveTo>
                    <a:pt x="7128328" y="0"/>
                  </a:moveTo>
                  <a:lnTo>
                    <a:pt x="11856904" y="1832069"/>
                  </a:lnTo>
                  <a:lnTo>
                    <a:pt x="11856904" y="2063607"/>
                  </a:lnTo>
                  <a:lnTo>
                    <a:pt x="0" y="2063607"/>
                  </a:lnTo>
                  <a:close/>
                </a:path>
              </a:pathLst>
            </a:custGeom>
            <a:solidFill>
              <a:schemeClr val="accent2">
                <a:lumMod val="60000"/>
                <a:lumOff val="40000"/>
                <a:alpha val="47000"/>
              </a:schemeClr>
            </a:solidFill>
            <a:ln>
              <a:noFill/>
            </a:ln>
          </p:spPr>
          <p:txBody>
            <a:bodyPr vert="horz" wrap="square" lIns="91440" tIns="45720" rIns="91440" bIns="45720" numCol="1" anchor="t" anchorCtr="0" compatLnSpc="1">
              <a:noAutofit/>
            </a:bodyPr>
            <a:lstStyle/>
            <a:p>
              <a:endParaRPr lang="zh-CN" altLang="en-US"/>
            </a:p>
          </p:txBody>
        </p:sp>
        <p:sp>
          <p:nvSpPr>
            <p:cNvPr id="28" name="任意多边形: 形状 27"/>
            <p:cNvSpPr/>
            <p:nvPr userDrawn="1"/>
          </p:nvSpPr>
          <p:spPr bwMode="auto">
            <a:xfrm>
              <a:off x="139320" y="4847832"/>
              <a:ext cx="12052680" cy="2010168"/>
            </a:xfrm>
            <a:custGeom>
              <a:avLst/>
              <a:gdLst>
                <a:gd name="connsiteX0" fmla="*/ 5073792 w 12052680"/>
                <a:gd name="connsiteY0" fmla="*/ 0 h 2010168"/>
                <a:gd name="connsiteX1" fmla="*/ 12052680 w 12052680"/>
                <a:gd name="connsiteY1" fmla="*/ 1869250 h 2010168"/>
                <a:gd name="connsiteX2" fmla="*/ 12052680 w 12052680"/>
                <a:gd name="connsiteY2" fmla="*/ 2010168 h 2010168"/>
                <a:gd name="connsiteX3" fmla="*/ 0 w 12052680"/>
                <a:gd name="connsiteY3" fmla="*/ 2010168 h 2010168"/>
              </a:gdLst>
              <a:ahLst/>
              <a:cxnLst>
                <a:cxn ang="0">
                  <a:pos x="connsiteX0" y="connsiteY0"/>
                </a:cxn>
                <a:cxn ang="0">
                  <a:pos x="connsiteX1" y="connsiteY1"/>
                </a:cxn>
                <a:cxn ang="0">
                  <a:pos x="connsiteX2" y="connsiteY2"/>
                </a:cxn>
                <a:cxn ang="0">
                  <a:pos x="connsiteX3" y="connsiteY3"/>
                </a:cxn>
              </a:cxnLst>
              <a:rect l="l" t="t" r="r" b="b"/>
              <a:pathLst>
                <a:path w="12052680" h="2010168">
                  <a:moveTo>
                    <a:pt x="5073792" y="0"/>
                  </a:moveTo>
                  <a:lnTo>
                    <a:pt x="12052680" y="1869250"/>
                  </a:lnTo>
                  <a:lnTo>
                    <a:pt x="12052680" y="2010168"/>
                  </a:lnTo>
                  <a:lnTo>
                    <a:pt x="0" y="2010168"/>
                  </a:lnTo>
                  <a:close/>
                </a:path>
              </a:pathLst>
            </a:custGeom>
            <a:solidFill>
              <a:schemeClr val="accent2"/>
            </a:solidFill>
            <a:ln>
              <a:noFill/>
            </a:ln>
          </p:spPr>
          <p:txBody>
            <a:bodyPr vert="horz" wrap="square" lIns="91440" tIns="45720" rIns="91440" bIns="45720" numCol="1" anchor="t" anchorCtr="0" compatLnSpc="1">
              <a:noAutofit/>
            </a:bodyPr>
            <a:lstStyle/>
            <a:p>
              <a:pPr lvl="0"/>
              <a:endParaRPr lang="zh-CN" altLang="en-US"/>
            </a:p>
          </p:txBody>
        </p:sp>
        <p:sp>
          <p:nvSpPr>
            <p:cNvPr id="29" name="任意多边形: 形状 28"/>
            <p:cNvSpPr/>
            <p:nvPr userDrawn="1"/>
          </p:nvSpPr>
          <p:spPr bwMode="auto">
            <a:xfrm>
              <a:off x="-12088" y="5275332"/>
              <a:ext cx="12204089" cy="1582668"/>
            </a:xfrm>
            <a:custGeom>
              <a:avLst/>
              <a:gdLst>
                <a:gd name="connsiteX0" fmla="*/ 2856139 w 12204089"/>
                <a:gd name="connsiteY0" fmla="*/ 0 h 1582668"/>
                <a:gd name="connsiteX1" fmla="*/ 12204089 w 12204089"/>
                <a:gd name="connsiteY1" fmla="*/ 1521377 h 1582668"/>
                <a:gd name="connsiteX2" fmla="*/ 12204089 w 12204089"/>
                <a:gd name="connsiteY2" fmla="*/ 1582668 h 1582668"/>
                <a:gd name="connsiteX3" fmla="*/ 0 w 12204089"/>
                <a:gd name="connsiteY3" fmla="*/ 1582668 h 1582668"/>
              </a:gdLst>
              <a:ahLst/>
              <a:cxnLst>
                <a:cxn ang="0">
                  <a:pos x="connsiteX0" y="connsiteY0"/>
                </a:cxn>
                <a:cxn ang="0">
                  <a:pos x="connsiteX1" y="connsiteY1"/>
                </a:cxn>
                <a:cxn ang="0">
                  <a:pos x="connsiteX2" y="connsiteY2"/>
                </a:cxn>
                <a:cxn ang="0">
                  <a:pos x="connsiteX3" y="connsiteY3"/>
                </a:cxn>
              </a:cxnLst>
              <a:rect l="l" t="t" r="r" b="b"/>
              <a:pathLst>
                <a:path w="12204089" h="1582668">
                  <a:moveTo>
                    <a:pt x="2856139" y="0"/>
                  </a:moveTo>
                  <a:lnTo>
                    <a:pt x="12204089" y="1521377"/>
                  </a:lnTo>
                  <a:lnTo>
                    <a:pt x="12204089" y="1582668"/>
                  </a:lnTo>
                  <a:lnTo>
                    <a:pt x="0" y="1582668"/>
                  </a:lnTo>
                  <a:close/>
                </a:path>
              </a:pathLst>
            </a:custGeom>
            <a:solidFill>
              <a:schemeClr val="accent1">
                <a:alpha val="71000"/>
              </a:schemeClr>
            </a:solidFill>
            <a:ln>
              <a:noFill/>
            </a:ln>
          </p:spPr>
          <p:txBody>
            <a:bodyPr vert="horz" wrap="square" lIns="91440" tIns="45720" rIns="91440" bIns="45720" numCol="1" anchor="t" anchorCtr="0" compatLnSpc="1">
              <a:noAutofit/>
            </a:bodyPr>
            <a:lstStyle/>
            <a:p>
              <a:pPr lvl="0"/>
              <a:endParaRPr lang="zh-CN" altLang="en-US" dirty="0"/>
            </a:p>
          </p:txBody>
        </p:sp>
      </p:gr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关注服务号">
    <p:spTree>
      <p:nvGrpSpPr>
        <p:cNvPr id="1" name=""/>
        <p:cNvGrpSpPr/>
        <p:nvPr/>
      </p:nvGrpSpPr>
      <p:grpSpPr>
        <a:xfrm>
          <a:off x="0" y="0"/>
          <a:ext cx="0" cy="0"/>
          <a:chOff x="0" y="0"/>
          <a:chExt cx="0" cy="0"/>
        </a:xfrm>
      </p:grpSpPr>
      <p:sp>
        <p:nvSpPr>
          <p:cNvPr id="3" name="矩形 2"/>
          <p:cNvSpPr/>
          <p:nvPr userDrawn="1"/>
        </p:nvSpPr>
        <p:spPr>
          <a:xfrm>
            <a:off x="0" y="3429000"/>
            <a:ext cx="12192000" cy="3429000"/>
          </a:xfrm>
          <a:prstGeom prst="rect">
            <a:avLst/>
          </a:prstGeom>
          <a:solidFill>
            <a:srgbClr val="E73A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pitchFamily="34" charset="-122"/>
              <a:ea typeface="微软雅黑" panose="020B0503020204020204" pitchFamily="34" charset="-122"/>
            </a:endParaRPr>
          </a:p>
        </p:txBody>
      </p:sp>
      <p:sp>
        <p:nvSpPr>
          <p:cNvPr id="4" name="矩形: 圆角 3"/>
          <p:cNvSpPr/>
          <p:nvPr userDrawn="1"/>
        </p:nvSpPr>
        <p:spPr>
          <a:xfrm>
            <a:off x="1079465" y="1527629"/>
            <a:ext cx="3802742" cy="3802742"/>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pitchFamily="34" charset="-122"/>
              <a:ea typeface="微软雅黑" panose="020B0503020204020204" pitchFamily="34" charset="-122"/>
            </a:endParaRPr>
          </a:p>
        </p:txBody>
      </p:sp>
      <p:pic>
        <p:nvPicPr>
          <p:cNvPr id="5" name="图片 4" descr="图片包含 纵横字谜, 文字&#10;&#10;已生成极高可信度的说明"/>
          <p:cNvPicPr>
            <a:picLocks noChangeAspect="1"/>
          </p:cNvPicPr>
          <p:nvPr userDrawn="1"/>
        </p:nvPicPr>
        <p:blipFill>
          <a:blip r:embed="rId2">
            <a:clrChange>
              <a:clrFrom>
                <a:srgbClr val="FFFFFF"/>
              </a:clrFrom>
              <a:clrTo>
                <a:srgbClr val="FFFFFF">
                  <a:alpha val="0"/>
                </a:srgbClr>
              </a:clrTo>
            </a:clrChange>
          </a:blip>
          <a:stretch>
            <a:fillRect/>
          </a:stretch>
        </p:blipFill>
        <p:spPr>
          <a:xfrm>
            <a:off x="1308065" y="1756229"/>
            <a:ext cx="3345542" cy="3345542"/>
          </a:xfrm>
          <a:prstGeom prst="rect">
            <a:avLst/>
          </a:prstGeom>
        </p:spPr>
      </p:pic>
      <p:sp>
        <p:nvSpPr>
          <p:cNvPr id="6" name="文本框 5"/>
          <p:cNvSpPr txBox="1"/>
          <p:nvPr userDrawn="1"/>
        </p:nvSpPr>
        <p:spPr>
          <a:xfrm>
            <a:off x="5239657" y="1566506"/>
            <a:ext cx="6013185" cy="3549241"/>
          </a:xfrm>
          <a:prstGeom prst="rect">
            <a:avLst/>
          </a:prstGeom>
          <a:noFill/>
        </p:spPr>
        <p:txBody>
          <a:bodyPr wrap="none" rtlCol="0">
            <a:spAutoFit/>
          </a:bodyPr>
          <a:lstStyle/>
          <a:p>
            <a:pPr>
              <a:lnSpc>
                <a:spcPct val="150000"/>
              </a:lnSpc>
              <a:spcBef>
                <a:spcPts val="600"/>
              </a:spcBef>
            </a:pPr>
            <a:r>
              <a:rPr lang="zh-CN" altLang="en-US" sz="3600" b="1" ker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办公模板更新</a:t>
            </a:r>
            <a:endParaRPr lang="en-US" altLang="zh-CN" sz="3600" b="1" ker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a:lnSpc>
                <a:spcPct val="150000"/>
              </a:lnSpc>
              <a:spcBef>
                <a:spcPts val="600"/>
              </a:spcBef>
            </a:pPr>
            <a:r>
              <a:rPr lang="zh-CN" altLang="en-US" sz="3600" b="1" ker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微软</a:t>
            </a:r>
            <a:endParaRPr lang="en-US" altLang="zh-CN" sz="3600" b="1" ker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a:lnSpc>
                <a:spcPct val="150000"/>
              </a:lnSpc>
              <a:spcBef>
                <a:spcPts val="600"/>
              </a:spcBef>
            </a:pPr>
            <a:r>
              <a:rPr lang="zh-CN" altLang="en-US" sz="36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微信扫码关注</a:t>
            </a:r>
            <a:endParaRPr lang="en-US" altLang="zh-CN" sz="36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a:lnSpc>
                <a:spcPct val="150000"/>
              </a:lnSpc>
              <a:spcBef>
                <a:spcPts val="600"/>
              </a:spcBef>
            </a:pPr>
            <a:r>
              <a:rPr lang="zh-CN" altLang="en-US" sz="36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 微软</a:t>
            </a:r>
            <a:r>
              <a:rPr lang="en-US" altLang="zh-CN" sz="36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Office</a:t>
            </a:r>
            <a:r>
              <a:rPr lang="zh-CN" altLang="en-US" sz="36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文档 」服务号</a:t>
            </a:r>
            <a:endParaRPr lang="en-US" altLang="zh-CN" sz="36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pic>
        <p:nvPicPr>
          <p:cNvPr id="7" name="图片 6">
            <a:hlinkClick r:id="rId3"/>
          </p:cNvPr>
          <p:cNvPicPr>
            <a:picLocks noChangeAspect="1"/>
          </p:cNvPicPr>
          <p:nvPr userDrawn="1"/>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239657" y="6345797"/>
            <a:ext cx="1712686" cy="22607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使用小程序">
    <p:spTree>
      <p:nvGrpSpPr>
        <p:cNvPr id="1" name=""/>
        <p:cNvGrpSpPr/>
        <p:nvPr/>
      </p:nvGrpSpPr>
      <p:grpSpPr>
        <a:xfrm>
          <a:off x="0" y="0"/>
          <a:ext cx="0" cy="0"/>
          <a:chOff x="0" y="0"/>
          <a:chExt cx="0" cy="0"/>
        </a:xfrm>
      </p:grpSpPr>
      <p:cxnSp>
        <p:nvCxnSpPr>
          <p:cNvPr id="4" name="直接连接符 3"/>
          <p:cNvCxnSpPr/>
          <p:nvPr userDrawn="1"/>
        </p:nvCxnSpPr>
        <p:spPr>
          <a:xfrm>
            <a:off x="0" y="657288"/>
            <a:ext cx="12192000" cy="0"/>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3091547"/>
            <a:ext cx="12192000" cy="3766453"/>
          </a:xfrm>
          <a:prstGeom prst="rect">
            <a:avLst/>
          </a:prstGeom>
          <a:solidFill>
            <a:srgbClr val="E73A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pitchFamily="34" charset="-122"/>
              <a:ea typeface="微软雅黑" panose="020B0503020204020204" pitchFamily="34" charset="-122"/>
            </a:endParaRPr>
          </a:p>
        </p:txBody>
      </p:sp>
      <p:sp>
        <p:nvSpPr>
          <p:cNvPr id="8" name="矩形: 圆角 7"/>
          <p:cNvSpPr/>
          <p:nvPr userDrawn="1"/>
        </p:nvSpPr>
        <p:spPr>
          <a:xfrm>
            <a:off x="621395"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pitchFamily="34" charset="-122"/>
              <a:ea typeface="微软雅黑" panose="020B0503020204020204" pitchFamily="34" charset="-122"/>
            </a:endParaRPr>
          </a:p>
        </p:txBody>
      </p:sp>
      <p:sp>
        <p:nvSpPr>
          <p:cNvPr id="9" name="矩形: 圆角 8"/>
          <p:cNvSpPr/>
          <p:nvPr userDrawn="1"/>
        </p:nvSpPr>
        <p:spPr>
          <a:xfrm>
            <a:off x="4374467"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pitchFamily="34" charset="-122"/>
              <a:ea typeface="微软雅黑" panose="020B0503020204020204" pitchFamily="34" charset="-122"/>
            </a:endParaRPr>
          </a:p>
        </p:txBody>
      </p:sp>
      <p:sp>
        <p:nvSpPr>
          <p:cNvPr id="10" name="文本框 9"/>
          <p:cNvSpPr txBox="1"/>
          <p:nvPr userDrawn="1"/>
        </p:nvSpPr>
        <p:spPr>
          <a:xfrm>
            <a:off x="1656327" y="286129"/>
            <a:ext cx="8879354" cy="670120"/>
          </a:xfrm>
          <a:prstGeom prst="rect">
            <a:avLst/>
          </a:prstGeom>
          <a:solidFill>
            <a:schemeClr val="bg1"/>
          </a:solidFill>
        </p:spPr>
        <p:txBody>
          <a:bodyPr wrap="none" rtlCol="0">
            <a:spAutoFit/>
          </a:bodyPr>
          <a:lstStyle/>
          <a:p>
            <a:pPr algn="ctr">
              <a:lnSpc>
                <a:spcPct val="130000"/>
              </a:lnSpc>
              <a:spcBef>
                <a:spcPts val="600"/>
              </a:spcBef>
            </a:pPr>
            <a:r>
              <a:rPr lang="zh-CN" altLang="en-US" sz="3200" b="1" kern="0">
                <a:latin typeface="微软雅黑" panose="020B0503020204020204" pitchFamily="34" charset="-122"/>
                <a:ea typeface="微软雅黑" panose="020B0503020204020204" pitchFamily="34" charset="-122"/>
                <a:cs typeface="+mn-ea"/>
                <a:sym typeface="+mn-lt"/>
              </a:rPr>
              <a:t> 微信扫描小程序码，使用微软移动办公黑科技 </a:t>
            </a:r>
            <a:endParaRPr lang="en-US" sz="3200" b="1" kern="0" dirty="0">
              <a:latin typeface="微软雅黑" panose="020B0503020204020204" pitchFamily="34" charset="-122"/>
              <a:ea typeface="微软雅黑" panose="020B0503020204020204" pitchFamily="34" charset="-122"/>
              <a:cs typeface="+mn-ea"/>
              <a:sym typeface="+mn-lt"/>
            </a:endParaRPr>
          </a:p>
        </p:txBody>
      </p:sp>
      <p:cxnSp>
        <p:nvCxnSpPr>
          <p:cNvPr id="11" name="直接连接符 10"/>
          <p:cNvCxnSpPr/>
          <p:nvPr userDrawn="1"/>
        </p:nvCxnSpPr>
        <p:spPr>
          <a:xfrm flipH="1">
            <a:off x="1523089" y="369629"/>
            <a:ext cx="266460" cy="622048"/>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flipH="1">
            <a:off x="10402443" y="369629"/>
            <a:ext cx="266460" cy="622048"/>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sp>
        <p:nvSpPr>
          <p:cNvPr id="13" name="矩形: 圆角 12"/>
          <p:cNvSpPr/>
          <p:nvPr userDrawn="1"/>
        </p:nvSpPr>
        <p:spPr>
          <a:xfrm>
            <a:off x="8159751"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pitchFamily="34" charset="-122"/>
              <a:ea typeface="微软雅黑" panose="020B0503020204020204" pitchFamily="34" charset="-122"/>
            </a:endParaRPr>
          </a:p>
        </p:txBody>
      </p:sp>
      <p:pic>
        <p:nvPicPr>
          <p:cNvPr id="14" name="图片 13"/>
          <p:cNvPicPr>
            <a:picLocks noChangeAspect="1"/>
          </p:cNvPicPr>
          <p:nvPr userDrawn="1"/>
        </p:nvPicPr>
        <p:blipFill rotWithShape="1">
          <a:blip r:embed="rId2">
            <a:clrChange>
              <a:clrFrom>
                <a:srgbClr val="FFFFFF"/>
              </a:clrFrom>
              <a:clrTo>
                <a:srgbClr val="FFFFFF">
                  <a:alpha val="0"/>
                </a:srgbClr>
              </a:clrTo>
            </a:clrChange>
          </a:blip>
          <a:srcRect l="13924" t="13924" r="13924" b="13924"/>
          <a:stretch>
            <a:fillRect/>
          </a:stretch>
        </p:blipFill>
        <p:spPr>
          <a:xfrm>
            <a:off x="4705130" y="1673081"/>
            <a:ext cx="2743200" cy="2743200"/>
          </a:xfrm>
          <a:prstGeom prst="rect">
            <a:avLst/>
          </a:prstGeom>
        </p:spPr>
      </p:pic>
      <p:pic>
        <p:nvPicPr>
          <p:cNvPr id="15" name="图片 14"/>
          <p:cNvPicPr>
            <a:picLocks noChangeAspect="1"/>
          </p:cNvPicPr>
          <p:nvPr userDrawn="1"/>
        </p:nvPicPr>
        <p:blipFill rotWithShape="1">
          <a:blip r:embed="rId3">
            <a:clrChange>
              <a:clrFrom>
                <a:srgbClr val="FFFFFF"/>
              </a:clrFrom>
              <a:clrTo>
                <a:srgbClr val="FFFFFF">
                  <a:alpha val="0"/>
                </a:srgbClr>
              </a:clrTo>
            </a:clrChange>
          </a:blip>
          <a:srcRect l="14439" r="14439"/>
          <a:stretch>
            <a:fillRect/>
          </a:stretch>
        </p:blipFill>
        <p:spPr>
          <a:xfrm>
            <a:off x="8519321" y="1673081"/>
            <a:ext cx="2743200" cy="2743200"/>
          </a:xfrm>
          <a:prstGeom prst="rect">
            <a:avLst/>
          </a:prstGeom>
        </p:spPr>
      </p:pic>
      <p:pic>
        <p:nvPicPr>
          <p:cNvPr id="16" name="图片 15"/>
          <p:cNvPicPr>
            <a:picLocks noChangeAspect="1"/>
          </p:cNvPicPr>
          <p:nvPr userDrawn="1"/>
        </p:nvPicPr>
        <p:blipFill>
          <a:blip r:embed="rId4">
            <a:clrChange>
              <a:clrFrom>
                <a:srgbClr val="FFFFFF"/>
              </a:clrFrom>
              <a:clrTo>
                <a:srgbClr val="FFFFFF">
                  <a:alpha val="0"/>
                </a:srgbClr>
              </a:clrTo>
            </a:clrChange>
          </a:blip>
          <a:stretch>
            <a:fillRect/>
          </a:stretch>
        </p:blipFill>
        <p:spPr>
          <a:xfrm>
            <a:off x="980965" y="1673081"/>
            <a:ext cx="2743200" cy="2743200"/>
          </a:xfrm>
          <a:prstGeom prst="rect">
            <a:avLst/>
          </a:prstGeom>
        </p:spPr>
      </p:pic>
      <p:sp>
        <p:nvSpPr>
          <p:cNvPr id="17" name="文本框 16"/>
          <p:cNvSpPr txBox="1"/>
          <p:nvPr userDrawn="1"/>
        </p:nvSpPr>
        <p:spPr>
          <a:xfrm>
            <a:off x="987447" y="5138740"/>
            <a:ext cx="2730235" cy="907428"/>
          </a:xfrm>
          <a:prstGeom prst="rect">
            <a:avLst/>
          </a:prstGeom>
          <a:noFill/>
        </p:spPr>
        <p:txBody>
          <a:bodyPr wrap="none" rtlCol="0">
            <a:spAutoFit/>
          </a:bodyPr>
          <a:lstStyle/>
          <a:p>
            <a:pPr algn="ctr">
              <a:lnSpc>
                <a:spcPct val="140000"/>
              </a:lnSpc>
            </a:pPr>
            <a:r>
              <a:rPr lang="zh-CN" altLang="en-US"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在微信访问</a:t>
            </a:r>
            <a:r>
              <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OneDrive</a:t>
            </a:r>
            <a:endPar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algn="ctr">
              <a:lnSpc>
                <a:spcPct val="140000"/>
              </a:lnSpc>
            </a:pPr>
            <a:r>
              <a:rPr lang="zh-CN" altLang="en-US"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 「 微软</a:t>
            </a:r>
            <a:r>
              <a:rPr lang="en-US" altLang="zh-CN"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Office</a:t>
            </a:r>
            <a:r>
              <a:rPr lang="zh-CN" altLang="en-US"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文档 」</a:t>
            </a:r>
            <a:endParaRPr lang="en-US" sz="2000" b="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8" name="文本框 17"/>
          <p:cNvSpPr txBox="1"/>
          <p:nvPr userDrawn="1"/>
        </p:nvSpPr>
        <p:spPr>
          <a:xfrm>
            <a:off x="4862328" y="5138740"/>
            <a:ext cx="2467342" cy="907428"/>
          </a:xfrm>
          <a:prstGeom prst="rect">
            <a:avLst/>
          </a:prstGeom>
          <a:noFill/>
        </p:spPr>
        <p:txBody>
          <a:bodyPr wrap="none" rtlCol="0">
            <a:spAutoFit/>
          </a:bodyPr>
          <a:lstStyle/>
          <a:p>
            <a:pPr algn="ctr">
              <a:lnSpc>
                <a:spcPct val="140000"/>
              </a:lnSpc>
            </a:pPr>
            <a:r>
              <a:rPr lang="zh-CN" altLang="en-US"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让你的文档会说话</a:t>
            </a:r>
            <a:endPar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algn="ctr">
              <a:lnSpc>
                <a:spcPct val="140000"/>
              </a:lnSpc>
            </a:pPr>
            <a:r>
              <a:rPr lang="zh-CN" altLang="en-US"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 「 微软听听文档 」</a:t>
            </a:r>
            <a:endParaRPr lang="zh-CN" altLang="en-US"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19" name="文本框 18"/>
          <p:cNvSpPr txBox="1"/>
          <p:nvPr userDrawn="1"/>
        </p:nvSpPr>
        <p:spPr>
          <a:xfrm>
            <a:off x="8644425" y="5138740"/>
            <a:ext cx="2492990" cy="907428"/>
          </a:xfrm>
          <a:prstGeom prst="rect">
            <a:avLst/>
          </a:prstGeom>
          <a:noFill/>
        </p:spPr>
        <p:txBody>
          <a:bodyPr wrap="none" rtlCol="0">
            <a:spAutoFit/>
          </a:bodyPr>
          <a:lstStyle/>
          <a:p>
            <a:pPr algn="ctr">
              <a:lnSpc>
                <a:spcPct val="140000"/>
              </a:lnSpc>
            </a:pPr>
            <a:r>
              <a:rPr lang="zh-CN" altLang="en-US"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你的文档创作小助手</a:t>
            </a:r>
            <a:endPar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algn="ctr">
              <a:lnSpc>
                <a:spcPct val="140000"/>
              </a:lnSpc>
            </a:pPr>
            <a:r>
              <a:rPr lang="zh-CN" altLang="en-US"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 「 微软小蜜 」</a:t>
            </a:r>
            <a:endParaRPr lang="zh-CN" altLang="en-US"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cxnSp>
        <p:nvCxnSpPr>
          <p:cNvPr id="20" name="直接连接符 19"/>
          <p:cNvCxnSpPr/>
          <p:nvPr userDrawn="1"/>
        </p:nvCxnSpPr>
        <p:spPr>
          <a:xfrm>
            <a:off x="4198035" y="5330650"/>
            <a:ext cx="0" cy="65314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7976215" y="5330650"/>
            <a:ext cx="0" cy="65314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2" name="图片 21">
            <a:hlinkClick r:id="rId5"/>
          </p:cNvPr>
          <p:cNvPicPr>
            <a:picLocks noChangeAspect="1"/>
          </p:cNvPicPr>
          <p:nvPr userDrawn="1"/>
        </p:nvPicPr>
        <p:blipFill>
          <a:blip r:embed="rId6" cstate="print">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239657" y="6345797"/>
            <a:ext cx="1712686" cy="2260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altLang="zh-CN" dirty="0"/>
              <a:t>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
        <p:nvSpPr>
          <p:cNvPr id="4"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fld>
            <a:endParaRPr lang="zh-CN" altLang="en-US"/>
          </a:p>
        </p:txBody>
      </p:sp>
      <p:sp>
        <p:nvSpPr>
          <p:cNvPr id="5"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a:t>www.islide.cc</a:t>
            </a:r>
            <a:endParaRPr lang="zh-CN" altLang="en-US" dirty="0"/>
          </a:p>
        </p:txBody>
      </p:sp>
      <p:sp>
        <p:nvSpPr>
          <p:cNvPr id="6"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3.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chart" Target="../charts/chart3.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页脚占位符 2"/>
          <p:cNvSpPr>
            <a:spLocks noGrp="1"/>
          </p:cNvSpPr>
          <p:nvPr>
            <p:ph type="ftr" sz="quarter" idx="11"/>
          </p:nvPr>
        </p:nvSpPr>
        <p:spPr/>
        <p:txBody>
          <a:bodyPr/>
          <a:p>
            <a:r>
              <a:rPr lang="en-US" altLang="zh-CN"/>
              <a:t>www.islide.cc</a:t>
            </a:r>
            <a:endParaRPr lang="zh-CN" altLang="en-US" dirty="0"/>
          </a:p>
        </p:txBody>
      </p:sp>
      <p:sp>
        <p:nvSpPr>
          <p:cNvPr id="4" name="灯片编号占位符 3"/>
          <p:cNvSpPr>
            <a:spLocks noGrp="1"/>
          </p:cNvSpPr>
          <p:nvPr>
            <p:ph type="sldNum" sz="quarter" idx="12"/>
          </p:nvPr>
        </p:nvSpPr>
        <p:spPr/>
        <p:txBody>
          <a:bodyPr/>
          <a:p>
            <a:fld id="{5DD3DB80-B894-403A-B48E-6FDC1A72010E}" type="slidenum">
              <a:rPr lang="zh-CN" altLang="en-US" smtClean="0"/>
            </a:fld>
            <a:endParaRPr lang="zh-CN" altLang="en-US"/>
          </a:p>
        </p:txBody>
      </p:sp>
      <p:pic>
        <p:nvPicPr>
          <p:cNvPr id="5" name="图片 4" descr="图片包含 屏幕截图&#10;&#10;已生成极高可信度的说明"/>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文本框 10"/>
          <p:cNvSpPr txBox="1"/>
          <p:nvPr/>
        </p:nvSpPr>
        <p:spPr>
          <a:xfrm>
            <a:off x="670694" y="2388759"/>
            <a:ext cx="10850880" cy="922020"/>
          </a:xfrm>
          <a:prstGeom prst="rect">
            <a:avLst/>
          </a:prstGeom>
          <a:noFill/>
        </p:spPr>
        <p:txBody>
          <a:bodyPr wrap="none" rtlCol="0">
            <a:spAutoFit/>
          </a:bodyPr>
          <a:lstStyle/>
          <a:p>
            <a:pPr algn="ctr"/>
            <a:r>
              <a:rPr lang="zh-CN" altLang="en-US" sz="5400" b="1" spc="600" dirty="0">
                <a:solidFill>
                  <a:schemeClr val="bg1"/>
                </a:solidFill>
                <a:latin typeface="微软雅黑" panose="020B0503020204020204" pitchFamily="34" charset="-122"/>
                <a:ea typeface="微软雅黑" panose="020B0503020204020204" pitchFamily="34" charset="-122"/>
              </a:rPr>
              <a:t>中国电车企业出海情况研究报告</a:t>
            </a:r>
            <a:endParaRPr lang="zh-CN" altLang="en-US" sz="5400" b="1" spc="600" dirty="0">
              <a:solidFill>
                <a:schemeClr val="bg1"/>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2688771" y="3219121"/>
            <a:ext cx="6814457" cy="419757"/>
            <a:chOff x="2690949" y="3219121"/>
            <a:chExt cx="6814457" cy="419757"/>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7883" y="3219121"/>
              <a:ext cx="420589" cy="419757"/>
            </a:xfrm>
            <a:prstGeom prst="rect">
              <a:avLst/>
            </a:prstGeom>
          </p:spPr>
        </p:pic>
        <p:cxnSp>
          <p:nvCxnSpPr>
            <p:cNvPr id="7" name="直接连接符 6"/>
            <p:cNvCxnSpPr/>
            <p:nvPr/>
          </p:nvCxnSpPr>
          <p:spPr>
            <a:xfrm>
              <a:off x="2690949" y="3428999"/>
              <a:ext cx="3082834"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572" y="3428999"/>
              <a:ext cx="3082834"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8" name="文本框 7"/>
          <p:cNvSpPr txBox="1"/>
          <p:nvPr/>
        </p:nvSpPr>
        <p:spPr>
          <a:xfrm>
            <a:off x="4105275" y="4183930"/>
            <a:ext cx="4064000" cy="521970"/>
          </a:xfrm>
          <a:prstGeom prst="rect">
            <a:avLst/>
          </a:prstGeom>
        </p:spPr>
        <p:txBody>
          <a:bodyPr>
            <a:spAutoFit/>
            <a:extLst>
              <a:ext uri="{4A0BC546-FE56-4ADE-93B0-CB8AF2F6F144}">
                <wpsdc:textFrameExt xmlns:wpsdc="http://www.wps.cn/officeDocument/2022/drawingmlCustomData" type="text"/>
              </a:ext>
            </a:extLst>
          </a:bodyPr>
          <a:p>
            <a:pPr algn="ctr"/>
            <a:r>
              <a:rPr lang="en-US" altLang="zh-CN" sz="2800">
                <a:solidFill>
                  <a:schemeClr val="bg1"/>
                </a:solidFill>
                <a:latin typeface="Arial" panose="020B0604020202020204" pitchFamily="34" charset="0"/>
                <a:ea typeface="微软雅黑" panose="020B0503020204020204" pitchFamily="34" charset="-122"/>
              </a:rPr>
              <a:t>24</a:t>
            </a:r>
            <a:r>
              <a:rPr lang="zh-CN" altLang="en-US" sz="2800">
                <a:solidFill>
                  <a:schemeClr val="bg1"/>
                </a:solidFill>
                <a:latin typeface="Arial" panose="020B0604020202020204" pitchFamily="34" charset="0"/>
                <a:ea typeface="微软雅黑" panose="020B0503020204020204" pitchFamily="34" charset="-122"/>
              </a:rPr>
              <a:t>经济郭予曈</a:t>
            </a:r>
            <a:endParaRPr lang="zh-CN" altLang="en-US" sz="2800">
              <a:solidFill>
                <a:schemeClr val="bg1"/>
              </a:solidFill>
              <a:latin typeface="Arial" panose="020B0604020202020204" pitchFamily="34" charset="0"/>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ṡḻîdê"/>
          <p:cNvSpPr/>
          <p:nvPr/>
        </p:nvSpPr>
        <p:spPr>
          <a:xfrm>
            <a:off x="0" y="0"/>
            <a:ext cx="12192000" cy="4159045"/>
          </a:xfrm>
          <a:prstGeom prst="rect">
            <a:avLst/>
          </a:prstGeom>
          <a:solidFill>
            <a:srgbClr val="0E419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pic>
        <p:nvPicPr>
          <p:cNvPr id="17" name="图片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482448" cy="1479808"/>
          </a:xfrm>
          <a:prstGeom prst="rect">
            <a:avLst/>
          </a:prstGeom>
        </p:spPr>
      </p:pic>
      <p:sp>
        <p:nvSpPr>
          <p:cNvPr id="7" name="iš1íḍè"/>
          <p:cNvSpPr/>
          <p:nvPr/>
        </p:nvSpPr>
        <p:spPr>
          <a:xfrm>
            <a:off x="291588" y="1028700"/>
            <a:ext cx="11608824" cy="5615448"/>
          </a:xfrm>
          <a:prstGeom prst="rect">
            <a:avLst/>
          </a:prstGeom>
          <a:solidFill>
            <a:schemeClr val="bg1"/>
          </a:solidFill>
          <a:ln>
            <a:noFill/>
          </a:ln>
          <a:effectLst>
            <a:outerShdw blurRad="139700" dist="63500" dir="3900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ea typeface="微软雅黑" panose="020B0503020204020204" pitchFamily="34" charset="-122"/>
              <a:cs typeface="+mn-cs"/>
            </a:endParaRPr>
          </a:p>
        </p:txBody>
      </p:sp>
      <p:sp>
        <p:nvSpPr>
          <p:cNvPr id="2" name="标题 1"/>
          <p:cNvSpPr>
            <a:spLocks noGrp="1"/>
          </p:cNvSpPr>
          <p:nvPr>
            <p:ph type="title"/>
          </p:nvPr>
        </p:nvSpPr>
        <p:spPr>
          <a:xfrm>
            <a:off x="669924" y="248192"/>
            <a:ext cx="10850563" cy="584563"/>
          </a:xfrm>
        </p:spPr>
        <p:txBody>
          <a:bodyPr/>
          <a:lstStyle/>
          <a:p>
            <a:r>
              <a:rPr lang="zh-CN" altLang="en-US" dirty="0">
                <a:solidFill>
                  <a:schemeClr val="bg1"/>
                </a:solidFill>
              </a:rPr>
              <a:t>中国电车海外市场</a:t>
            </a:r>
            <a:r>
              <a:rPr lang="zh-CN" altLang="en-US" dirty="0">
                <a:solidFill>
                  <a:schemeClr val="bg1"/>
                </a:solidFill>
              </a:rPr>
              <a:t>宏观概况</a:t>
            </a:r>
            <a:endParaRPr lang="zh-CN" altLang="en-US" dirty="0">
              <a:solidFill>
                <a:schemeClr val="bg1"/>
              </a:solidFill>
            </a:endParaRPr>
          </a:p>
        </p:txBody>
      </p:sp>
      <p:sp>
        <p:nvSpPr>
          <p:cNvPr id="3" name="文本框 2"/>
          <p:cNvSpPr txBox="1"/>
          <p:nvPr/>
        </p:nvSpPr>
        <p:spPr>
          <a:xfrm>
            <a:off x="539115" y="1176760"/>
            <a:ext cx="6096000" cy="460375"/>
          </a:xfrm>
          <a:prstGeom prst="rect">
            <a:avLst/>
          </a:prstGeom>
        </p:spPr>
        <p:txBody>
          <a:bodyPr>
            <a:spAutoFit/>
            <a:extLst>
              <a:ext uri="{4A0BC546-FE56-4ADE-93B0-CB8AF2F6F144}">
                <wpsdc:textFrameExt xmlns:wpsdc="http://www.wps.cn/officeDocument/2022/drawingmlCustomData" type="sub-title"/>
              </a:ext>
            </a:extLst>
          </a:bodyPr>
          <a:p>
            <a:pPr algn="l"/>
            <a:r>
              <a:rPr lang="en-US" altLang="zh-CN" sz="2400" spc="200">
                <a:latin typeface="Arial" panose="020B0604020202020204" pitchFamily="34" charset="0"/>
                <a:ea typeface="微软雅黑" panose="020B0503020204020204" pitchFamily="34" charset="-122"/>
              </a:rPr>
              <a:t>1</a:t>
            </a:r>
            <a:r>
              <a:rPr lang="zh-CN" altLang="en-US" sz="2400" spc="200">
                <a:latin typeface="Arial" panose="020B0604020202020204" pitchFamily="34" charset="0"/>
                <a:ea typeface="微软雅黑" panose="020B0503020204020204" pitchFamily="34" charset="-122"/>
              </a:rPr>
              <a:t>、出口总量大，位于全球</a:t>
            </a:r>
            <a:r>
              <a:rPr lang="zh-CN" altLang="en-US" sz="2400" spc="200">
                <a:latin typeface="Arial" panose="020B0604020202020204" pitchFamily="34" charset="0"/>
                <a:ea typeface="微软雅黑" panose="020B0503020204020204" pitchFamily="34" charset="-122"/>
              </a:rPr>
              <a:t>第一</a:t>
            </a:r>
            <a:endParaRPr lang="zh-CN" altLang="en-US" sz="2400" spc="200">
              <a:latin typeface="Arial" panose="020B0604020202020204" pitchFamily="34" charset="0"/>
              <a:ea typeface="微软雅黑" panose="020B0503020204020204" pitchFamily="34" charset="-122"/>
            </a:endParaRPr>
          </a:p>
        </p:txBody>
      </p:sp>
      <p:pic>
        <p:nvPicPr>
          <p:cNvPr id="4" name="图片 3" descr="屏幕截图 2025-10-27 150430"/>
          <p:cNvPicPr>
            <a:picLocks noChangeAspect="1"/>
          </p:cNvPicPr>
          <p:nvPr/>
        </p:nvPicPr>
        <p:blipFill>
          <a:blip r:embed="rId2"/>
          <a:stretch>
            <a:fillRect/>
          </a:stretch>
        </p:blipFill>
        <p:spPr>
          <a:xfrm>
            <a:off x="1482725" y="2367280"/>
            <a:ext cx="8733790" cy="4276725"/>
          </a:xfrm>
          <a:prstGeom prst="rect">
            <a:avLst/>
          </a:prstGeom>
        </p:spPr>
      </p:pic>
      <p:sp>
        <p:nvSpPr>
          <p:cNvPr id="5" name="文本框 4"/>
          <p:cNvSpPr txBox="1"/>
          <p:nvPr/>
        </p:nvSpPr>
        <p:spPr>
          <a:xfrm>
            <a:off x="1189355" y="1799590"/>
            <a:ext cx="9319895" cy="755650"/>
          </a:xfrm>
          <a:prstGeom prst="rect">
            <a:avLst/>
          </a:prstGeom>
        </p:spPr>
        <p:txBody>
          <a:bodyPr wrap="square">
            <a:spAutoFit/>
            <a:extLst>
              <a:ext uri="{4A0BC546-FE56-4ADE-93B0-CB8AF2F6F144}">
                <wpsdc:textFrameExt xmlns:wpsdc="http://www.wps.cn/officeDocument/2022/drawingmlCustomData" type="text"/>
              </a:ext>
            </a:extLst>
          </a:bodyPr>
          <a:p>
            <a:pPr algn="l">
              <a:lnSpc>
                <a:spcPct val="120000"/>
              </a:lnSpc>
            </a:pPr>
            <a:r>
              <a:rPr lang="en-US" altLang="zh-CN" sz="1800">
                <a:latin typeface="Arial" panose="020B0604020202020204" pitchFamily="34" charset="0"/>
                <a:ea typeface="微软雅黑" panose="020B0503020204020204" pitchFamily="34" charset="-122"/>
              </a:rPr>
              <a:t>2024</a:t>
            </a:r>
            <a:r>
              <a:rPr lang="zh-CN" altLang="en-US" sz="1800">
                <a:latin typeface="Arial" panose="020B0604020202020204" pitchFamily="34" charset="0"/>
                <a:ea typeface="微软雅黑" panose="020B0503020204020204" pitchFamily="34" charset="-122"/>
              </a:rPr>
              <a:t>年中国电动汽车出口量达到</a:t>
            </a:r>
            <a:r>
              <a:rPr lang="en-US" altLang="zh-CN" sz="1800">
                <a:latin typeface="Arial" panose="020B0604020202020204" pitchFamily="34" charset="0"/>
                <a:ea typeface="微软雅黑" panose="020B0503020204020204" pitchFamily="34" charset="-122"/>
              </a:rPr>
              <a:t>200.53</a:t>
            </a:r>
            <a:r>
              <a:rPr lang="zh-CN" altLang="en-US" sz="1800">
                <a:latin typeface="Arial" panose="020B0604020202020204" pitchFamily="34" charset="0"/>
                <a:ea typeface="微软雅黑" panose="020B0503020204020204" pitchFamily="34" charset="-122"/>
              </a:rPr>
              <a:t>万辆，全年出口电动汽车同比增长</a:t>
            </a:r>
            <a:r>
              <a:rPr lang="en-US" altLang="zh-CN" sz="1800">
                <a:latin typeface="Arial" panose="020B0604020202020204" pitchFamily="34" charset="0"/>
                <a:ea typeface="微软雅黑" panose="020B0503020204020204" pitchFamily="34" charset="-122"/>
              </a:rPr>
              <a:t>13.1%</a:t>
            </a:r>
            <a:r>
              <a:rPr lang="zh-CN" altLang="en-US" sz="1800">
                <a:latin typeface="Arial" panose="020B0604020202020204" pitchFamily="34" charset="0"/>
                <a:ea typeface="微软雅黑" panose="020B0503020204020204" pitchFamily="34" charset="-122"/>
              </a:rPr>
              <a:t>，蝉联全球第一。</a:t>
            </a:r>
            <a:endParaRPr lang="zh-CN" altLang="en-US" sz="1800">
              <a:latin typeface="Arial" panose="020B0604020202020204" pitchFamily="34" charset="0"/>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ṡḻîdê"/>
          <p:cNvSpPr/>
          <p:nvPr/>
        </p:nvSpPr>
        <p:spPr>
          <a:xfrm>
            <a:off x="0" y="0"/>
            <a:ext cx="12192000" cy="4159045"/>
          </a:xfrm>
          <a:prstGeom prst="rect">
            <a:avLst/>
          </a:prstGeom>
          <a:solidFill>
            <a:srgbClr val="0E419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82448" cy="1479808"/>
          </a:xfrm>
          <a:prstGeom prst="rect">
            <a:avLst/>
          </a:prstGeom>
        </p:spPr>
      </p:pic>
      <p:sp>
        <p:nvSpPr>
          <p:cNvPr id="7" name="iš1íḍè"/>
          <p:cNvSpPr/>
          <p:nvPr/>
        </p:nvSpPr>
        <p:spPr>
          <a:xfrm>
            <a:off x="291588" y="1028700"/>
            <a:ext cx="11608824" cy="5615448"/>
          </a:xfrm>
          <a:prstGeom prst="rect">
            <a:avLst/>
          </a:prstGeom>
          <a:solidFill>
            <a:schemeClr val="bg1"/>
          </a:solidFill>
          <a:ln>
            <a:noFill/>
          </a:ln>
          <a:effectLst>
            <a:outerShdw blurRad="139700" dist="63500" dir="3900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ea typeface="微软雅黑" panose="020B0503020204020204" pitchFamily="34" charset="-122"/>
              <a:cs typeface="+mn-cs"/>
            </a:endParaRPr>
          </a:p>
        </p:txBody>
      </p:sp>
      <p:sp>
        <p:nvSpPr>
          <p:cNvPr id="2" name="标题 1"/>
          <p:cNvSpPr>
            <a:spLocks noGrp="1"/>
          </p:cNvSpPr>
          <p:nvPr>
            <p:ph type="title"/>
          </p:nvPr>
        </p:nvSpPr>
        <p:spPr>
          <a:xfrm>
            <a:off x="669924" y="248192"/>
            <a:ext cx="10850563" cy="584563"/>
          </a:xfrm>
        </p:spPr>
        <p:txBody>
          <a:bodyPr/>
          <a:lstStyle/>
          <a:p>
            <a:r>
              <a:rPr lang="zh-CN" altLang="en-US" dirty="0">
                <a:solidFill>
                  <a:schemeClr val="bg1"/>
                </a:solidFill>
              </a:rPr>
              <a:t>中国电车海外市场</a:t>
            </a:r>
            <a:r>
              <a:rPr lang="zh-CN" altLang="en-US" dirty="0">
                <a:solidFill>
                  <a:schemeClr val="bg1"/>
                </a:solidFill>
              </a:rPr>
              <a:t>宏观概况</a:t>
            </a:r>
            <a:endParaRPr lang="zh-CN" altLang="en-US" dirty="0">
              <a:solidFill>
                <a:schemeClr val="bg1"/>
              </a:solidFill>
            </a:endParaRPr>
          </a:p>
        </p:txBody>
      </p:sp>
      <p:sp>
        <p:nvSpPr>
          <p:cNvPr id="3" name="文本框 2"/>
          <p:cNvSpPr txBox="1"/>
          <p:nvPr/>
        </p:nvSpPr>
        <p:spPr>
          <a:xfrm>
            <a:off x="539115" y="1176760"/>
            <a:ext cx="6096000" cy="460375"/>
          </a:xfrm>
          <a:prstGeom prst="rect">
            <a:avLst/>
          </a:prstGeom>
        </p:spPr>
        <p:txBody>
          <a:bodyPr>
            <a:spAutoFit/>
            <a:extLst>
              <a:ext uri="{4A0BC546-FE56-4ADE-93B0-CB8AF2F6F144}">
                <wpsdc:textFrameExt xmlns:wpsdc="http://www.wps.cn/officeDocument/2022/drawingmlCustomData" type="sub-title"/>
              </a:ext>
            </a:extLst>
          </a:bodyPr>
          <a:p>
            <a:pPr algn="l"/>
            <a:r>
              <a:rPr lang="en-US" sz="2400" spc="200">
                <a:latin typeface="Arial" panose="020B0604020202020204" pitchFamily="34" charset="0"/>
                <a:ea typeface="微软雅黑" panose="020B0503020204020204" pitchFamily="34" charset="-122"/>
              </a:rPr>
              <a:t>2</a:t>
            </a:r>
            <a:r>
              <a:rPr lang="zh-CN" altLang="en-US" sz="2400" spc="200">
                <a:latin typeface="Arial" panose="020B0604020202020204" pitchFamily="34" charset="0"/>
                <a:ea typeface="微软雅黑" panose="020B0503020204020204" pitchFamily="34" charset="-122"/>
              </a:rPr>
              <a:t>、出口目的地</a:t>
            </a:r>
            <a:r>
              <a:rPr lang="zh-CN" altLang="en-US" sz="2400" spc="200">
                <a:latin typeface="Arial" panose="020B0604020202020204" pitchFamily="34" charset="0"/>
                <a:ea typeface="微软雅黑" panose="020B0503020204020204" pitchFamily="34" charset="-122"/>
              </a:rPr>
              <a:t>多元化</a:t>
            </a:r>
            <a:endParaRPr lang="zh-CN" altLang="en-US" sz="2400" spc="200">
              <a:latin typeface="Arial" panose="020B0604020202020204" pitchFamily="34" charset="0"/>
              <a:ea typeface="微软雅黑" panose="020B0503020204020204" pitchFamily="34" charset="-122"/>
            </a:endParaRPr>
          </a:p>
        </p:txBody>
      </p:sp>
      <p:sp>
        <p:nvSpPr>
          <p:cNvPr id="11" name="文本框 10"/>
          <p:cNvSpPr txBox="1"/>
          <p:nvPr/>
        </p:nvSpPr>
        <p:spPr>
          <a:xfrm>
            <a:off x="6153785" y="2644140"/>
            <a:ext cx="5205730" cy="1753235"/>
          </a:xfrm>
          <a:prstGeom prst="rect">
            <a:avLst/>
          </a:prstGeom>
        </p:spPr>
        <p:txBody>
          <a:bodyPr wrap="square">
            <a:spAutoFit/>
            <a:extLst>
              <a:ext uri="{4A0BC546-FE56-4ADE-93B0-CB8AF2F6F144}">
                <wpsdc:textFrameExt xmlns:wpsdc="http://www.wps.cn/officeDocument/2022/drawingmlCustomData" type="text"/>
              </a:ext>
            </a:extLst>
          </a:bodyPr>
          <a:p>
            <a:pPr algn="l">
              <a:lnSpc>
                <a:spcPct val="150000"/>
              </a:lnSpc>
            </a:pPr>
            <a:r>
              <a:rPr lang="zh-CN" altLang="en-US" sz="1800">
                <a:latin typeface="Arial" panose="020B0604020202020204" pitchFamily="34" charset="0"/>
                <a:ea typeface="微软雅黑" panose="020B0503020204020204" pitchFamily="34" charset="-122"/>
              </a:rPr>
              <a:t>中国电车出口目的地正逐渐向</a:t>
            </a:r>
            <a:r>
              <a:rPr lang="zh-CN" altLang="en-US" sz="1800">
                <a:solidFill>
                  <a:srgbClr val="FF0000"/>
                </a:solidFill>
                <a:latin typeface="Arial" panose="020B0604020202020204" pitchFamily="34" charset="0"/>
                <a:ea typeface="微软雅黑" panose="020B0503020204020204" pitchFamily="34" charset="-122"/>
              </a:rPr>
              <a:t>多元化</a:t>
            </a:r>
            <a:r>
              <a:rPr lang="zh-CN" altLang="en-US" sz="1800">
                <a:latin typeface="Arial" panose="020B0604020202020204" pitchFamily="34" charset="0"/>
                <a:ea typeface="微软雅黑" panose="020B0503020204020204" pitchFamily="34" charset="-122"/>
              </a:rPr>
              <a:t>方向转变。</a:t>
            </a:r>
            <a:endParaRPr lang="zh-CN" altLang="en-US" sz="1800">
              <a:latin typeface="Arial" panose="020B0604020202020204" pitchFamily="34" charset="0"/>
              <a:ea typeface="微软雅黑" panose="020B0503020204020204" pitchFamily="34" charset="-122"/>
            </a:endParaRPr>
          </a:p>
          <a:p>
            <a:pPr algn="l">
              <a:lnSpc>
                <a:spcPct val="150000"/>
              </a:lnSpc>
            </a:pPr>
            <a:r>
              <a:rPr lang="zh-CN" altLang="en-US" sz="1800">
                <a:latin typeface="Arial" panose="020B0604020202020204" pitchFamily="34" charset="0"/>
                <a:ea typeface="微软雅黑" panose="020B0503020204020204" pitchFamily="34" charset="-122"/>
              </a:rPr>
              <a:t>欧洲市场保持稳定增长，</a:t>
            </a:r>
            <a:r>
              <a:rPr lang="zh-CN" altLang="en-US" sz="1800">
                <a:latin typeface="Arial" panose="020B0604020202020204" pitchFamily="34" charset="0"/>
                <a:ea typeface="微软雅黑" panose="020B0503020204020204" pitchFamily="34" charset="-122"/>
              </a:rPr>
              <a:t>亚洲中东南亚的泰国、印尼，中东的阿联酋、沙特等成为增长最快的区域。与此同时，拉美市场的巴西也异军突起。</a:t>
            </a:r>
            <a:endParaRPr lang="zh-CN" altLang="en-US" sz="1800">
              <a:latin typeface="Arial" panose="020B0604020202020204" pitchFamily="34" charset="0"/>
              <a:ea typeface="微软雅黑" panose="020B0503020204020204" pitchFamily="34" charset="-122"/>
            </a:endParaRPr>
          </a:p>
        </p:txBody>
      </p:sp>
      <p:graphicFrame>
        <p:nvGraphicFramePr>
          <p:cNvPr id="9" name="图表 8" descr="7b0a202020202263686172745265734964223a20223230343638343938220a7d0a"/>
          <p:cNvGraphicFramePr/>
          <p:nvPr/>
        </p:nvGraphicFramePr>
        <p:xfrm>
          <a:off x="1059815" y="1981200"/>
          <a:ext cx="4359275" cy="3782695"/>
        </p:xfrm>
        <a:graphic>
          <a:graphicData uri="http://schemas.openxmlformats.org/drawingml/2006/chart">
            <c:chart xmlns:c="http://schemas.openxmlformats.org/drawingml/2006/chart" xmlns:r="http://schemas.openxmlformats.org/officeDocument/2006/relationships" r:id="rId1"/>
          </a:graphicData>
        </a:graphic>
      </p:graphicFrame>
      <p:sp>
        <p:nvSpPr>
          <p:cNvPr id="4" name="文本框 3"/>
          <p:cNvSpPr txBox="1"/>
          <p:nvPr/>
        </p:nvSpPr>
        <p:spPr>
          <a:xfrm>
            <a:off x="2130425" y="5965825"/>
            <a:ext cx="2218055" cy="306705"/>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400">
                <a:latin typeface="仿宋" panose="02010609060101010101" charset="-122"/>
                <a:ea typeface="仿宋" panose="02010609060101010101" charset="-122"/>
                <a:cs typeface="仿宋" panose="02010609060101010101" charset="-122"/>
              </a:rPr>
              <a:t>数据来源：中国海关总署</a:t>
            </a:r>
            <a:endParaRPr lang="zh-CN" altLang="en-US" sz="140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ṡḻîdê"/>
          <p:cNvSpPr/>
          <p:nvPr/>
        </p:nvSpPr>
        <p:spPr>
          <a:xfrm>
            <a:off x="0" y="0"/>
            <a:ext cx="12192000" cy="4159045"/>
          </a:xfrm>
          <a:prstGeom prst="rect">
            <a:avLst/>
          </a:prstGeom>
          <a:solidFill>
            <a:srgbClr val="0E419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82448" cy="1479808"/>
          </a:xfrm>
          <a:prstGeom prst="rect">
            <a:avLst/>
          </a:prstGeom>
        </p:spPr>
      </p:pic>
      <p:sp>
        <p:nvSpPr>
          <p:cNvPr id="7" name="iš1íḍè"/>
          <p:cNvSpPr/>
          <p:nvPr/>
        </p:nvSpPr>
        <p:spPr>
          <a:xfrm>
            <a:off x="291588" y="1028700"/>
            <a:ext cx="11608824" cy="5615448"/>
          </a:xfrm>
          <a:prstGeom prst="rect">
            <a:avLst/>
          </a:prstGeom>
          <a:solidFill>
            <a:schemeClr val="bg1"/>
          </a:solidFill>
          <a:ln>
            <a:noFill/>
          </a:ln>
          <a:effectLst>
            <a:outerShdw blurRad="139700" dist="63500" dir="3900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ea typeface="微软雅黑" panose="020B0503020204020204" pitchFamily="34" charset="-122"/>
              <a:cs typeface="+mn-cs"/>
            </a:endParaRPr>
          </a:p>
        </p:txBody>
      </p:sp>
      <p:sp>
        <p:nvSpPr>
          <p:cNvPr id="2" name="标题 1"/>
          <p:cNvSpPr>
            <a:spLocks noGrp="1"/>
          </p:cNvSpPr>
          <p:nvPr>
            <p:ph type="title"/>
          </p:nvPr>
        </p:nvSpPr>
        <p:spPr>
          <a:xfrm>
            <a:off x="669924" y="248192"/>
            <a:ext cx="10850563" cy="584563"/>
          </a:xfrm>
        </p:spPr>
        <p:txBody>
          <a:bodyPr/>
          <a:lstStyle/>
          <a:p>
            <a:r>
              <a:rPr lang="zh-CN" altLang="en-US" dirty="0">
                <a:solidFill>
                  <a:schemeClr val="bg1"/>
                </a:solidFill>
              </a:rPr>
              <a:t>中国电车海外市场</a:t>
            </a:r>
            <a:r>
              <a:rPr lang="zh-CN" altLang="en-US" dirty="0">
                <a:solidFill>
                  <a:schemeClr val="bg1"/>
                </a:solidFill>
              </a:rPr>
              <a:t>概况</a:t>
            </a:r>
            <a:endParaRPr lang="zh-CN" altLang="en-US" dirty="0">
              <a:solidFill>
                <a:schemeClr val="bg1"/>
              </a:solidFill>
            </a:endParaRPr>
          </a:p>
        </p:txBody>
      </p:sp>
      <p:sp>
        <p:nvSpPr>
          <p:cNvPr id="3" name="文本框 2"/>
          <p:cNvSpPr txBox="1"/>
          <p:nvPr/>
        </p:nvSpPr>
        <p:spPr>
          <a:xfrm>
            <a:off x="539115" y="1176760"/>
            <a:ext cx="6096000" cy="460375"/>
          </a:xfrm>
          <a:prstGeom prst="rect">
            <a:avLst/>
          </a:prstGeom>
        </p:spPr>
        <p:txBody>
          <a:bodyPr>
            <a:spAutoFit/>
            <a:extLst>
              <a:ext uri="{4A0BC546-FE56-4ADE-93B0-CB8AF2F6F144}">
                <wpsdc:textFrameExt xmlns:wpsdc="http://www.wps.cn/officeDocument/2022/drawingmlCustomData" type="sub-title"/>
              </a:ext>
            </a:extLst>
          </a:bodyPr>
          <a:p>
            <a:pPr algn="l"/>
            <a:r>
              <a:rPr lang="en-US" sz="2400" spc="200">
                <a:latin typeface="Arial" panose="020B0604020202020204" pitchFamily="34" charset="0"/>
                <a:ea typeface="微软雅黑" panose="020B0503020204020204" pitchFamily="34" charset="-122"/>
              </a:rPr>
              <a:t>3</a:t>
            </a:r>
            <a:r>
              <a:rPr lang="zh-CN" altLang="en-US" sz="2400" spc="200">
                <a:latin typeface="Arial" panose="020B0604020202020204" pitchFamily="34" charset="0"/>
                <a:ea typeface="微软雅黑" panose="020B0503020204020204" pitchFamily="34" charset="-122"/>
              </a:rPr>
              <a:t>、中国电车出口企业</a:t>
            </a:r>
            <a:r>
              <a:rPr lang="zh-CN" altLang="en-US" sz="2400" spc="200">
                <a:latin typeface="Arial" panose="020B0604020202020204" pitchFamily="34" charset="0"/>
                <a:ea typeface="微软雅黑" panose="020B0503020204020204" pitchFamily="34" charset="-122"/>
              </a:rPr>
              <a:t>排名</a:t>
            </a:r>
            <a:endParaRPr lang="zh-CN" altLang="en-US" sz="2400" spc="200">
              <a:latin typeface="Arial" panose="020B0604020202020204" pitchFamily="34" charset="0"/>
              <a:ea typeface="微软雅黑" panose="020B0503020204020204" pitchFamily="34" charset="-122"/>
            </a:endParaRPr>
          </a:p>
        </p:txBody>
      </p:sp>
      <p:graphicFrame>
        <p:nvGraphicFramePr>
          <p:cNvPr id="8" name="图表 7" descr="7b0a202020202263686172745265734964223a20223230343732323030220a7d0a"/>
          <p:cNvGraphicFramePr/>
          <p:nvPr/>
        </p:nvGraphicFramePr>
        <p:xfrm>
          <a:off x="2864485" y="2116455"/>
          <a:ext cx="5881370" cy="3639185"/>
        </p:xfrm>
        <a:graphic>
          <a:graphicData uri="http://schemas.openxmlformats.org/drawingml/2006/chart">
            <c:chart xmlns:c="http://schemas.openxmlformats.org/drawingml/2006/chart" xmlns:r="http://schemas.openxmlformats.org/officeDocument/2006/relationships" r:id="rId1"/>
          </a:graphicData>
        </a:graphic>
      </p:graphicFrame>
      <p:sp>
        <p:nvSpPr>
          <p:cNvPr id="4" name="文本框 3"/>
          <p:cNvSpPr txBox="1"/>
          <p:nvPr/>
        </p:nvSpPr>
        <p:spPr>
          <a:xfrm>
            <a:off x="3574415" y="5949950"/>
            <a:ext cx="4462145" cy="306705"/>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400">
                <a:latin typeface="仿宋" panose="02010609060101010101" charset="-122"/>
                <a:ea typeface="仿宋" panose="02010609060101010101" charset="-122"/>
                <a:cs typeface="仿宋" panose="02010609060101010101" charset="-122"/>
              </a:rPr>
              <a:t>数据来源：中国海关总署和乘联会发布的年度汇总数据</a:t>
            </a:r>
            <a:endParaRPr lang="zh-CN" altLang="en-US" sz="140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ṡḻîdê"/>
          <p:cNvSpPr/>
          <p:nvPr/>
        </p:nvSpPr>
        <p:spPr>
          <a:xfrm>
            <a:off x="0" y="0"/>
            <a:ext cx="12192000" cy="4159045"/>
          </a:xfrm>
          <a:prstGeom prst="rect">
            <a:avLst/>
          </a:prstGeom>
          <a:solidFill>
            <a:srgbClr val="0E419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pic>
        <p:nvPicPr>
          <p:cNvPr id="17" name="图片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482448" cy="1479808"/>
          </a:xfrm>
          <a:prstGeom prst="rect">
            <a:avLst/>
          </a:prstGeom>
        </p:spPr>
      </p:pic>
      <p:sp>
        <p:nvSpPr>
          <p:cNvPr id="7" name="iš1íḍè"/>
          <p:cNvSpPr/>
          <p:nvPr/>
        </p:nvSpPr>
        <p:spPr>
          <a:xfrm>
            <a:off x="291588" y="1028700"/>
            <a:ext cx="11608824" cy="5615448"/>
          </a:xfrm>
          <a:prstGeom prst="rect">
            <a:avLst/>
          </a:prstGeom>
          <a:solidFill>
            <a:schemeClr val="bg1"/>
          </a:solidFill>
          <a:ln>
            <a:noFill/>
          </a:ln>
          <a:effectLst>
            <a:outerShdw blurRad="139700" dist="63500" dir="3900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ea typeface="微软雅黑" panose="020B0503020204020204" pitchFamily="34" charset="-122"/>
              <a:cs typeface="+mn-cs"/>
            </a:endParaRPr>
          </a:p>
        </p:txBody>
      </p:sp>
      <p:sp>
        <p:nvSpPr>
          <p:cNvPr id="2" name="标题 1"/>
          <p:cNvSpPr>
            <a:spLocks noGrp="1"/>
          </p:cNvSpPr>
          <p:nvPr>
            <p:ph type="title"/>
          </p:nvPr>
        </p:nvSpPr>
        <p:spPr>
          <a:xfrm>
            <a:off x="669924" y="248192"/>
            <a:ext cx="10850563" cy="584563"/>
          </a:xfrm>
        </p:spPr>
        <p:txBody>
          <a:bodyPr/>
          <a:lstStyle/>
          <a:p>
            <a:r>
              <a:rPr lang="zh-CN" altLang="en-US" dirty="0">
                <a:solidFill>
                  <a:schemeClr val="bg1"/>
                </a:solidFill>
                <a:sym typeface="+mn-ea"/>
              </a:rPr>
              <a:t>中国电车出口成功经验</a:t>
            </a:r>
            <a:endParaRPr lang="zh-CN" altLang="en-US" dirty="0">
              <a:solidFill>
                <a:schemeClr val="bg1"/>
              </a:solidFill>
              <a:sym typeface="+mn-ea"/>
            </a:endParaRPr>
          </a:p>
        </p:txBody>
      </p:sp>
      <p:sp>
        <p:nvSpPr>
          <p:cNvPr id="3" name="文本框 2"/>
          <p:cNvSpPr txBox="1"/>
          <p:nvPr/>
        </p:nvSpPr>
        <p:spPr>
          <a:xfrm>
            <a:off x="539115" y="1176760"/>
            <a:ext cx="6096000" cy="460375"/>
          </a:xfrm>
          <a:prstGeom prst="rect">
            <a:avLst/>
          </a:prstGeom>
        </p:spPr>
        <p:txBody>
          <a:bodyPr>
            <a:spAutoFit/>
            <a:extLst>
              <a:ext uri="{4A0BC546-FE56-4ADE-93B0-CB8AF2F6F144}">
                <wpsdc:textFrameExt xmlns:wpsdc="http://www.wps.cn/officeDocument/2022/drawingmlCustomData" type="sub-title"/>
              </a:ext>
            </a:extLst>
          </a:bodyPr>
          <a:p>
            <a:pPr algn="l"/>
            <a:r>
              <a:rPr lang="en-US" altLang="zh-CN" sz="2400" spc="200">
                <a:latin typeface="Arial" panose="020B0604020202020204" pitchFamily="34" charset="0"/>
                <a:ea typeface="微软雅黑" panose="020B0503020204020204" pitchFamily="34" charset="-122"/>
              </a:rPr>
              <a:t>1</a:t>
            </a:r>
            <a:r>
              <a:rPr lang="zh-CN" altLang="en-US" sz="2400" spc="200">
                <a:latin typeface="Arial" panose="020B0604020202020204" pitchFamily="34" charset="0"/>
                <a:ea typeface="微软雅黑" panose="020B0503020204020204" pitchFamily="34" charset="-122"/>
              </a:rPr>
              <a:t>、新能源电车</a:t>
            </a:r>
            <a:r>
              <a:rPr lang="zh-CN" altLang="en-US" sz="2400" spc="200">
                <a:latin typeface="Arial" panose="020B0604020202020204" pitchFamily="34" charset="0"/>
                <a:ea typeface="微软雅黑" panose="020B0503020204020204" pitchFamily="34" charset="-122"/>
              </a:rPr>
              <a:t>赛道领先</a:t>
            </a:r>
            <a:endParaRPr lang="zh-CN" altLang="en-US" sz="2400" spc="200">
              <a:latin typeface="Arial" panose="020B0604020202020204" pitchFamily="34" charset="0"/>
              <a:ea typeface="微软雅黑" panose="020B0503020204020204" pitchFamily="34" charset="-122"/>
            </a:endParaRPr>
          </a:p>
        </p:txBody>
      </p:sp>
      <p:sp>
        <p:nvSpPr>
          <p:cNvPr id="5" name="文本框 4"/>
          <p:cNvSpPr txBox="1"/>
          <p:nvPr/>
        </p:nvSpPr>
        <p:spPr>
          <a:xfrm>
            <a:off x="1189355" y="1572260"/>
            <a:ext cx="9580245" cy="478155"/>
          </a:xfrm>
          <a:prstGeom prst="rect">
            <a:avLst/>
          </a:prstGeom>
        </p:spPr>
        <p:txBody>
          <a:bodyPr wrap="square">
            <a:spAutoFit/>
            <a:extLst>
              <a:ext uri="{4A0BC546-FE56-4ADE-93B0-CB8AF2F6F144}">
                <wpsdc:textFrameExt xmlns:wpsdc="http://www.wps.cn/officeDocument/2022/drawingmlCustomData" type="text"/>
              </a:ext>
            </a:extLst>
          </a:bodyPr>
          <a:p>
            <a:pPr algn="l">
              <a:lnSpc>
                <a:spcPct val="140000"/>
              </a:lnSpc>
            </a:pPr>
            <a:r>
              <a:rPr lang="zh-CN" altLang="en-US" sz="1800">
                <a:latin typeface="Arial" panose="020B0604020202020204" pitchFamily="34" charset="0"/>
                <a:ea typeface="微软雅黑" panose="020B0503020204020204" pitchFamily="34" charset="-122"/>
              </a:rPr>
              <a:t>海外汽车品牌在燃油车方面更有优势，在一定程度上有垄断地位，因此要大力开拓电车</a:t>
            </a:r>
            <a:r>
              <a:rPr lang="zh-CN" altLang="en-US" sz="1800">
                <a:latin typeface="Arial" panose="020B0604020202020204" pitchFamily="34" charset="0"/>
                <a:ea typeface="微软雅黑" panose="020B0503020204020204" pitchFamily="34" charset="-122"/>
              </a:rPr>
              <a:t>市场。</a:t>
            </a:r>
            <a:endParaRPr lang="zh-CN" altLang="en-US" sz="1800">
              <a:latin typeface="Arial" panose="020B0604020202020204" pitchFamily="34" charset="0"/>
              <a:ea typeface="微软雅黑" panose="020B0503020204020204" pitchFamily="34" charset="-122"/>
            </a:endParaRPr>
          </a:p>
        </p:txBody>
      </p:sp>
      <p:graphicFrame>
        <p:nvGraphicFramePr>
          <p:cNvPr id="4" name="表格 3"/>
          <p:cNvGraphicFramePr/>
          <p:nvPr/>
        </p:nvGraphicFramePr>
        <p:xfrm>
          <a:off x="2737485" y="2332355"/>
          <a:ext cx="8533765" cy="1905000"/>
        </p:xfrm>
        <a:graphic>
          <a:graphicData uri="http://schemas.openxmlformats.org/drawingml/2006/table">
            <a:tbl>
              <a:tblPr firstRow="1" bandRow="1">
                <a:tableStyleId>{5C22544A-7EE6-4342-B048-85BDC9FD1C3A}</a:tableStyleId>
              </a:tblPr>
              <a:tblGrid>
                <a:gridCol w="1152525"/>
                <a:gridCol w="1285240"/>
                <a:gridCol w="2160270"/>
                <a:gridCol w="2226945"/>
              </a:tblGrid>
              <a:tr h="381000">
                <a:tc>
                  <a:txBody>
                    <a:bodyPr/>
                    <a:p>
                      <a:pPr algn="ctr">
                        <a:buNone/>
                      </a:pPr>
                      <a:r>
                        <a:rPr lang="zh-CN" altLang="en-US"/>
                        <a:t>类别</a:t>
                      </a:r>
                      <a:endParaRPr lang="zh-CN" altLang="en-US"/>
                    </a:p>
                  </a:txBody>
                  <a:tcPr/>
                </a:tc>
                <a:tc>
                  <a:txBody>
                    <a:bodyPr/>
                    <a:p>
                      <a:pPr algn="ctr">
                        <a:buNone/>
                      </a:pPr>
                      <a:r>
                        <a:rPr lang="zh-CN" altLang="en-US"/>
                        <a:t>市场</a:t>
                      </a:r>
                      <a:endParaRPr lang="zh-CN" altLang="en-US"/>
                    </a:p>
                  </a:txBody>
                  <a:tcPr/>
                </a:tc>
                <a:tc>
                  <a:txBody>
                    <a:bodyPr/>
                    <a:p>
                      <a:pPr algn="ctr">
                        <a:buNone/>
                      </a:pPr>
                      <a:r>
                        <a:rPr lang="zh-CN" altLang="en-US"/>
                        <a:t>海外品牌</a:t>
                      </a:r>
                      <a:r>
                        <a:rPr lang="zh-CN" altLang="en-US"/>
                        <a:t>代表</a:t>
                      </a:r>
                      <a:endParaRPr lang="zh-CN" altLang="en-US"/>
                    </a:p>
                  </a:txBody>
                  <a:tcPr/>
                </a:tc>
                <a:tc>
                  <a:txBody>
                    <a:bodyPr/>
                    <a:p>
                      <a:pPr algn="ctr">
                        <a:buNone/>
                      </a:pPr>
                      <a:r>
                        <a:rPr lang="zh-CN" altLang="en-US"/>
                        <a:t>中国</a:t>
                      </a:r>
                      <a:r>
                        <a:rPr lang="zh-CN" altLang="en-US"/>
                        <a:t>品牌代表</a:t>
                      </a:r>
                      <a:endParaRPr lang="zh-CN" altLang="en-US"/>
                    </a:p>
                  </a:txBody>
                  <a:tcPr/>
                </a:tc>
              </a:tr>
              <a:tr h="381000">
                <a:tc rowSpan="2">
                  <a:txBody>
                    <a:bodyPr/>
                    <a:p>
                      <a:pPr algn="ctr">
                        <a:buNone/>
                      </a:pPr>
                      <a:r>
                        <a:rPr lang="zh-CN" altLang="en-US"/>
                        <a:t>燃油车</a:t>
                      </a:r>
                      <a:endParaRPr lang="zh-CN" altLang="en-US"/>
                    </a:p>
                  </a:txBody>
                  <a:tcPr/>
                </a:tc>
                <a:tc>
                  <a:txBody>
                    <a:bodyPr/>
                    <a:p>
                      <a:pPr algn="ctr">
                        <a:buNone/>
                      </a:pPr>
                      <a:r>
                        <a:rPr lang="zh-CN" altLang="en-US"/>
                        <a:t>澳大利亚</a:t>
                      </a:r>
                      <a:endParaRPr lang="zh-CN" altLang="en-US"/>
                    </a:p>
                  </a:txBody>
                  <a:tcPr/>
                </a:tc>
                <a:tc>
                  <a:txBody>
                    <a:bodyPr/>
                    <a:p>
                      <a:pPr algn="ctr">
                        <a:buNone/>
                      </a:pPr>
                      <a:r>
                        <a:rPr lang="zh-CN" altLang="en-US"/>
                        <a:t>丰田</a:t>
                      </a:r>
                      <a:endParaRPr lang="zh-CN" altLang="en-US"/>
                    </a:p>
                    <a:p>
                      <a:pPr algn="ctr">
                        <a:buNone/>
                      </a:pPr>
                      <a:r>
                        <a:rPr lang="zh-CN" altLang="en-US"/>
                        <a:t>（</a:t>
                      </a:r>
                      <a:r>
                        <a:rPr lang="en-US" altLang="zh-CN"/>
                        <a:t>215861</a:t>
                      </a:r>
                      <a:r>
                        <a:rPr lang="zh-CN" altLang="en-US"/>
                        <a:t>辆）</a:t>
                      </a:r>
                      <a:endParaRPr lang="zh-CN" altLang="en-US"/>
                    </a:p>
                  </a:txBody>
                  <a:tcPr/>
                </a:tc>
                <a:tc>
                  <a:txBody>
                    <a:bodyPr/>
                    <a:p>
                      <a:pPr algn="ctr">
                        <a:buNone/>
                      </a:pPr>
                      <a:r>
                        <a:rPr lang="zh-CN" altLang="en-US"/>
                        <a:t>名爵</a:t>
                      </a:r>
                      <a:endParaRPr lang="zh-CN" altLang="en-US"/>
                    </a:p>
                    <a:p>
                      <a:pPr algn="ctr">
                        <a:buNone/>
                      </a:pPr>
                      <a:r>
                        <a:rPr lang="zh-CN" altLang="en-US"/>
                        <a:t>（</a:t>
                      </a:r>
                      <a:r>
                        <a:rPr lang="en-US" altLang="zh-CN"/>
                        <a:t>47847</a:t>
                      </a:r>
                      <a:r>
                        <a:rPr lang="zh-CN" altLang="en-US"/>
                        <a:t>辆）</a:t>
                      </a:r>
                      <a:endParaRPr lang="zh-CN" altLang="en-US"/>
                    </a:p>
                  </a:txBody>
                  <a:tcPr/>
                </a:tc>
              </a:tr>
              <a:tr h="381000">
                <a:tc vMerge="1">
                  <a:tcPr/>
                </a:tc>
                <a:tc>
                  <a:txBody>
                    <a:bodyPr/>
                    <a:p>
                      <a:pPr algn="ctr">
                        <a:buNone/>
                      </a:pPr>
                      <a:r>
                        <a:rPr lang="zh-CN" altLang="en-US"/>
                        <a:t>泰国</a:t>
                      </a:r>
                      <a:endParaRPr lang="zh-CN" altLang="en-US"/>
                    </a:p>
                  </a:txBody>
                  <a:tcPr/>
                </a:tc>
                <a:tc>
                  <a:txBody>
                    <a:bodyPr/>
                    <a:p>
                      <a:pPr algn="ctr">
                        <a:buNone/>
                      </a:pPr>
                      <a:r>
                        <a:rPr lang="zh-CN" altLang="en-US"/>
                        <a:t>丰田</a:t>
                      </a:r>
                      <a:endParaRPr lang="zh-CN" altLang="en-US"/>
                    </a:p>
                    <a:p>
                      <a:pPr algn="ctr">
                        <a:buNone/>
                      </a:pPr>
                      <a:r>
                        <a:rPr lang="zh-CN" altLang="en-US"/>
                        <a:t>（</a:t>
                      </a:r>
                      <a:r>
                        <a:rPr lang="en-US" altLang="zh-CN"/>
                        <a:t>245283</a:t>
                      </a:r>
                      <a:r>
                        <a:rPr lang="zh-CN" altLang="en-US"/>
                        <a:t>辆）</a:t>
                      </a:r>
                      <a:endParaRPr lang="zh-CN" altLang="en-US"/>
                    </a:p>
                  </a:txBody>
                  <a:tcPr/>
                </a:tc>
                <a:tc>
                  <a:txBody>
                    <a:bodyPr/>
                    <a:p>
                      <a:pPr algn="ctr">
                        <a:buNone/>
                      </a:pPr>
                      <a:r>
                        <a:rPr lang="zh-CN" altLang="en-US"/>
                        <a:t>长城</a:t>
                      </a:r>
                      <a:endParaRPr lang="zh-CN" altLang="en-US"/>
                    </a:p>
                    <a:p>
                      <a:pPr algn="ctr">
                        <a:buNone/>
                      </a:pPr>
                      <a:r>
                        <a:rPr lang="zh-CN" altLang="en-US"/>
                        <a:t>（</a:t>
                      </a:r>
                      <a:r>
                        <a:rPr lang="en-US" altLang="zh-CN"/>
                        <a:t>26965</a:t>
                      </a:r>
                      <a:r>
                        <a:rPr lang="zh-CN" altLang="en-US"/>
                        <a:t>辆）</a:t>
                      </a:r>
                      <a:endParaRPr lang="zh-CN" altLang="en-US"/>
                    </a:p>
                  </a:txBody>
                  <a:tcPr/>
                </a:tc>
              </a:tr>
              <a:tr h="381000">
                <a:tc rowSpan="2">
                  <a:txBody>
                    <a:bodyPr/>
                    <a:p>
                      <a:pPr algn="ctr">
                        <a:buNone/>
                      </a:pPr>
                      <a:r>
                        <a:rPr lang="zh-CN" altLang="en-US"/>
                        <a:t>电车</a:t>
                      </a:r>
                      <a:endParaRPr lang="zh-CN" altLang="en-US"/>
                    </a:p>
                  </a:txBody>
                  <a:tcPr/>
                </a:tc>
                <a:tc>
                  <a:txBody>
                    <a:bodyPr/>
                    <a:p>
                      <a:pPr algn="ctr">
                        <a:buNone/>
                      </a:pPr>
                      <a:r>
                        <a:rPr lang="zh-CN" altLang="en-US"/>
                        <a:t>澳大利亚</a:t>
                      </a:r>
                      <a:endParaRPr lang="zh-CN" altLang="en-US"/>
                    </a:p>
                  </a:txBody>
                  <a:tcPr/>
                </a:tc>
                <a:tc>
                  <a:txBody>
                    <a:bodyPr/>
                    <a:p>
                      <a:pPr algn="ctr">
                        <a:buNone/>
                      </a:pPr>
                      <a:r>
                        <a:rPr lang="zh-CN" altLang="en-US"/>
                        <a:t>特斯拉</a:t>
                      </a:r>
                      <a:endParaRPr lang="zh-CN" altLang="en-US"/>
                    </a:p>
                    <a:p>
                      <a:pPr algn="ctr">
                        <a:buNone/>
                      </a:pPr>
                      <a:r>
                        <a:rPr lang="zh-CN" altLang="en-US"/>
                        <a:t>（</a:t>
                      </a:r>
                      <a:r>
                        <a:rPr lang="en-US" altLang="zh-CN"/>
                        <a:t>31759</a:t>
                      </a:r>
                      <a:r>
                        <a:rPr lang="zh-CN" altLang="en-US"/>
                        <a:t>辆）</a:t>
                      </a:r>
                      <a:endParaRPr lang="zh-CN" altLang="en-US"/>
                    </a:p>
                  </a:txBody>
                  <a:tcPr/>
                </a:tc>
                <a:tc>
                  <a:txBody>
                    <a:bodyPr/>
                    <a:p>
                      <a:pPr algn="ctr">
                        <a:buNone/>
                      </a:pPr>
                      <a:r>
                        <a:rPr lang="zh-CN" altLang="en-US"/>
                        <a:t>比亚迪</a:t>
                      </a:r>
                      <a:r>
                        <a:rPr lang="zh-CN" altLang="en-US">
                          <a:solidFill>
                            <a:srgbClr val="FF0000"/>
                          </a:solidFill>
                        </a:rPr>
                        <a:t>（第二）</a:t>
                      </a:r>
                      <a:endParaRPr lang="zh-CN" altLang="en-US"/>
                    </a:p>
                    <a:p>
                      <a:pPr algn="ctr">
                        <a:buNone/>
                      </a:pPr>
                      <a:r>
                        <a:rPr lang="zh-CN" altLang="en-US"/>
                        <a:t>（</a:t>
                      </a:r>
                      <a:r>
                        <a:rPr lang="en-US" altLang="zh-CN"/>
                        <a:t>8248</a:t>
                      </a:r>
                      <a:r>
                        <a:rPr lang="zh-CN" altLang="en-US"/>
                        <a:t>辆）</a:t>
                      </a:r>
                      <a:endParaRPr lang="zh-CN" altLang="en-US"/>
                    </a:p>
                  </a:txBody>
                  <a:tcPr/>
                </a:tc>
              </a:tr>
              <a:tr h="381000">
                <a:tc vMerge="1">
                  <a:tcPr/>
                </a:tc>
                <a:tc>
                  <a:txBody>
                    <a:bodyPr/>
                    <a:p>
                      <a:pPr algn="ctr">
                        <a:buNone/>
                      </a:pPr>
                      <a:r>
                        <a:rPr lang="zh-CN" altLang="en-US"/>
                        <a:t>泰国</a:t>
                      </a:r>
                      <a:endParaRPr lang="zh-CN" altLang="en-US"/>
                    </a:p>
                  </a:txBody>
                  <a:tcPr/>
                </a:tc>
                <a:tc>
                  <a:txBody>
                    <a:bodyPr/>
                    <a:p>
                      <a:pPr algn="ctr">
                        <a:buNone/>
                      </a:pPr>
                      <a:r>
                        <a:rPr lang="zh-CN" altLang="en-US"/>
                        <a:t>特斯拉</a:t>
                      </a:r>
                      <a:endParaRPr lang="zh-CN" altLang="en-US"/>
                    </a:p>
                    <a:p>
                      <a:pPr algn="ctr">
                        <a:buNone/>
                      </a:pPr>
                      <a:r>
                        <a:rPr lang="zh-CN" altLang="en-US"/>
                        <a:t>（</a:t>
                      </a:r>
                      <a:r>
                        <a:rPr lang="en-US" altLang="zh-CN"/>
                        <a:t>9371</a:t>
                      </a:r>
                      <a:r>
                        <a:rPr lang="zh-CN" altLang="en-US"/>
                        <a:t>辆）</a:t>
                      </a:r>
                      <a:endParaRPr lang="zh-CN" altLang="en-US"/>
                    </a:p>
                  </a:txBody>
                  <a:tcPr/>
                </a:tc>
                <a:tc>
                  <a:txBody>
                    <a:bodyPr/>
                    <a:p>
                      <a:pPr algn="ctr">
                        <a:buNone/>
                      </a:pPr>
                      <a:r>
                        <a:rPr lang="zh-CN" altLang="en-US"/>
                        <a:t>比亚迪</a:t>
                      </a:r>
                      <a:r>
                        <a:rPr lang="zh-CN" altLang="en-US">
                          <a:solidFill>
                            <a:srgbClr val="FF0000"/>
                          </a:solidFill>
                        </a:rPr>
                        <a:t>（第一）</a:t>
                      </a:r>
                      <a:endParaRPr lang="zh-CN" altLang="en-US"/>
                    </a:p>
                    <a:p>
                      <a:pPr algn="ctr">
                        <a:buNone/>
                      </a:pPr>
                      <a:r>
                        <a:rPr lang="zh-CN" altLang="en-US"/>
                        <a:t>（</a:t>
                      </a:r>
                      <a:r>
                        <a:rPr lang="en-US" altLang="zh-CN"/>
                        <a:t>46712</a:t>
                      </a:r>
                      <a:r>
                        <a:rPr lang="zh-CN" altLang="en-US"/>
                        <a:t>辆）</a:t>
                      </a:r>
                      <a:endParaRPr lang="zh-CN" altLang="en-US"/>
                    </a:p>
                  </a:txBody>
                  <a:tcPr/>
                </a:tc>
              </a:tr>
            </a:tbl>
          </a:graphicData>
        </a:graphic>
      </p:graphicFrame>
      <p:sp>
        <p:nvSpPr>
          <p:cNvPr id="8" name="文本框 7"/>
          <p:cNvSpPr txBox="1"/>
          <p:nvPr/>
        </p:nvSpPr>
        <p:spPr>
          <a:xfrm>
            <a:off x="2737485" y="5345430"/>
            <a:ext cx="6825615" cy="52197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400">
                <a:latin typeface="仿宋" panose="02010609060101010101" charset="-122"/>
                <a:ea typeface="仿宋" panose="02010609060101010101" charset="-122"/>
                <a:cs typeface="仿宋" panose="02010609060101010101" charset="-122"/>
              </a:rPr>
              <a:t>数据来源：澳大利亚联邦汽车工业商会（</a:t>
            </a:r>
            <a:r>
              <a:rPr lang="en-US" altLang="zh-CN" sz="1400">
                <a:latin typeface="仿宋" panose="02010609060101010101" charset="-122"/>
                <a:ea typeface="仿宋" panose="02010609060101010101" charset="-122"/>
                <a:cs typeface="仿宋" panose="02010609060101010101" charset="-122"/>
              </a:rPr>
              <a:t>FCAI</a:t>
            </a:r>
            <a:r>
              <a:rPr lang="zh-CN" altLang="en-US" sz="1400">
                <a:latin typeface="仿宋" panose="02010609060101010101" charset="-122"/>
                <a:ea typeface="仿宋" panose="02010609060101010101" charset="-122"/>
                <a:cs typeface="仿宋" panose="02010609060101010101" charset="-122"/>
              </a:rPr>
              <a:t>）发布的《</a:t>
            </a:r>
            <a:r>
              <a:rPr lang="en-US" altLang="zh-CN" sz="1400">
                <a:latin typeface="仿宋" panose="02010609060101010101" charset="-122"/>
                <a:ea typeface="仿宋" panose="02010609060101010101" charset="-122"/>
                <a:cs typeface="仿宋" panose="02010609060101010101" charset="-122"/>
              </a:rPr>
              <a:t>2024</a:t>
            </a:r>
            <a:r>
              <a:rPr lang="zh-CN" altLang="en-US" sz="1400">
                <a:latin typeface="仿宋" panose="02010609060101010101" charset="-122"/>
                <a:ea typeface="仿宋" panose="02010609060101010101" charset="-122"/>
                <a:cs typeface="仿宋" panose="02010609060101010101" charset="-122"/>
              </a:rPr>
              <a:t>年澳大利亚新车销售数据》；泰国</a:t>
            </a:r>
            <a:r>
              <a:rPr lang="en-US" altLang="zh-CN" sz="1400">
                <a:latin typeface="仿宋" panose="02010609060101010101" charset="-122"/>
                <a:ea typeface="仿宋" panose="02010609060101010101" charset="-122"/>
                <a:cs typeface="仿宋" panose="02010609060101010101" charset="-122"/>
              </a:rPr>
              <a:t>AutoLife</a:t>
            </a:r>
            <a:r>
              <a:rPr lang="zh-CN" altLang="en-US" sz="1400">
                <a:latin typeface="仿宋" panose="02010609060101010101" charset="-122"/>
                <a:ea typeface="仿宋" panose="02010609060101010101" charset="-122"/>
                <a:cs typeface="仿宋" panose="02010609060101010101" charset="-122"/>
              </a:rPr>
              <a:t>官网发布的《</a:t>
            </a:r>
            <a:r>
              <a:rPr lang="en-US" altLang="zh-CN" sz="1400">
                <a:latin typeface="仿宋" panose="02010609060101010101" charset="-122"/>
                <a:ea typeface="仿宋" panose="02010609060101010101" charset="-122"/>
                <a:cs typeface="仿宋" panose="02010609060101010101" charset="-122"/>
              </a:rPr>
              <a:t>2024</a:t>
            </a:r>
            <a:r>
              <a:rPr lang="zh-CN" altLang="en-US" sz="1400">
                <a:latin typeface="仿宋" panose="02010609060101010101" charset="-122"/>
                <a:ea typeface="仿宋" panose="02010609060101010101" charset="-122"/>
                <a:cs typeface="仿宋" panose="02010609060101010101" charset="-122"/>
              </a:rPr>
              <a:t>年泰国汽车销量总榜》</a:t>
            </a:r>
            <a:endParaRPr lang="zh-CN" altLang="en-US" sz="140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p:nvPr/>
        </p:nvGraphicFramePr>
        <p:xfrm>
          <a:off x="2737485" y="2332355"/>
          <a:ext cx="8533765" cy="1905000"/>
        </p:xfrm>
        <a:graphic>
          <a:graphicData uri="http://schemas.openxmlformats.org/drawingml/2006/table">
            <a:tbl>
              <a:tblPr firstRow="1" bandRow="1">
                <a:tableStyleId>{5C22544A-7EE6-4342-B048-85BDC9FD1C3A}</a:tableStyleId>
              </a:tblPr>
              <a:tblGrid>
                <a:gridCol w="1152525"/>
                <a:gridCol w="1285240"/>
                <a:gridCol w="2160270"/>
                <a:gridCol w="2226945"/>
              </a:tblGrid>
              <a:tr h="381000">
                <a:tc>
                  <a:txBody>
                    <a:bodyPr/>
                    <a:p>
                      <a:pPr algn="ctr">
                        <a:buNone/>
                      </a:pPr>
                      <a:r>
                        <a:rPr lang="zh-CN" altLang="en-US"/>
                        <a:t>类别</a:t>
                      </a:r>
                      <a:endParaRPr lang="zh-CN" altLang="en-US"/>
                    </a:p>
                  </a:txBody>
                  <a:tcPr/>
                </a:tc>
                <a:tc>
                  <a:txBody>
                    <a:bodyPr/>
                    <a:p>
                      <a:pPr algn="ctr">
                        <a:buNone/>
                      </a:pPr>
                      <a:r>
                        <a:rPr lang="zh-CN" altLang="en-US"/>
                        <a:t>市场</a:t>
                      </a:r>
                      <a:endParaRPr lang="zh-CN" altLang="en-US"/>
                    </a:p>
                  </a:txBody>
                  <a:tcPr/>
                </a:tc>
                <a:tc>
                  <a:txBody>
                    <a:bodyPr/>
                    <a:p>
                      <a:pPr algn="ctr">
                        <a:buNone/>
                      </a:pPr>
                      <a:r>
                        <a:rPr lang="zh-CN" altLang="en-US"/>
                        <a:t>海外品牌</a:t>
                      </a:r>
                      <a:r>
                        <a:rPr lang="zh-CN" altLang="en-US"/>
                        <a:t>代表</a:t>
                      </a:r>
                      <a:endParaRPr lang="zh-CN" altLang="en-US"/>
                    </a:p>
                  </a:txBody>
                  <a:tcPr/>
                </a:tc>
                <a:tc>
                  <a:txBody>
                    <a:bodyPr/>
                    <a:p>
                      <a:pPr algn="ctr">
                        <a:buNone/>
                      </a:pPr>
                      <a:r>
                        <a:rPr lang="zh-CN" altLang="en-US"/>
                        <a:t>中国</a:t>
                      </a:r>
                      <a:r>
                        <a:rPr lang="zh-CN" altLang="en-US"/>
                        <a:t>品牌代表</a:t>
                      </a:r>
                      <a:endParaRPr lang="zh-CN" altLang="en-US"/>
                    </a:p>
                  </a:txBody>
                  <a:tcPr/>
                </a:tc>
              </a:tr>
              <a:tr h="381000">
                <a:tc rowSpan="2">
                  <a:txBody>
                    <a:bodyPr/>
                    <a:p>
                      <a:pPr algn="ctr">
                        <a:buNone/>
                      </a:pPr>
                      <a:r>
                        <a:rPr lang="zh-CN" altLang="en-US"/>
                        <a:t>燃油车</a:t>
                      </a:r>
                      <a:endParaRPr lang="zh-CN" altLang="en-US"/>
                    </a:p>
                  </a:txBody>
                  <a:tcPr/>
                </a:tc>
                <a:tc>
                  <a:txBody>
                    <a:bodyPr/>
                    <a:p>
                      <a:pPr algn="ctr">
                        <a:buNone/>
                      </a:pPr>
                      <a:r>
                        <a:rPr lang="zh-CN" altLang="en-US"/>
                        <a:t>澳大利亚</a:t>
                      </a:r>
                      <a:endParaRPr lang="zh-CN" altLang="en-US"/>
                    </a:p>
                  </a:txBody>
                  <a:tcPr/>
                </a:tc>
                <a:tc>
                  <a:txBody>
                    <a:bodyPr/>
                    <a:p>
                      <a:pPr algn="ctr">
                        <a:buNone/>
                      </a:pPr>
                      <a:r>
                        <a:rPr lang="zh-CN" altLang="en-US"/>
                        <a:t>丰田</a:t>
                      </a:r>
                      <a:endParaRPr lang="zh-CN" altLang="en-US"/>
                    </a:p>
                    <a:p>
                      <a:pPr algn="ctr">
                        <a:buNone/>
                      </a:pPr>
                      <a:r>
                        <a:rPr lang="zh-CN" altLang="en-US"/>
                        <a:t>（</a:t>
                      </a:r>
                      <a:r>
                        <a:rPr lang="en-US" altLang="zh-CN"/>
                        <a:t>215861</a:t>
                      </a:r>
                      <a:r>
                        <a:rPr lang="zh-CN" altLang="en-US"/>
                        <a:t>辆）</a:t>
                      </a:r>
                      <a:endParaRPr lang="zh-CN" altLang="en-US"/>
                    </a:p>
                  </a:txBody>
                  <a:tcPr/>
                </a:tc>
                <a:tc>
                  <a:txBody>
                    <a:bodyPr/>
                    <a:p>
                      <a:pPr algn="ctr">
                        <a:buNone/>
                      </a:pPr>
                      <a:r>
                        <a:rPr lang="zh-CN" altLang="en-US"/>
                        <a:t>名爵</a:t>
                      </a:r>
                      <a:endParaRPr lang="zh-CN" altLang="en-US"/>
                    </a:p>
                    <a:p>
                      <a:pPr algn="ctr">
                        <a:buNone/>
                      </a:pPr>
                      <a:r>
                        <a:rPr lang="zh-CN" altLang="en-US"/>
                        <a:t>（</a:t>
                      </a:r>
                      <a:r>
                        <a:rPr lang="en-US" altLang="zh-CN"/>
                        <a:t>47847</a:t>
                      </a:r>
                      <a:r>
                        <a:rPr lang="zh-CN" altLang="en-US"/>
                        <a:t>辆）</a:t>
                      </a:r>
                      <a:endParaRPr lang="zh-CN" altLang="en-US"/>
                    </a:p>
                  </a:txBody>
                  <a:tcPr/>
                </a:tc>
              </a:tr>
              <a:tr h="381000">
                <a:tc vMerge="1">
                  <a:tcPr/>
                </a:tc>
                <a:tc>
                  <a:txBody>
                    <a:bodyPr/>
                    <a:p>
                      <a:pPr algn="ctr">
                        <a:buNone/>
                      </a:pPr>
                      <a:r>
                        <a:rPr lang="zh-CN" altLang="en-US"/>
                        <a:t>泰国</a:t>
                      </a:r>
                      <a:endParaRPr lang="zh-CN" altLang="en-US"/>
                    </a:p>
                  </a:txBody>
                  <a:tcPr/>
                </a:tc>
                <a:tc>
                  <a:txBody>
                    <a:bodyPr/>
                    <a:p>
                      <a:pPr algn="ctr">
                        <a:buNone/>
                      </a:pPr>
                      <a:r>
                        <a:rPr lang="zh-CN" altLang="en-US"/>
                        <a:t>丰田</a:t>
                      </a:r>
                      <a:endParaRPr lang="zh-CN" altLang="en-US"/>
                    </a:p>
                    <a:p>
                      <a:pPr algn="ctr">
                        <a:buNone/>
                      </a:pPr>
                      <a:r>
                        <a:rPr lang="zh-CN" altLang="en-US"/>
                        <a:t>（</a:t>
                      </a:r>
                      <a:r>
                        <a:rPr lang="en-US" altLang="zh-CN"/>
                        <a:t>245283</a:t>
                      </a:r>
                      <a:r>
                        <a:rPr lang="zh-CN" altLang="en-US"/>
                        <a:t>辆）</a:t>
                      </a:r>
                      <a:endParaRPr lang="zh-CN" altLang="en-US"/>
                    </a:p>
                  </a:txBody>
                  <a:tcPr/>
                </a:tc>
                <a:tc>
                  <a:txBody>
                    <a:bodyPr/>
                    <a:p>
                      <a:pPr algn="ctr">
                        <a:buNone/>
                      </a:pPr>
                      <a:r>
                        <a:rPr lang="zh-CN" altLang="en-US"/>
                        <a:t>长城</a:t>
                      </a:r>
                      <a:endParaRPr lang="zh-CN" altLang="en-US"/>
                    </a:p>
                    <a:p>
                      <a:pPr algn="ctr">
                        <a:buNone/>
                      </a:pPr>
                      <a:r>
                        <a:rPr lang="zh-CN" altLang="en-US"/>
                        <a:t>（</a:t>
                      </a:r>
                      <a:r>
                        <a:rPr lang="en-US" altLang="zh-CN"/>
                        <a:t>26965</a:t>
                      </a:r>
                      <a:r>
                        <a:rPr lang="zh-CN" altLang="en-US"/>
                        <a:t>辆）</a:t>
                      </a:r>
                      <a:endParaRPr lang="zh-CN" altLang="en-US"/>
                    </a:p>
                  </a:txBody>
                  <a:tcPr/>
                </a:tc>
              </a:tr>
              <a:tr h="381000">
                <a:tc rowSpan="2">
                  <a:txBody>
                    <a:bodyPr/>
                    <a:p>
                      <a:pPr algn="ctr">
                        <a:buNone/>
                      </a:pPr>
                      <a:r>
                        <a:rPr lang="zh-CN" altLang="en-US"/>
                        <a:t>电车</a:t>
                      </a:r>
                      <a:endParaRPr lang="zh-CN" altLang="en-US"/>
                    </a:p>
                  </a:txBody>
                  <a:tcPr/>
                </a:tc>
                <a:tc>
                  <a:txBody>
                    <a:bodyPr/>
                    <a:p>
                      <a:pPr algn="ctr">
                        <a:buNone/>
                      </a:pPr>
                      <a:r>
                        <a:rPr lang="zh-CN" altLang="en-US"/>
                        <a:t>澳大利亚</a:t>
                      </a:r>
                      <a:endParaRPr lang="zh-CN" altLang="en-US"/>
                    </a:p>
                  </a:txBody>
                  <a:tcPr/>
                </a:tc>
                <a:tc>
                  <a:txBody>
                    <a:bodyPr/>
                    <a:p>
                      <a:pPr algn="ctr">
                        <a:buNone/>
                      </a:pPr>
                      <a:r>
                        <a:rPr lang="zh-CN" altLang="en-US"/>
                        <a:t>特斯拉</a:t>
                      </a:r>
                      <a:endParaRPr lang="zh-CN" altLang="en-US"/>
                    </a:p>
                    <a:p>
                      <a:pPr algn="ctr">
                        <a:buNone/>
                      </a:pPr>
                      <a:r>
                        <a:rPr lang="zh-CN" altLang="en-US"/>
                        <a:t>（</a:t>
                      </a:r>
                      <a:r>
                        <a:rPr lang="en-US" altLang="zh-CN"/>
                        <a:t>31759</a:t>
                      </a:r>
                      <a:r>
                        <a:rPr lang="zh-CN" altLang="en-US"/>
                        <a:t>辆）</a:t>
                      </a:r>
                      <a:endParaRPr lang="zh-CN" altLang="en-US"/>
                    </a:p>
                  </a:txBody>
                  <a:tcPr/>
                </a:tc>
                <a:tc>
                  <a:txBody>
                    <a:bodyPr/>
                    <a:p>
                      <a:pPr algn="ctr">
                        <a:buNone/>
                      </a:pPr>
                      <a:r>
                        <a:rPr lang="zh-CN" altLang="en-US"/>
                        <a:t>比亚迪</a:t>
                      </a:r>
                      <a:r>
                        <a:rPr lang="zh-CN" altLang="en-US">
                          <a:solidFill>
                            <a:srgbClr val="FF0000"/>
                          </a:solidFill>
                        </a:rPr>
                        <a:t>（第二）</a:t>
                      </a:r>
                      <a:endParaRPr lang="zh-CN" altLang="en-US"/>
                    </a:p>
                    <a:p>
                      <a:pPr algn="ctr">
                        <a:buNone/>
                      </a:pPr>
                      <a:r>
                        <a:rPr lang="zh-CN" altLang="en-US"/>
                        <a:t>（</a:t>
                      </a:r>
                      <a:r>
                        <a:rPr lang="en-US" altLang="zh-CN"/>
                        <a:t>8248</a:t>
                      </a:r>
                      <a:r>
                        <a:rPr lang="zh-CN" altLang="en-US"/>
                        <a:t>辆）</a:t>
                      </a:r>
                      <a:endParaRPr lang="zh-CN" altLang="en-US"/>
                    </a:p>
                  </a:txBody>
                  <a:tcPr/>
                </a:tc>
              </a:tr>
              <a:tr h="381000">
                <a:tc vMerge="1">
                  <a:tcPr/>
                </a:tc>
                <a:tc>
                  <a:txBody>
                    <a:bodyPr/>
                    <a:p>
                      <a:pPr algn="ctr">
                        <a:buNone/>
                      </a:pPr>
                      <a:r>
                        <a:rPr lang="zh-CN" altLang="en-US"/>
                        <a:t>泰国</a:t>
                      </a:r>
                      <a:endParaRPr lang="zh-CN" altLang="en-US"/>
                    </a:p>
                  </a:txBody>
                  <a:tcPr/>
                </a:tc>
                <a:tc>
                  <a:txBody>
                    <a:bodyPr/>
                    <a:p>
                      <a:pPr algn="ctr">
                        <a:buNone/>
                      </a:pPr>
                      <a:r>
                        <a:rPr lang="zh-CN" altLang="en-US"/>
                        <a:t>特斯拉</a:t>
                      </a:r>
                      <a:endParaRPr lang="zh-CN" altLang="en-US"/>
                    </a:p>
                    <a:p>
                      <a:pPr algn="ctr">
                        <a:buNone/>
                      </a:pPr>
                      <a:r>
                        <a:rPr lang="zh-CN" altLang="en-US"/>
                        <a:t>（</a:t>
                      </a:r>
                      <a:r>
                        <a:rPr lang="en-US" altLang="zh-CN"/>
                        <a:t>9371</a:t>
                      </a:r>
                      <a:r>
                        <a:rPr lang="zh-CN" altLang="en-US"/>
                        <a:t>辆）</a:t>
                      </a:r>
                      <a:endParaRPr lang="zh-CN" altLang="en-US"/>
                    </a:p>
                  </a:txBody>
                  <a:tcPr/>
                </a:tc>
                <a:tc>
                  <a:txBody>
                    <a:bodyPr/>
                    <a:p>
                      <a:pPr algn="ctr">
                        <a:buNone/>
                      </a:pPr>
                      <a:r>
                        <a:rPr lang="zh-CN" altLang="en-US"/>
                        <a:t>比亚迪</a:t>
                      </a:r>
                      <a:r>
                        <a:rPr lang="zh-CN" altLang="en-US">
                          <a:solidFill>
                            <a:srgbClr val="FF0000"/>
                          </a:solidFill>
                        </a:rPr>
                        <a:t>（第一）</a:t>
                      </a:r>
                      <a:endParaRPr lang="zh-CN" altLang="en-US"/>
                    </a:p>
                    <a:p>
                      <a:pPr algn="ctr">
                        <a:buNone/>
                      </a:pPr>
                      <a:r>
                        <a:rPr lang="zh-CN" altLang="en-US"/>
                        <a:t>（</a:t>
                      </a:r>
                      <a:r>
                        <a:rPr lang="en-US" altLang="zh-CN"/>
                        <a:t>46712</a:t>
                      </a:r>
                      <a:r>
                        <a:rPr lang="zh-CN" altLang="en-US"/>
                        <a:t>辆）</a:t>
                      </a:r>
                      <a:endParaRPr lang="zh-CN" altLang="en-US"/>
                    </a:p>
                  </a:txBody>
                  <a:tcPr/>
                </a:tc>
              </a:tr>
            </a:tbl>
          </a:graphicData>
        </a:graphic>
      </p:graphicFrame>
      <p:sp>
        <p:nvSpPr>
          <p:cNvPr id="6" name="iṡḻîdê"/>
          <p:cNvSpPr/>
          <p:nvPr/>
        </p:nvSpPr>
        <p:spPr>
          <a:xfrm>
            <a:off x="0" y="0"/>
            <a:ext cx="12192000" cy="4159045"/>
          </a:xfrm>
          <a:prstGeom prst="rect">
            <a:avLst/>
          </a:prstGeom>
          <a:solidFill>
            <a:srgbClr val="0E419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pic>
        <p:nvPicPr>
          <p:cNvPr id="17" name="图片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482448" cy="1479808"/>
          </a:xfrm>
          <a:prstGeom prst="rect">
            <a:avLst/>
          </a:prstGeom>
        </p:spPr>
      </p:pic>
      <p:sp>
        <p:nvSpPr>
          <p:cNvPr id="7" name="iš1íḍè"/>
          <p:cNvSpPr/>
          <p:nvPr/>
        </p:nvSpPr>
        <p:spPr>
          <a:xfrm>
            <a:off x="291588" y="1028700"/>
            <a:ext cx="11608824" cy="5615448"/>
          </a:xfrm>
          <a:prstGeom prst="rect">
            <a:avLst/>
          </a:prstGeom>
          <a:solidFill>
            <a:schemeClr val="bg1"/>
          </a:solidFill>
          <a:ln>
            <a:noFill/>
          </a:ln>
          <a:effectLst>
            <a:outerShdw blurRad="139700" dist="63500" dir="3900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ea typeface="微软雅黑" panose="020B0503020204020204" pitchFamily="34" charset="-122"/>
              <a:cs typeface="+mn-cs"/>
            </a:endParaRPr>
          </a:p>
        </p:txBody>
      </p:sp>
      <p:sp>
        <p:nvSpPr>
          <p:cNvPr id="2" name="标题 1"/>
          <p:cNvSpPr>
            <a:spLocks noGrp="1"/>
          </p:cNvSpPr>
          <p:nvPr>
            <p:ph type="title"/>
          </p:nvPr>
        </p:nvSpPr>
        <p:spPr>
          <a:xfrm>
            <a:off x="669924" y="248192"/>
            <a:ext cx="10850563" cy="584563"/>
          </a:xfrm>
        </p:spPr>
        <p:txBody>
          <a:bodyPr/>
          <a:lstStyle/>
          <a:p>
            <a:r>
              <a:rPr lang="zh-CN" altLang="en-US" dirty="0">
                <a:solidFill>
                  <a:schemeClr val="bg1"/>
                </a:solidFill>
                <a:sym typeface="+mn-ea"/>
              </a:rPr>
              <a:t>中国电车出口成功经验</a:t>
            </a:r>
            <a:endParaRPr lang="zh-CN" altLang="en-US" dirty="0">
              <a:solidFill>
                <a:schemeClr val="bg1"/>
              </a:solidFill>
              <a:sym typeface="+mn-ea"/>
            </a:endParaRPr>
          </a:p>
        </p:txBody>
      </p:sp>
      <p:sp>
        <p:nvSpPr>
          <p:cNvPr id="3" name="文本框 2"/>
          <p:cNvSpPr txBox="1"/>
          <p:nvPr/>
        </p:nvSpPr>
        <p:spPr>
          <a:xfrm>
            <a:off x="539115" y="1176760"/>
            <a:ext cx="6096000" cy="460375"/>
          </a:xfrm>
          <a:prstGeom prst="rect">
            <a:avLst/>
          </a:prstGeom>
        </p:spPr>
        <p:txBody>
          <a:bodyPr>
            <a:spAutoFit/>
            <a:extLst>
              <a:ext uri="{4A0BC546-FE56-4ADE-93B0-CB8AF2F6F144}">
                <wpsdc:textFrameExt xmlns:wpsdc="http://www.wps.cn/officeDocument/2022/drawingmlCustomData" type="sub-title"/>
              </a:ext>
            </a:extLst>
          </a:bodyPr>
          <a:p>
            <a:pPr algn="l"/>
            <a:r>
              <a:rPr lang="en-US" altLang="zh-CN" sz="2400" spc="200">
                <a:latin typeface="Arial" panose="020B0604020202020204" pitchFamily="34" charset="0"/>
                <a:ea typeface="微软雅黑" panose="020B0503020204020204" pitchFamily="34" charset="-122"/>
              </a:rPr>
              <a:t>1</a:t>
            </a:r>
            <a:r>
              <a:rPr lang="zh-CN" altLang="en-US" sz="2400" spc="200">
                <a:latin typeface="Arial" panose="020B0604020202020204" pitchFamily="34" charset="0"/>
                <a:ea typeface="微软雅黑" panose="020B0503020204020204" pitchFamily="34" charset="-122"/>
              </a:rPr>
              <a:t>、新能源电车赛道领先（以比亚迪</a:t>
            </a:r>
            <a:r>
              <a:rPr lang="zh-CN" altLang="en-US" sz="2400" spc="200">
                <a:latin typeface="Arial" panose="020B0604020202020204" pitchFamily="34" charset="0"/>
                <a:ea typeface="微软雅黑" panose="020B0503020204020204" pitchFamily="34" charset="-122"/>
              </a:rPr>
              <a:t>为例）</a:t>
            </a:r>
            <a:endParaRPr lang="zh-CN" altLang="en-US" sz="2400" spc="200">
              <a:latin typeface="Arial" panose="020B0604020202020204" pitchFamily="34" charset="0"/>
              <a:ea typeface="微软雅黑" panose="020B0503020204020204" pitchFamily="34" charset="-122"/>
            </a:endParaRPr>
          </a:p>
        </p:txBody>
      </p:sp>
      <p:sp>
        <p:nvSpPr>
          <p:cNvPr id="5" name="文本框 4"/>
          <p:cNvSpPr txBox="1"/>
          <p:nvPr/>
        </p:nvSpPr>
        <p:spPr>
          <a:xfrm>
            <a:off x="1145540" y="1859280"/>
            <a:ext cx="9580245" cy="865505"/>
          </a:xfrm>
          <a:prstGeom prst="rect">
            <a:avLst/>
          </a:prstGeom>
        </p:spPr>
        <p:txBody>
          <a:bodyPr wrap="square">
            <a:spAutoFit/>
            <a:extLst>
              <a:ext uri="{4A0BC546-FE56-4ADE-93B0-CB8AF2F6F144}">
                <wpsdc:textFrameExt xmlns:wpsdc="http://www.wps.cn/officeDocument/2022/drawingmlCustomData" type="text"/>
              </a:ext>
            </a:extLst>
          </a:bodyPr>
          <a:p>
            <a:pPr marL="285750" indent="-285750" algn="l">
              <a:lnSpc>
                <a:spcPct val="140000"/>
              </a:lnSpc>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以内养外，依托中国这个全球最大新能源汽车市场建立的规模、技术和成本优势。</a:t>
            </a:r>
            <a:endParaRPr lang="en-US" altLang="zh-CN" sz="1800">
              <a:latin typeface="Arial" panose="020B0604020202020204" pitchFamily="34" charset="0"/>
              <a:ea typeface="微软雅黑" panose="020B0503020204020204" pitchFamily="34" charset="-122"/>
            </a:endParaRPr>
          </a:p>
          <a:p>
            <a:pPr marL="285750" indent="-285750" algn="l">
              <a:lnSpc>
                <a:spcPct val="140000"/>
              </a:lnSpc>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关键零部件自产自研，保证全球供应链中断时的</a:t>
            </a:r>
            <a:r>
              <a:rPr lang="zh-CN" altLang="en-US" sz="1800">
                <a:latin typeface="Arial" panose="020B0604020202020204" pitchFamily="34" charset="0"/>
                <a:ea typeface="微软雅黑" panose="020B0503020204020204" pitchFamily="34" charset="-122"/>
              </a:rPr>
              <a:t>产能，建立安全、可靠的核心卖点。</a:t>
            </a:r>
            <a:endParaRPr lang="zh-CN" altLang="en-US" sz="1800">
              <a:latin typeface="Arial" panose="020B0604020202020204" pitchFamily="34" charset="0"/>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6429375" y="3104515"/>
            <a:ext cx="4296410" cy="2614295"/>
          </a:xfrm>
          <a:prstGeom prst="rect">
            <a:avLst/>
          </a:prstGeom>
        </p:spPr>
      </p:pic>
      <p:pic>
        <p:nvPicPr>
          <p:cNvPr id="10" name="图片 9" descr="屏幕截图 2025-11-11 135214"/>
          <p:cNvPicPr>
            <a:picLocks noChangeAspect="1"/>
          </p:cNvPicPr>
          <p:nvPr/>
        </p:nvPicPr>
        <p:blipFill>
          <a:blip r:embed="rId3"/>
          <a:stretch>
            <a:fillRect/>
          </a:stretch>
        </p:blipFill>
        <p:spPr>
          <a:xfrm>
            <a:off x="1366520" y="3104515"/>
            <a:ext cx="4210050" cy="1295400"/>
          </a:xfrm>
          <a:prstGeom prst="rect">
            <a:avLst/>
          </a:prstGeom>
        </p:spPr>
      </p:pic>
      <p:sp>
        <p:nvSpPr>
          <p:cNvPr id="11" name="文本框 10"/>
          <p:cNvSpPr txBox="1"/>
          <p:nvPr/>
        </p:nvSpPr>
        <p:spPr>
          <a:xfrm>
            <a:off x="3183255" y="3104430"/>
            <a:ext cx="4064000" cy="368300"/>
          </a:xfrm>
          <a:prstGeom prst="rect">
            <a:avLst/>
          </a:prstGeom>
        </p:spPr>
        <p:txBody>
          <a:bodyPr>
            <a:sp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年收入</a:t>
            </a:r>
            <a:endParaRPr lang="zh-CN" altLang="en-US" sz="1800">
              <a:latin typeface="Arial" panose="020B0604020202020204" pitchFamily="34" charset="0"/>
              <a:ea typeface="微软雅黑" panose="020B0503020204020204" pitchFamily="34" charset="-122"/>
            </a:endParaRPr>
          </a:p>
        </p:txBody>
      </p:sp>
      <p:sp>
        <p:nvSpPr>
          <p:cNvPr id="13" name="文本框 12"/>
          <p:cNvSpPr txBox="1"/>
          <p:nvPr/>
        </p:nvSpPr>
        <p:spPr>
          <a:xfrm>
            <a:off x="1366520" y="4570095"/>
            <a:ext cx="6825615" cy="306705"/>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400">
                <a:latin typeface="仿宋" panose="02010609060101010101" charset="-122"/>
                <a:ea typeface="仿宋" panose="02010609060101010101" charset="-122"/>
                <a:cs typeface="仿宋" panose="02010609060101010101" charset="-122"/>
              </a:rPr>
              <a:t>数据来源：比亚迪</a:t>
            </a:r>
            <a:r>
              <a:rPr lang="en-US" altLang="zh-CN" sz="1400">
                <a:latin typeface="仿宋" panose="02010609060101010101" charset="-122"/>
                <a:ea typeface="仿宋" panose="02010609060101010101" charset="-122"/>
                <a:cs typeface="仿宋" panose="02010609060101010101" charset="-122"/>
              </a:rPr>
              <a:t>2024</a:t>
            </a:r>
            <a:r>
              <a:rPr lang="zh-CN" altLang="en-US" sz="1400">
                <a:latin typeface="仿宋" panose="02010609060101010101" charset="-122"/>
                <a:ea typeface="仿宋" panose="02010609060101010101" charset="-122"/>
                <a:cs typeface="仿宋" panose="02010609060101010101" charset="-122"/>
              </a:rPr>
              <a:t>年报</a:t>
            </a:r>
            <a:endParaRPr lang="zh-CN" altLang="en-US" sz="140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ṡḻîdê"/>
          <p:cNvSpPr/>
          <p:nvPr/>
        </p:nvSpPr>
        <p:spPr>
          <a:xfrm>
            <a:off x="0" y="0"/>
            <a:ext cx="12192000" cy="4159045"/>
          </a:xfrm>
          <a:prstGeom prst="rect">
            <a:avLst/>
          </a:prstGeom>
          <a:solidFill>
            <a:srgbClr val="0E419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pic>
        <p:nvPicPr>
          <p:cNvPr id="17" name="图片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482448" cy="1479808"/>
          </a:xfrm>
          <a:prstGeom prst="rect">
            <a:avLst/>
          </a:prstGeom>
        </p:spPr>
      </p:pic>
      <p:sp>
        <p:nvSpPr>
          <p:cNvPr id="7" name="iš1íḍè"/>
          <p:cNvSpPr/>
          <p:nvPr/>
        </p:nvSpPr>
        <p:spPr>
          <a:xfrm>
            <a:off x="291588" y="1028700"/>
            <a:ext cx="11608824" cy="5615448"/>
          </a:xfrm>
          <a:prstGeom prst="rect">
            <a:avLst/>
          </a:prstGeom>
          <a:solidFill>
            <a:schemeClr val="bg1"/>
          </a:solidFill>
          <a:ln>
            <a:noFill/>
          </a:ln>
          <a:effectLst>
            <a:outerShdw blurRad="139700" dist="63500" dir="3900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ea typeface="微软雅黑" panose="020B0503020204020204" pitchFamily="34" charset="-122"/>
              <a:cs typeface="+mn-cs"/>
            </a:endParaRPr>
          </a:p>
        </p:txBody>
      </p:sp>
      <p:sp>
        <p:nvSpPr>
          <p:cNvPr id="2" name="标题 1"/>
          <p:cNvSpPr>
            <a:spLocks noGrp="1"/>
          </p:cNvSpPr>
          <p:nvPr>
            <p:ph type="title"/>
          </p:nvPr>
        </p:nvSpPr>
        <p:spPr>
          <a:xfrm>
            <a:off x="669924" y="248192"/>
            <a:ext cx="10850563" cy="584563"/>
          </a:xfrm>
        </p:spPr>
        <p:txBody>
          <a:bodyPr/>
          <a:lstStyle/>
          <a:p>
            <a:r>
              <a:rPr lang="zh-CN" altLang="en-US" dirty="0">
                <a:solidFill>
                  <a:schemeClr val="bg1"/>
                </a:solidFill>
                <a:sym typeface="+mn-ea"/>
              </a:rPr>
              <a:t>中国电车出口成功经验</a:t>
            </a:r>
            <a:endParaRPr lang="zh-CN" altLang="en-US" dirty="0">
              <a:solidFill>
                <a:schemeClr val="bg1"/>
              </a:solidFill>
              <a:sym typeface="+mn-ea"/>
            </a:endParaRPr>
          </a:p>
        </p:txBody>
      </p:sp>
      <p:sp>
        <p:nvSpPr>
          <p:cNvPr id="3" name="文本框 2"/>
          <p:cNvSpPr txBox="1"/>
          <p:nvPr/>
        </p:nvSpPr>
        <p:spPr>
          <a:xfrm>
            <a:off x="539115" y="1176760"/>
            <a:ext cx="6096000" cy="460375"/>
          </a:xfrm>
          <a:prstGeom prst="rect">
            <a:avLst/>
          </a:prstGeom>
        </p:spPr>
        <p:txBody>
          <a:bodyPr>
            <a:spAutoFit/>
            <a:extLst>
              <a:ext uri="{4A0BC546-FE56-4ADE-93B0-CB8AF2F6F144}">
                <wpsdc:textFrameExt xmlns:wpsdc="http://www.wps.cn/officeDocument/2022/drawingmlCustomData" type="sub-title"/>
              </a:ext>
            </a:extLst>
          </a:bodyPr>
          <a:p>
            <a:pPr algn="l"/>
            <a:r>
              <a:rPr lang="en-US" sz="2400" spc="200">
                <a:latin typeface="Arial" panose="020B0604020202020204" pitchFamily="34" charset="0"/>
                <a:ea typeface="微软雅黑" panose="020B0503020204020204" pitchFamily="34" charset="-122"/>
              </a:rPr>
              <a:t>2</a:t>
            </a:r>
            <a:r>
              <a:rPr lang="zh-CN" altLang="en-US" sz="2400" spc="200">
                <a:latin typeface="Arial" panose="020B0604020202020204" pitchFamily="34" charset="0"/>
                <a:ea typeface="微软雅黑" panose="020B0503020204020204" pitchFamily="34" charset="-122"/>
              </a:rPr>
              <a:t>、合理的海外市场开拓（以奇瑞</a:t>
            </a:r>
            <a:r>
              <a:rPr lang="zh-CN" altLang="en-US" sz="2400" spc="200">
                <a:latin typeface="Arial" panose="020B0604020202020204" pitchFamily="34" charset="0"/>
                <a:ea typeface="微软雅黑" panose="020B0503020204020204" pitchFamily="34" charset="-122"/>
              </a:rPr>
              <a:t>为例）</a:t>
            </a:r>
            <a:endParaRPr lang="zh-CN" altLang="en-US" sz="2400" spc="200">
              <a:latin typeface="Arial" panose="020B0604020202020204" pitchFamily="34" charset="0"/>
              <a:ea typeface="微软雅黑" panose="020B0503020204020204" pitchFamily="34" charset="-122"/>
            </a:endParaRPr>
          </a:p>
        </p:txBody>
      </p:sp>
      <p:sp>
        <p:nvSpPr>
          <p:cNvPr id="5" name="文本框 4"/>
          <p:cNvSpPr txBox="1"/>
          <p:nvPr/>
        </p:nvSpPr>
        <p:spPr>
          <a:xfrm>
            <a:off x="1189355" y="1769745"/>
            <a:ext cx="9319895" cy="1420495"/>
          </a:xfrm>
          <a:prstGeom prst="rect">
            <a:avLst/>
          </a:prstGeom>
        </p:spPr>
        <p:txBody>
          <a:bodyPr wrap="square">
            <a:spAutoFit/>
            <a:extLst>
              <a:ext uri="{4A0BC546-FE56-4ADE-93B0-CB8AF2F6F144}">
                <wpsdc:textFrameExt xmlns:wpsdc="http://www.wps.cn/officeDocument/2022/drawingmlCustomData" type="text"/>
              </a:ext>
            </a:extLst>
          </a:bodyPr>
          <a:p>
            <a:pPr marL="285750" indent="-285750" algn="l">
              <a:lnSpc>
                <a:spcPct val="160000"/>
              </a:lnSpc>
              <a:buFont typeface="Arial" panose="020B0604020202020204" pitchFamily="34" charset="0"/>
              <a:buChar char="•"/>
            </a:pPr>
            <a:r>
              <a:rPr lang="zh-CN" altLang="en-US">
                <a:latin typeface="Arial" panose="020B0604020202020204" pitchFamily="34" charset="0"/>
                <a:ea typeface="微软雅黑" panose="020B0503020204020204" pitchFamily="34" charset="-122"/>
              </a:rPr>
              <a:t>首先销往门槛较低的中东地区，降低政策成本的消耗</a:t>
            </a:r>
            <a:endParaRPr lang="zh-CN" altLang="en-US">
              <a:latin typeface="Arial" panose="020B0604020202020204" pitchFamily="34" charset="0"/>
              <a:ea typeface="微软雅黑" panose="020B0503020204020204" pitchFamily="34" charset="-122"/>
            </a:endParaRPr>
          </a:p>
          <a:p>
            <a:pPr marL="285750" indent="-285750" algn="l">
              <a:lnSpc>
                <a:spcPct val="160000"/>
              </a:lnSpc>
              <a:buFont typeface="Arial" panose="020B0604020202020204" pitchFamily="34" charset="0"/>
              <a:buChar char="•"/>
            </a:pPr>
            <a:r>
              <a:rPr lang="zh-CN" altLang="en-US">
                <a:latin typeface="Arial" panose="020B0604020202020204" pitchFamily="34" charset="0"/>
                <a:ea typeface="微软雅黑" panose="020B0503020204020204" pitchFamily="34" charset="-122"/>
              </a:rPr>
              <a:t>燃油车出口的成功经验为奇瑞电车的出口打下了良好的海外市场基础</a:t>
            </a:r>
            <a:endParaRPr lang="zh-CN" altLang="en-US">
              <a:latin typeface="Arial" panose="020B0604020202020204" pitchFamily="34" charset="0"/>
              <a:ea typeface="微软雅黑" panose="020B0503020204020204" pitchFamily="34" charset="-122"/>
            </a:endParaRPr>
          </a:p>
          <a:p>
            <a:pPr marL="285750" indent="-285750" algn="l">
              <a:lnSpc>
                <a:spcPct val="160000"/>
              </a:lnSpc>
              <a:buFont typeface="Arial" panose="020B0604020202020204" pitchFamily="34" charset="0"/>
              <a:buChar char="•"/>
            </a:pPr>
            <a:r>
              <a:rPr lang="zh-CN" altLang="en-US">
                <a:latin typeface="Arial" panose="020B0604020202020204" pitchFamily="34" charset="0"/>
                <a:ea typeface="微软雅黑" panose="020B0503020204020204" pitchFamily="34" charset="-122"/>
              </a:rPr>
              <a:t>精准切入中国品牌接受度较高、汽车消费升级需求旺盛的新兴市场</a:t>
            </a:r>
            <a:endParaRPr lang="zh-CN" altLang="en-US">
              <a:latin typeface="Arial" panose="020B0604020202020204" pitchFamily="34" charset="0"/>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415665" y="3378835"/>
            <a:ext cx="5358765" cy="2773045"/>
          </a:xfrm>
          <a:prstGeom prst="rect">
            <a:avLst/>
          </a:prstGeom>
        </p:spPr>
      </p:pic>
      <p:sp>
        <p:nvSpPr>
          <p:cNvPr id="8" name="文本框 7"/>
          <p:cNvSpPr txBox="1"/>
          <p:nvPr/>
        </p:nvSpPr>
        <p:spPr>
          <a:xfrm>
            <a:off x="3415665" y="6242685"/>
            <a:ext cx="5358130" cy="306705"/>
          </a:xfrm>
          <a:prstGeom prst="rect">
            <a:avLst/>
          </a:prstGeom>
        </p:spPr>
        <p:txBody>
          <a:bodyPr wrap="square">
            <a:spAutoFit/>
            <a:extLst>
              <a:ext uri="{4A0BC546-FE56-4ADE-93B0-CB8AF2F6F144}">
                <wpsdc:textFrameExt xmlns:wpsdc="http://www.wps.cn/officeDocument/2022/drawingmlCustomData" type="text"/>
              </a:ext>
            </a:extLst>
          </a:bodyPr>
          <a:p>
            <a:pPr algn="ctr"/>
            <a:r>
              <a:rPr lang="zh-CN" altLang="en-US" sz="1400">
                <a:latin typeface="仿宋" panose="02010609060101010101" charset="-122"/>
                <a:ea typeface="仿宋" panose="02010609060101010101" charset="-122"/>
                <a:cs typeface="仿宋" panose="02010609060101010101" charset="-122"/>
              </a:rPr>
              <a:t>数据来源：奇瑞控股集团官方发布的年度产销快报</a:t>
            </a:r>
            <a:endParaRPr lang="zh-CN" altLang="en-US" sz="140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ṡḻîdê"/>
          <p:cNvSpPr/>
          <p:nvPr/>
        </p:nvSpPr>
        <p:spPr>
          <a:xfrm>
            <a:off x="0" y="0"/>
            <a:ext cx="12192000" cy="4159045"/>
          </a:xfrm>
          <a:prstGeom prst="rect">
            <a:avLst/>
          </a:prstGeom>
          <a:solidFill>
            <a:srgbClr val="0E419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82448" cy="1479808"/>
          </a:xfrm>
          <a:prstGeom prst="rect">
            <a:avLst/>
          </a:prstGeom>
        </p:spPr>
      </p:pic>
      <p:sp>
        <p:nvSpPr>
          <p:cNvPr id="7" name="iš1íḍè"/>
          <p:cNvSpPr/>
          <p:nvPr/>
        </p:nvSpPr>
        <p:spPr>
          <a:xfrm>
            <a:off x="291588" y="1028700"/>
            <a:ext cx="11608824" cy="5615448"/>
          </a:xfrm>
          <a:prstGeom prst="rect">
            <a:avLst/>
          </a:prstGeom>
          <a:solidFill>
            <a:schemeClr val="bg1"/>
          </a:solidFill>
          <a:ln>
            <a:noFill/>
          </a:ln>
          <a:effectLst>
            <a:outerShdw blurRad="139700" dist="63500" dir="3900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ea typeface="微软雅黑" panose="020B0503020204020204" pitchFamily="34" charset="-122"/>
              <a:cs typeface="+mn-cs"/>
            </a:endParaRPr>
          </a:p>
        </p:txBody>
      </p:sp>
      <p:sp>
        <p:nvSpPr>
          <p:cNvPr id="2" name="标题 1"/>
          <p:cNvSpPr>
            <a:spLocks noGrp="1"/>
          </p:cNvSpPr>
          <p:nvPr>
            <p:ph type="title"/>
          </p:nvPr>
        </p:nvSpPr>
        <p:spPr>
          <a:xfrm>
            <a:off x="669924" y="248192"/>
            <a:ext cx="10850563" cy="584563"/>
          </a:xfrm>
        </p:spPr>
        <p:txBody>
          <a:bodyPr/>
          <a:lstStyle/>
          <a:p>
            <a:r>
              <a:rPr lang="zh-CN" altLang="en-US" dirty="0">
                <a:solidFill>
                  <a:schemeClr val="bg1"/>
                </a:solidFill>
                <a:sym typeface="+mn-ea"/>
              </a:rPr>
              <a:t>中国电车出口成功经验</a:t>
            </a:r>
            <a:endParaRPr lang="zh-CN" altLang="en-US" dirty="0">
              <a:solidFill>
                <a:schemeClr val="bg1"/>
              </a:solidFill>
              <a:sym typeface="+mn-ea"/>
            </a:endParaRPr>
          </a:p>
        </p:txBody>
      </p:sp>
      <p:sp>
        <p:nvSpPr>
          <p:cNvPr id="3" name="文本框 2"/>
          <p:cNvSpPr txBox="1"/>
          <p:nvPr/>
        </p:nvSpPr>
        <p:spPr>
          <a:xfrm>
            <a:off x="539115" y="1176760"/>
            <a:ext cx="6096000" cy="460375"/>
          </a:xfrm>
          <a:prstGeom prst="rect">
            <a:avLst/>
          </a:prstGeom>
        </p:spPr>
        <p:txBody>
          <a:bodyPr>
            <a:spAutoFit/>
            <a:extLst>
              <a:ext uri="{4A0BC546-FE56-4ADE-93B0-CB8AF2F6F144}">
                <wpsdc:textFrameExt xmlns:wpsdc="http://www.wps.cn/officeDocument/2022/drawingmlCustomData" type="sub-title"/>
              </a:ext>
            </a:extLst>
          </a:bodyPr>
          <a:p>
            <a:pPr algn="l"/>
            <a:r>
              <a:rPr lang="en-US" sz="2400" spc="200">
                <a:latin typeface="Arial" panose="020B0604020202020204" pitchFamily="34" charset="0"/>
                <a:ea typeface="微软雅黑" panose="020B0503020204020204" pitchFamily="34" charset="-122"/>
              </a:rPr>
              <a:t>2</a:t>
            </a:r>
            <a:r>
              <a:rPr lang="zh-CN" altLang="en-US" sz="2400" spc="200">
                <a:latin typeface="Arial" panose="020B0604020202020204" pitchFamily="34" charset="0"/>
                <a:ea typeface="微软雅黑" panose="020B0503020204020204" pitchFamily="34" charset="-122"/>
              </a:rPr>
              <a:t>、合理的海外市场开拓（以</a:t>
            </a:r>
            <a:r>
              <a:rPr lang="zh-CN" altLang="en-US" sz="2400" spc="200">
                <a:latin typeface="Arial" panose="020B0604020202020204" pitchFamily="34" charset="0"/>
                <a:ea typeface="微软雅黑" panose="020B0503020204020204" pitchFamily="34" charset="-122"/>
              </a:rPr>
              <a:t>比亚迪为例）</a:t>
            </a:r>
            <a:endParaRPr lang="zh-CN" altLang="en-US" sz="2400" spc="200">
              <a:latin typeface="Arial" panose="020B0604020202020204" pitchFamily="34" charset="0"/>
              <a:ea typeface="微软雅黑" panose="020B0503020204020204" pitchFamily="34" charset="-122"/>
            </a:endParaRPr>
          </a:p>
        </p:txBody>
      </p:sp>
      <p:sp>
        <p:nvSpPr>
          <p:cNvPr id="5" name="文本框 4"/>
          <p:cNvSpPr txBox="1"/>
          <p:nvPr/>
        </p:nvSpPr>
        <p:spPr>
          <a:xfrm>
            <a:off x="1189355" y="1769745"/>
            <a:ext cx="9319895" cy="1420495"/>
          </a:xfrm>
          <a:prstGeom prst="rect">
            <a:avLst/>
          </a:prstGeom>
        </p:spPr>
        <p:txBody>
          <a:bodyPr wrap="square">
            <a:spAutoFit/>
            <a:extLst>
              <a:ext uri="{4A0BC546-FE56-4ADE-93B0-CB8AF2F6F144}">
                <wpsdc:textFrameExt xmlns:wpsdc="http://www.wps.cn/officeDocument/2022/drawingmlCustomData" type="text"/>
              </a:ext>
            </a:extLst>
          </a:bodyPr>
          <a:p>
            <a:pPr marL="285750" indent="-285750" algn="l">
              <a:lnSpc>
                <a:spcPct val="160000"/>
              </a:lnSpc>
              <a:buFont typeface="Arial" panose="020B0604020202020204" pitchFamily="34" charset="0"/>
              <a:buChar char="•"/>
            </a:pPr>
            <a:r>
              <a:rPr lang="zh-CN" altLang="en-US">
                <a:latin typeface="Arial" panose="020B0604020202020204" pitchFamily="34" charset="0"/>
                <a:ea typeface="微软雅黑" panose="020B0503020204020204" pitchFamily="34" charset="-122"/>
              </a:rPr>
              <a:t>首先销往标准苛刻的成熟市场，获得品牌背书后，再向其他市场辐射。</a:t>
            </a:r>
            <a:endParaRPr lang="zh-CN" altLang="en-US">
              <a:latin typeface="Arial" panose="020B0604020202020204" pitchFamily="34" charset="0"/>
              <a:ea typeface="微软雅黑" panose="020B0503020204020204" pitchFamily="34" charset="-122"/>
            </a:endParaRPr>
          </a:p>
          <a:p>
            <a:pPr marL="285750" indent="-285750" algn="l">
              <a:lnSpc>
                <a:spcPct val="160000"/>
              </a:lnSpc>
              <a:buFont typeface="Arial" panose="020B0604020202020204" pitchFamily="34" charset="0"/>
              <a:buChar char="•"/>
            </a:pPr>
            <a:r>
              <a:rPr lang="zh-CN" altLang="en-US">
                <a:latin typeface="Arial" panose="020B0604020202020204" pitchFamily="34" charset="0"/>
                <a:ea typeface="微软雅黑" panose="020B0503020204020204" pitchFamily="34" charset="-122"/>
              </a:rPr>
              <a:t>营造高性价比</a:t>
            </a:r>
            <a:r>
              <a:rPr lang="zh-CN" altLang="en-US">
                <a:latin typeface="Arial" panose="020B0604020202020204" pitchFamily="34" charset="0"/>
                <a:ea typeface="微软雅黑" panose="020B0503020204020204" pitchFamily="34" charset="-122"/>
              </a:rPr>
              <a:t>特色，通过技术优势和精准定位来竞争。</a:t>
            </a:r>
            <a:endParaRPr lang="zh-CN" altLang="en-US">
              <a:latin typeface="Arial" panose="020B0604020202020204" pitchFamily="34" charset="0"/>
              <a:ea typeface="微软雅黑" panose="020B0503020204020204" pitchFamily="34" charset="-122"/>
            </a:endParaRPr>
          </a:p>
          <a:p>
            <a:pPr marL="285750" indent="-285750" algn="l">
              <a:lnSpc>
                <a:spcPct val="160000"/>
              </a:lnSpc>
              <a:buFont typeface="Arial" panose="020B0604020202020204" pitchFamily="34" charset="0"/>
              <a:buChar char="•"/>
            </a:pPr>
            <a:r>
              <a:rPr lang="zh-CN" altLang="en-US">
                <a:latin typeface="Arial" panose="020B0604020202020204" pitchFamily="34" charset="0"/>
                <a:ea typeface="微软雅黑" panose="020B0503020204020204" pitchFamily="34" charset="-122"/>
              </a:rPr>
              <a:t>营销方式激进，快速提升在陌生市场</a:t>
            </a:r>
            <a:r>
              <a:rPr lang="zh-CN" altLang="en-US">
                <a:latin typeface="Arial" panose="020B0604020202020204" pitchFamily="34" charset="0"/>
                <a:ea typeface="微软雅黑" panose="020B0503020204020204" pitchFamily="34" charset="-122"/>
              </a:rPr>
              <a:t>知名度。</a:t>
            </a:r>
            <a:endParaRPr lang="zh-CN" altLang="en-US">
              <a:latin typeface="Arial" panose="020B0604020202020204" pitchFamily="34" charset="0"/>
              <a:ea typeface="微软雅黑" panose="020B0503020204020204" pitchFamily="34" charset="-122"/>
            </a:endParaRPr>
          </a:p>
        </p:txBody>
      </p:sp>
      <p:graphicFrame>
        <p:nvGraphicFramePr>
          <p:cNvPr id="9" name="图表 8"/>
          <p:cNvGraphicFramePr/>
          <p:nvPr/>
        </p:nvGraphicFramePr>
        <p:xfrm>
          <a:off x="3262630" y="3587115"/>
          <a:ext cx="5172710" cy="267525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ṡḻîdê"/>
          <p:cNvSpPr/>
          <p:nvPr/>
        </p:nvSpPr>
        <p:spPr>
          <a:xfrm>
            <a:off x="0" y="0"/>
            <a:ext cx="12192000" cy="4159045"/>
          </a:xfrm>
          <a:prstGeom prst="rect">
            <a:avLst/>
          </a:prstGeom>
          <a:solidFill>
            <a:srgbClr val="0E419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pic>
        <p:nvPicPr>
          <p:cNvPr id="17" name="图片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482448" cy="1479808"/>
          </a:xfrm>
          <a:prstGeom prst="rect">
            <a:avLst/>
          </a:prstGeom>
        </p:spPr>
      </p:pic>
      <p:sp>
        <p:nvSpPr>
          <p:cNvPr id="7" name="iš1íḍè"/>
          <p:cNvSpPr/>
          <p:nvPr/>
        </p:nvSpPr>
        <p:spPr>
          <a:xfrm>
            <a:off x="291588" y="1028700"/>
            <a:ext cx="11608824" cy="5615448"/>
          </a:xfrm>
          <a:prstGeom prst="rect">
            <a:avLst/>
          </a:prstGeom>
          <a:solidFill>
            <a:schemeClr val="bg1"/>
          </a:solidFill>
          <a:ln>
            <a:noFill/>
          </a:ln>
          <a:effectLst>
            <a:outerShdw blurRad="139700" dist="63500" dir="3900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ea typeface="微软雅黑" panose="020B0503020204020204" pitchFamily="34" charset="-122"/>
              <a:cs typeface="+mn-cs"/>
            </a:endParaRPr>
          </a:p>
        </p:txBody>
      </p:sp>
      <p:sp>
        <p:nvSpPr>
          <p:cNvPr id="2" name="标题 1"/>
          <p:cNvSpPr>
            <a:spLocks noGrp="1"/>
          </p:cNvSpPr>
          <p:nvPr>
            <p:ph type="title"/>
          </p:nvPr>
        </p:nvSpPr>
        <p:spPr>
          <a:xfrm>
            <a:off x="669924" y="248192"/>
            <a:ext cx="10850563" cy="584563"/>
          </a:xfrm>
        </p:spPr>
        <p:txBody>
          <a:bodyPr/>
          <a:lstStyle/>
          <a:p>
            <a:r>
              <a:rPr lang="zh-CN" altLang="en-US" dirty="0">
                <a:solidFill>
                  <a:schemeClr val="bg1"/>
                </a:solidFill>
                <a:sym typeface="+mn-ea"/>
              </a:rPr>
              <a:t>中国电车出口成功经验</a:t>
            </a:r>
            <a:endParaRPr lang="zh-CN" altLang="en-US" dirty="0">
              <a:solidFill>
                <a:schemeClr val="bg1"/>
              </a:solidFill>
              <a:sym typeface="+mn-ea"/>
            </a:endParaRPr>
          </a:p>
        </p:txBody>
      </p:sp>
      <p:sp>
        <p:nvSpPr>
          <p:cNvPr id="3" name="文本框 2"/>
          <p:cNvSpPr txBox="1"/>
          <p:nvPr/>
        </p:nvSpPr>
        <p:spPr>
          <a:xfrm>
            <a:off x="539115" y="1176760"/>
            <a:ext cx="6096000" cy="460375"/>
          </a:xfrm>
          <a:prstGeom prst="rect">
            <a:avLst/>
          </a:prstGeom>
        </p:spPr>
        <p:txBody>
          <a:bodyPr>
            <a:spAutoFit/>
            <a:extLst>
              <a:ext uri="{4A0BC546-FE56-4ADE-93B0-CB8AF2F6F144}">
                <wpsdc:textFrameExt xmlns:wpsdc="http://www.wps.cn/officeDocument/2022/drawingmlCustomData" type="sub-title"/>
              </a:ext>
            </a:extLst>
          </a:bodyPr>
          <a:p>
            <a:pPr algn="l"/>
            <a:r>
              <a:rPr lang="en-US" sz="2400" spc="200">
                <a:latin typeface="Arial" panose="020B0604020202020204" pitchFamily="34" charset="0"/>
                <a:ea typeface="微软雅黑" panose="020B0503020204020204" pitchFamily="34" charset="-122"/>
              </a:rPr>
              <a:t>3</a:t>
            </a:r>
            <a:r>
              <a:rPr lang="zh-CN" altLang="en-US" sz="2400" spc="200">
                <a:latin typeface="Arial" panose="020B0604020202020204" pitchFamily="34" charset="0"/>
                <a:ea typeface="微软雅黑" panose="020B0503020204020204" pitchFamily="34" charset="-122"/>
              </a:rPr>
              <a:t>、正确的本土化战略政策</a:t>
            </a:r>
            <a:endParaRPr lang="zh-CN" altLang="en-US" sz="2400" spc="200">
              <a:latin typeface="Arial" panose="020B0604020202020204" pitchFamily="34" charset="0"/>
              <a:ea typeface="微软雅黑" panose="020B0503020204020204" pitchFamily="34" charset="-122"/>
            </a:endParaRPr>
          </a:p>
        </p:txBody>
      </p:sp>
      <p:sp>
        <p:nvSpPr>
          <p:cNvPr id="5" name="文本框 4"/>
          <p:cNvSpPr txBox="1"/>
          <p:nvPr/>
        </p:nvSpPr>
        <p:spPr>
          <a:xfrm>
            <a:off x="1189355" y="1572260"/>
            <a:ext cx="9319895" cy="1032510"/>
          </a:xfrm>
          <a:prstGeom prst="rect">
            <a:avLst/>
          </a:prstGeom>
        </p:spPr>
        <p:txBody>
          <a:bodyPr wrap="square">
            <a:spAutoFit/>
            <a:extLst>
              <a:ext uri="{4A0BC546-FE56-4ADE-93B0-CB8AF2F6F144}">
                <wpsdc:textFrameExt xmlns:wpsdc="http://www.wps.cn/officeDocument/2022/drawingmlCustomData" type="text"/>
              </a:ext>
            </a:extLst>
          </a:bodyPr>
          <a:p>
            <a:pPr algn="ctr">
              <a:lnSpc>
                <a:spcPct val="170000"/>
              </a:lnSpc>
            </a:pPr>
            <a:r>
              <a:rPr lang="zh-CN" altLang="en-US" sz="1800">
                <a:solidFill>
                  <a:schemeClr val="tx1"/>
                </a:solidFill>
                <a:latin typeface="Arial" panose="020B0604020202020204" pitchFamily="34" charset="0"/>
                <a:ea typeface="微软雅黑" panose="020B0503020204020204" pitchFamily="34" charset="-122"/>
              </a:rPr>
              <a:t>关注当地市场不同个性化需求</a:t>
            </a:r>
            <a:endParaRPr lang="zh-CN" altLang="en-US" sz="1800">
              <a:solidFill>
                <a:schemeClr val="tx1"/>
              </a:solidFill>
              <a:latin typeface="Arial" panose="020B0604020202020204" pitchFamily="34" charset="0"/>
              <a:ea typeface="微软雅黑" panose="020B0503020204020204" pitchFamily="34" charset="-122"/>
            </a:endParaRPr>
          </a:p>
          <a:p>
            <a:pPr algn="ctr">
              <a:lnSpc>
                <a:spcPct val="170000"/>
              </a:lnSpc>
            </a:pPr>
            <a:r>
              <a:rPr lang="zh-CN" altLang="en-US" sz="1800" b="1">
                <a:solidFill>
                  <a:srgbClr val="FF0000"/>
                </a:solidFill>
                <a:latin typeface="Arial" panose="020B0604020202020204" pitchFamily="34" charset="0"/>
                <a:ea typeface="微软雅黑" panose="020B0503020204020204" pitchFamily="34" charset="-122"/>
              </a:rPr>
              <a:t>本土化生产</a:t>
            </a:r>
            <a:r>
              <a:rPr lang="en-US" altLang="zh-CN" sz="1800" b="1">
                <a:solidFill>
                  <a:srgbClr val="FF0000"/>
                </a:solidFill>
                <a:latin typeface="Arial" panose="020B0604020202020204" pitchFamily="34" charset="0"/>
                <a:ea typeface="微软雅黑" panose="020B0503020204020204" pitchFamily="34" charset="-122"/>
              </a:rPr>
              <a:t>→</a:t>
            </a:r>
            <a:r>
              <a:rPr lang="zh-CN" altLang="en-US" sz="1800" b="1">
                <a:solidFill>
                  <a:srgbClr val="FF0000"/>
                </a:solidFill>
                <a:latin typeface="Arial" panose="020B0604020202020204" pitchFamily="34" charset="0"/>
                <a:ea typeface="微软雅黑" panose="020B0503020204020204" pitchFamily="34" charset="-122"/>
              </a:rPr>
              <a:t>本土化研发与营销</a:t>
            </a:r>
            <a:endParaRPr lang="zh-CN" altLang="en-US" sz="1800" b="1">
              <a:solidFill>
                <a:srgbClr val="FF0000"/>
              </a:solidFill>
              <a:latin typeface="Arial" panose="020B0604020202020204" pitchFamily="34" charset="0"/>
              <a:ea typeface="微软雅黑" panose="020B0503020204020204" pitchFamily="34" charset="-122"/>
            </a:endParaRPr>
          </a:p>
        </p:txBody>
      </p:sp>
      <p:sp>
        <p:nvSpPr>
          <p:cNvPr id="9" name="文本框 8"/>
          <p:cNvSpPr txBox="1"/>
          <p:nvPr/>
        </p:nvSpPr>
        <p:spPr>
          <a:xfrm>
            <a:off x="1445895" y="5763895"/>
            <a:ext cx="3566795" cy="64516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微软雅黑" panose="020B0503020204020204" pitchFamily="34" charset="-122"/>
              </a:rPr>
              <a:t>图为奇瑞与西班牙</a:t>
            </a:r>
            <a:r>
              <a:rPr lang="en-US" altLang="zh-CN" sz="180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微软雅黑" panose="020B0503020204020204" pitchFamily="34" charset="-122"/>
              </a:rPr>
              <a:t>EV MOTORS</a:t>
            </a:r>
            <a:r>
              <a:rPr lang="zh-CN" altLang="en-US" sz="180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微软雅黑" panose="020B0503020204020204" pitchFamily="34" charset="-122"/>
              </a:rPr>
              <a:t>合资工厂迎来首台车</a:t>
            </a:r>
            <a:r>
              <a:rPr lang="en-US" altLang="zh-CN" sz="180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微软雅黑" panose="020B0503020204020204" pitchFamily="34" charset="-122"/>
              </a:rPr>
              <a:t>S700</a:t>
            </a:r>
            <a:r>
              <a:rPr lang="zh-CN" altLang="en-US" sz="180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微软雅黑" panose="020B0503020204020204" pitchFamily="34" charset="-122"/>
              </a:rPr>
              <a:t>下线</a:t>
            </a:r>
            <a:endParaRPr lang="zh-CN" altLang="en-US" sz="180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965835" y="2638425"/>
            <a:ext cx="4527550" cy="2948305"/>
          </a:xfrm>
          <a:prstGeom prst="rect">
            <a:avLst/>
          </a:prstGeom>
        </p:spPr>
      </p:pic>
      <p:pic>
        <p:nvPicPr>
          <p:cNvPr id="8" name="图片 7"/>
          <p:cNvPicPr>
            <a:picLocks noChangeAspect="1"/>
          </p:cNvPicPr>
          <p:nvPr/>
        </p:nvPicPr>
        <p:blipFill>
          <a:blip r:embed="rId3"/>
          <a:stretch>
            <a:fillRect/>
          </a:stretch>
        </p:blipFill>
        <p:spPr>
          <a:xfrm>
            <a:off x="6465570" y="2637790"/>
            <a:ext cx="4617085" cy="2948305"/>
          </a:xfrm>
          <a:prstGeom prst="rect">
            <a:avLst/>
          </a:prstGeom>
        </p:spPr>
      </p:pic>
      <p:sp>
        <p:nvSpPr>
          <p:cNvPr id="10" name="文本框 9"/>
          <p:cNvSpPr txBox="1"/>
          <p:nvPr/>
        </p:nvSpPr>
        <p:spPr>
          <a:xfrm>
            <a:off x="6990715" y="5763895"/>
            <a:ext cx="3566795" cy="36830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微软雅黑" panose="020B0503020204020204" pitchFamily="34" charset="-122"/>
              </a:rPr>
              <a:t>图为比亚迪泰国罗勇府</a:t>
            </a:r>
            <a:r>
              <a:rPr lang="zh-CN" altLang="en-US" sz="180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微软雅黑" panose="020B0503020204020204" pitchFamily="34" charset="-122"/>
              </a:rPr>
              <a:t>工厂竣工</a:t>
            </a:r>
            <a:endParaRPr lang="zh-CN" altLang="en-US" sz="180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ṡḻîdê"/>
          <p:cNvSpPr/>
          <p:nvPr/>
        </p:nvSpPr>
        <p:spPr>
          <a:xfrm>
            <a:off x="0" y="0"/>
            <a:ext cx="12192000" cy="4159045"/>
          </a:xfrm>
          <a:prstGeom prst="rect">
            <a:avLst/>
          </a:prstGeom>
          <a:solidFill>
            <a:srgbClr val="0E419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pic>
        <p:nvPicPr>
          <p:cNvPr id="17" name="图片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482448" cy="1479808"/>
          </a:xfrm>
          <a:prstGeom prst="rect">
            <a:avLst/>
          </a:prstGeom>
        </p:spPr>
      </p:pic>
      <p:sp>
        <p:nvSpPr>
          <p:cNvPr id="7" name="iš1íḍè"/>
          <p:cNvSpPr/>
          <p:nvPr/>
        </p:nvSpPr>
        <p:spPr>
          <a:xfrm>
            <a:off x="291588" y="1028700"/>
            <a:ext cx="11608824" cy="5615448"/>
          </a:xfrm>
          <a:prstGeom prst="rect">
            <a:avLst/>
          </a:prstGeom>
          <a:solidFill>
            <a:schemeClr val="bg1"/>
          </a:solidFill>
          <a:ln>
            <a:noFill/>
          </a:ln>
          <a:effectLst>
            <a:outerShdw blurRad="139700" dist="63500" dir="3900000" algn="t"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ea typeface="微软雅黑" panose="020B0503020204020204" pitchFamily="34" charset="-122"/>
              <a:cs typeface="+mn-cs"/>
            </a:endParaRPr>
          </a:p>
        </p:txBody>
      </p:sp>
      <p:sp>
        <p:nvSpPr>
          <p:cNvPr id="2" name="标题 1"/>
          <p:cNvSpPr>
            <a:spLocks noGrp="1"/>
          </p:cNvSpPr>
          <p:nvPr>
            <p:ph type="title"/>
          </p:nvPr>
        </p:nvSpPr>
        <p:spPr>
          <a:xfrm>
            <a:off x="669924" y="248192"/>
            <a:ext cx="10850563" cy="584563"/>
          </a:xfrm>
        </p:spPr>
        <p:txBody>
          <a:bodyPr/>
          <a:lstStyle/>
          <a:p>
            <a:r>
              <a:rPr lang="zh-CN" altLang="en-US" dirty="0">
                <a:solidFill>
                  <a:schemeClr val="bg1"/>
                </a:solidFill>
              </a:rPr>
              <a:t>总结</a:t>
            </a:r>
            <a:endParaRPr lang="zh-CN" altLang="en-US" dirty="0">
              <a:solidFill>
                <a:schemeClr val="bg1"/>
              </a:solidFill>
            </a:endParaRPr>
          </a:p>
        </p:txBody>
      </p:sp>
      <p:sp>
        <p:nvSpPr>
          <p:cNvPr id="3" name="文本框 2"/>
          <p:cNvSpPr txBox="1"/>
          <p:nvPr/>
        </p:nvSpPr>
        <p:spPr>
          <a:xfrm>
            <a:off x="669925" y="1417955"/>
            <a:ext cx="10577195" cy="5600700"/>
          </a:xfrm>
          <a:prstGeom prst="rect">
            <a:avLst/>
          </a:prstGeom>
        </p:spPr>
        <p:txBody>
          <a:bodyPr>
            <a:noAutofit/>
            <a:extLst>
              <a:ext uri="{4A0BC546-FE56-4ADE-93B0-CB8AF2F6F144}">
                <wpsdc:textFrameExt xmlns:wpsdc="http://www.wps.cn/officeDocument/2022/drawingmlCustomData" type="text"/>
              </a:ext>
            </a:extLst>
          </a:bodyPr>
          <a:p>
            <a:pPr algn="l">
              <a:lnSpc>
                <a:spcPct val="140000"/>
              </a:lnSpc>
            </a:pPr>
            <a:r>
              <a:rPr lang="en-US" altLang="zh-CN" sz="2000">
                <a:latin typeface="Arial" panose="020B0604020202020204" pitchFamily="34" charset="0"/>
                <a:ea typeface="微软雅黑" panose="020B0503020204020204" pitchFamily="34" charset="-122"/>
              </a:rPr>
              <a:t>       </a:t>
            </a:r>
            <a:r>
              <a:rPr lang="zh-CN" altLang="en-US" sz="2000">
                <a:latin typeface="Arial" panose="020B0604020202020204" pitchFamily="34" charset="0"/>
                <a:ea typeface="微软雅黑" panose="020B0503020204020204" pitchFamily="34" charset="-122"/>
              </a:rPr>
              <a:t>在战略层面，以比亚迪为代表的车企采取</a:t>
            </a:r>
            <a:r>
              <a:rPr lang="en-US" altLang="zh-CN" sz="2000">
                <a:latin typeface="Arial" panose="020B0604020202020204" pitchFamily="34" charset="0"/>
                <a:ea typeface="微软雅黑" panose="020B0503020204020204" pitchFamily="34" charset="-122"/>
              </a:rPr>
              <a:t>"</a:t>
            </a:r>
            <a:r>
              <a:rPr lang="zh-CN" altLang="en-US" sz="2000">
                <a:latin typeface="Arial" panose="020B0604020202020204" pitchFamily="34" charset="0"/>
                <a:ea typeface="微软雅黑" panose="020B0503020204020204" pitchFamily="34" charset="-122"/>
              </a:rPr>
              <a:t>高举高打</a:t>
            </a:r>
            <a:r>
              <a:rPr lang="en-US" altLang="zh-CN" sz="2000">
                <a:latin typeface="Arial" panose="020B0604020202020204" pitchFamily="34" charset="0"/>
                <a:ea typeface="微软雅黑" panose="020B0503020204020204" pitchFamily="34" charset="-122"/>
              </a:rPr>
              <a:t>"</a:t>
            </a:r>
            <a:r>
              <a:rPr lang="zh-CN" altLang="en-US" sz="2000">
                <a:latin typeface="Arial" panose="020B0604020202020204" pitchFamily="34" charset="0"/>
                <a:ea typeface="微软雅黑" panose="020B0503020204020204" pitchFamily="34" charset="-122"/>
              </a:rPr>
              <a:t>策略，率先进入欧洲等成熟市场建立品牌形象，再辐射新兴市场；而以奇瑞为代表的车企则采取渐进式策略，从中东等门槛较低的市场切入，逐步扩大海外布局。</a:t>
            </a:r>
            <a:endParaRPr lang="zh-CN" altLang="en-US" sz="2000">
              <a:latin typeface="Arial" panose="020B0604020202020204" pitchFamily="34" charset="0"/>
              <a:ea typeface="微软雅黑" panose="020B0503020204020204" pitchFamily="34" charset="-122"/>
            </a:endParaRPr>
          </a:p>
          <a:p>
            <a:pPr algn="l">
              <a:lnSpc>
                <a:spcPct val="140000"/>
              </a:lnSpc>
            </a:pPr>
            <a:r>
              <a:rPr lang="zh-CN" altLang="en-US" sz="2000">
                <a:latin typeface="Arial" panose="020B0604020202020204" pitchFamily="34" charset="0"/>
                <a:ea typeface="微软雅黑" panose="020B0503020204020204" pitchFamily="34" charset="-122"/>
              </a:rPr>
              <a:t> </a:t>
            </a:r>
            <a:r>
              <a:rPr lang="en-US" altLang="zh-CN" sz="2000">
                <a:latin typeface="Arial" panose="020B0604020202020204" pitchFamily="34" charset="0"/>
                <a:ea typeface="微软雅黑" panose="020B0503020204020204" pitchFamily="34" charset="-122"/>
              </a:rPr>
              <a:t>      </a:t>
            </a:r>
            <a:r>
              <a:rPr lang="zh-CN" altLang="en-US" sz="2000">
                <a:latin typeface="Arial" panose="020B0604020202020204" pitchFamily="34" charset="0"/>
                <a:ea typeface="微软雅黑" panose="020B0503020204020204" pitchFamily="34" charset="-122"/>
              </a:rPr>
              <a:t>在产品层面，中国企业</a:t>
            </a:r>
            <a:r>
              <a:rPr lang="zh-CN" altLang="en-US" sz="2000">
                <a:latin typeface="Arial" panose="020B0604020202020204" pitchFamily="34" charset="0"/>
                <a:ea typeface="微软雅黑" panose="020B0503020204020204" pitchFamily="34" charset="-122"/>
              </a:rPr>
              <a:t>应充分发挥在新能源赛道上的先发优势，通过核心技术自研和完整的产业链布局，打造出具有竞争力的产品。</a:t>
            </a:r>
            <a:endParaRPr lang="en-US" altLang="zh-CN" sz="2000">
              <a:latin typeface="Arial" panose="020B0604020202020204" pitchFamily="34" charset="0"/>
              <a:ea typeface="微软雅黑" panose="020B0503020204020204" pitchFamily="34" charset="-122"/>
            </a:endParaRPr>
          </a:p>
          <a:p>
            <a:pPr algn="l">
              <a:lnSpc>
                <a:spcPct val="140000"/>
              </a:lnSpc>
            </a:pPr>
            <a:r>
              <a:rPr lang="en-US" altLang="zh-CN" sz="2000">
                <a:latin typeface="Arial" panose="020B0604020202020204" pitchFamily="34" charset="0"/>
                <a:ea typeface="微软雅黑" panose="020B0503020204020204" pitchFamily="34" charset="-122"/>
              </a:rPr>
              <a:t>       </a:t>
            </a:r>
            <a:r>
              <a:rPr lang="zh-CN" altLang="en-US" sz="2000">
                <a:latin typeface="Arial" panose="020B0604020202020204" pitchFamily="34" charset="0"/>
                <a:ea typeface="微软雅黑" panose="020B0503020204020204" pitchFamily="34" charset="-122"/>
              </a:rPr>
              <a:t>部分中国车企</a:t>
            </a:r>
            <a:r>
              <a:rPr lang="zh-CN" altLang="en-US" sz="2000">
                <a:latin typeface="Arial" panose="020B0604020202020204" pitchFamily="34" charset="0"/>
                <a:ea typeface="微软雅黑" panose="020B0503020204020204" pitchFamily="34" charset="-122"/>
              </a:rPr>
              <a:t>积极推进本土化战略，在泰国、巴西等地建立生产基地，实现从出口到本地化生产的转变。当前，中国电动汽车出口目的地日趋多元化，从欧洲成熟市场到东南亚、中东等新兴市场均保持良好增长态势。</a:t>
            </a:r>
            <a:r>
              <a:rPr lang="en-US" altLang="zh-CN" sz="2000">
                <a:latin typeface="Arial" panose="020B0604020202020204" pitchFamily="34" charset="0"/>
                <a:ea typeface="微软雅黑" panose="020B0503020204020204" pitchFamily="34" charset="-122"/>
              </a:rPr>
              <a:t>  </a:t>
            </a:r>
            <a:endParaRPr lang="zh-CN" altLang="en-US" sz="2000">
              <a:latin typeface="Arial" panose="020B0604020202020204" pitchFamily="34" charset="0"/>
              <a:ea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resource_record_key" val="{&quot;70&quot;:[3333429,3322031],&quot;8&quot;:[20468498,20472200]}"/>
</p:tagLst>
</file>

<file path=ppt/theme/theme1.xml><?xml version="1.0" encoding="utf-8"?>
<a:theme xmlns:a="http://schemas.openxmlformats.org/drawingml/2006/main" name="主题5">
  <a:themeElements>
    <a:clrScheme name="20171020-02">
      <a:dk1>
        <a:srgbClr val="000000"/>
      </a:dk1>
      <a:lt1>
        <a:srgbClr val="FFFFFF"/>
      </a:lt1>
      <a:dk2>
        <a:srgbClr val="778495"/>
      </a:dk2>
      <a:lt2>
        <a:srgbClr val="F0F0F0"/>
      </a:lt2>
      <a:accent1>
        <a:srgbClr val="2B4E72"/>
      </a:accent1>
      <a:accent2>
        <a:srgbClr val="2790B0"/>
      </a:accent2>
      <a:accent3>
        <a:srgbClr val="94BA65"/>
      </a:accent3>
      <a:accent4>
        <a:srgbClr val="353432"/>
      </a:accent4>
      <a:accent5>
        <a:srgbClr val="4E4D4A"/>
      </a:accent5>
      <a:accent6>
        <a:srgbClr val="BFBFBF"/>
      </a:accent6>
      <a:hlink>
        <a:srgbClr val="0077B5"/>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自定义 16">
    <a:dk1>
      <a:srgbClr val="000000"/>
    </a:dk1>
    <a:lt1>
      <a:srgbClr val="FFFFFF"/>
    </a:lt1>
    <a:dk2>
      <a:srgbClr val="44546A"/>
    </a:dk2>
    <a:lt2>
      <a:srgbClr val="E7E6E6"/>
    </a:lt2>
    <a:accent1>
      <a:srgbClr val="365B7C"/>
    </a:accent1>
    <a:accent2>
      <a:srgbClr val="966480"/>
    </a:accent2>
    <a:accent3>
      <a:srgbClr val="DD5F71"/>
    </a:accent3>
    <a:accent4>
      <a:srgbClr val="365B7C"/>
    </a:accent4>
    <a:accent5>
      <a:srgbClr val="966480"/>
    </a:accent5>
    <a:accent6>
      <a:srgbClr val="365B7C"/>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1392</Words>
  <Application>WPS 演示</Application>
  <PresentationFormat>自定义</PresentationFormat>
  <Paragraphs>179</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宋体</vt:lpstr>
      <vt:lpstr>Wingdings</vt:lpstr>
      <vt:lpstr>微软雅黑</vt:lpstr>
      <vt:lpstr>Arial</vt:lpstr>
      <vt:lpstr>Adobe Gothic Std B</vt:lpstr>
      <vt:lpstr>Yu Gothic UI Semibold</vt:lpstr>
      <vt:lpstr>仿宋</vt:lpstr>
      <vt:lpstr>Arial Unicode MS</vt:lpstr>
      <vt:lpstr>Calibri</vt:lpstr>
      <vt:lpstr>Stymie Std Light Italic</vt:lpstr>
      <vt:lpstr>主题5</vt:lpstr>
      <vt:lpstr>PowerPoint 演示文稿</vt:lpstr>
      <vt:lpstr>中国电车海外市场宏观概况</vt:lpstr>
      <vt:lpstr>中国电车海外市场宏观概况</vt:lpstr>
      <vt:lpstr>中国电车海外市场概况</vt:lpstr>
      <vt:lpstr>中国电车出口成功经验</vt:lpstr>
      <vt:lpstr>中国电车出口成功经验</vt:lpstr>
      <vt:lpstr>中国电车出口成功经验</vt:lpstr>
      <vt:lpstr>中国电车出口成功经验</vt:lpstr>
      <vt:lpstr>中国电车出口成功经验</vt:lpstr>
      <vt:lpstr>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傅 永鸿</dc:creator>
  <cp:lastModifiedBy>小蝈蝈</cp:lastModifiedBy>
  <cp:revision>27</cp:revision>
  <dcterms:created xsi:type="dcterms:W3CDTF">2018-10-08T12:30:00Z</dcterms:created>
  <dcterms:modified xsi:type="dcterms:W3CDTF">2025-11-11T06:14:35Z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CF7F5FB35F2E4EAAB83E9EFE153DEF94_13</vt:lpwstr>
  </property>
  <property fmtid="{D5CDD505-2E9C-101B-9397-08002B2CF9AE}" pid="3" name="KSOProductBuildVer">
    <vt:lpwstr>2052-12.1.0.23542</vt:lpwstr>
  </property>
</Properties>
</file>