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2" d="100"/>
          <a:sy n="102" d="100"/>
        </p:scale>
        <p:origin x="108"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海尔</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海外营业收入（亿元）</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2021年</c:v>
                </c:pt>
                <c:pt idx="1">
                  <c:v>2022年</c:v>
                </c:pt>
                <c:pt idx="2">
                  <c:v>2023年</c:v>
                </c:pt>
                <c:pt idx="3">
                  <c:v>2024年</c:v>
                </c:pt>
              </c:strCache>
            </c:strRef>
          </c:cat>
          <c:val>
            <c:numRef>
              <c:f>Sheet1!$B$2:$B$5</c:f>
              <c:numCache>
                <c:formatCode>General</c:formatCode>
                <c:ptCount val="4"/>
                <c:pt idx="0">
                  <c:v>1137.3</c:v>
                </c:pt>
                <c:pt idx="1">
                  <c:v>1250.8</c:v>
                </c:pt>
                <c:pt idx="2">
                  <c:v>1364.6</c:v>
                </c:pt>
                <c:pt idx="3">
                  <c:v>1438.14</c:v>
                </c:pt>
              </c:numCache>
            </c:numRef>
          </c:val>
          <c:smooth val="0"/>
          <c:extLst>
            <c:ext xmlns:c16="http://schemas.microsoft.com/office/drawing/2014/chart" uri="{C3380CC4-5D6E-409C-BE32-E72D297353CC}">
              <c16:uniqueId val="{00000000-F494-40E0-BC4B-76B10FE69D8E}"/>
            </c:ext>
          </c:extLst>
        </c:ser>
        <c:dLbls>
          <c:dLblPos val="ctr"/>
          <c:showLegendKey val="0"/>
          <c:showVal val="1"/>
          <c:showCatName val="0"/>
          <c:showSerName val="0"/>
          <c:showPercent val="0"/>
          <c:showBubbleSize val="0"/>
        </c:dLbls>
        <c:smooth val="0"/>
        <c:axId val="667215760"/>
        <c:axId val="667216240"/>
      </c:lineChart>
      <c:catAx>
        <c:axId val="66721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67216240"/>
        <c:crosses val="autoZero"/>
        <c:auto val="1"/>
        <c:lblAlgn val="ctr"/>
        <c:lblOffset val="100"/>
        <c:noMultiLvlLbl val="0"/>
      </c:catAx>
      <c:valAx>
        <c:axId val="667216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67215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美的</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海外营业收入（亿元）</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2021年</c:v>
                </c:pt>
                <c:pt idx="1">
                  <c:v>2022年</c:v>
                </c:pt>
                <c:pt idx="2">
                  <c:v>2023年</c:v>
                </c:pt>
                <c:pt idx="3">
                  <c:v>2024年</c:v>
                </c:pt>
              </c:strCache>
            </c:strRef>
          </c:cat>
          <c:val>
            <c:numRef>
              <c:f>Sheet1!$B$2:$B$5</c:f>
              <c:numCache>
                <c:formatCode>General</c:formatCode>
                <c:ptCount val="4"/>
                <c:pt idx="0">
                  <c:v>1376.53</c:v>
                </c:pt>
                <c:pt idx="1">
                  <c:v>1426</c:v>
                </c:pt>
                <c:pt idx="2">
                  <c:v>1508</c:v>
                </c:pt>
                <c:pt idx="3">
                  <c:v>1690.34</c:v>
                </c:pt>
              </c:numCache>
            </c:numRef>
          </c:val>
          <c:smooth val="0"/>
          <c:extLst>
            <c:ext xmlns:c16="http://schemas.microsoft.com/office/drawing/2014/chart" uri="{C3380CC4-5D6E-409C-BE32-E72D297353CC}">
              <c16:uniqueId val="{00000000-0AAC-4061-84AA-B4B266F41ECA}"/>
            </c:ext>
          </c:extLst>
        </c:ser>
        <c:dLbls>
          <c:dLblPos val="ctr"/>
          <c:showLegendKey val="0"/>
          <c:showVal val="1"/>
          <c:showCatName val="0"/>
          <c:showSerName val="0"/>
          <c:showPercent val="0"/>
          <c:showBubbleSize val="0"/>
        </c:dLbls>
        <c:smooth val="0"/>
        <c:axId val="1193520624"/>
        <c:axId val="1193520144"/>
      </c:lineChart>
      <c:catAx>
        <c:axId val="1193520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193520144"/>
        <c:crosses val="autoZero"/>
        <c:auto val="1"/>
        <c:lblAlgn val="ctr"/>
        <c:lblOffset val="100"/>
        <c:noMultiLvlLbl val="0"/>
      </c:catAx>
      <c:valAx>
        <c:axId val="119352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1935206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D688B9-4659-4112-8A77-F3FB80F4AAB1}" type="datetimeFigureOut">
              <a:rPr lang="zh-CN" altLang="en-US" smtClean="0"/>
              <a:t>2025/11/8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22761-ED5F-4AB0-9D03-A38A4D285548}" type="slidenum">
              <a:rPr lang="zh-CN" altLang="en-US" smtClean="0"/>
              <a:t>‹#›</a:t>
            </a:fld>
            <a:endParaRPr lang="zh-CN" altLang="en-US"/>
          </a:p>
        </p:txBody>
      </p:sp>
    </p:spTree>
    <p:extLst>
      <p:ext uri="{BB962C8B-B14F-4D97-AF65-F5344CB8AC3E}">
        <p14:creationId xmlns:p14="http://schemas.microsoft.com/office/powerpoint/2010/main" val="857476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B22761-ED5F-4AB0-9D03-A38A4D285548}" type="slidenum">
              <a:rPr lang="zh-CN" altLang="en-US" smtClean="0"/>
              <a:t>7</a:t>
            </a:fld>
            <a:endParaRPr lang="zh-CN" altLang="en-US"/>
          </a:p>
        </p:txBody>
      </p:sp>
    </p:spTree>
    <p:extLst>
      <p:ext uri="{BB962C8B-B14F-4D97-AF65-F5344CB8AC3E}">
        <p14:creationId xmlns:p14="http://schemas.microsoft.com/office/powerpoint/2010/main" val="3940050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1535921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2937150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314723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246293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2326083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2855485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1497266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320489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ED35151-B5A5-45D6-A0F8-1245A93E45B3}" type="slidenum">
              <a:rPr lang="zh-CN" altLang="en-US" smtClean="0"/>
              <a:t>‹#›</a:t>
            </a:fld>
            <a:endParaRPr lang="zh-CN" altLang="en-US"/>
          </a:p>
        </p:txBody>
      </p:sp>
      <p:sp>
        <p:nvSpPr>
          <p:cNvPr id="5" name="Date Placeholder 4"/>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Tree>
    <p:extLst>
      <p:ext uri="{BB962C8B-B14F-4D97-AF65-F5344CB8AC3E}">
        <p14:creationId xmlns:p14="http://schemas.microsoft.com/office/powerpoint/2010/main" val="626954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4133856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00183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4065794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04048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4210444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3534321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2428353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9CD2B6-4372-4FA3-B873-BF5591790F14}" type="datetimeFigureOut">
              <a:rPr lang="zh-CN" altLang="en-US" smtClean="0"/>
              <a:t>2025/11/8</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ED35151-B5A5-45D6-A0F8-1245A93E45B3}" type="slidenum">
              <a:rPr lang="zh-CN" altLang="en-US" smtClean="0"/>
              <a:t>‹#›</a:t>
            </a:fld>
            <a:endParaRPr lang="zh-CN" altLang="en-US"/>
          </a:p>
        </p:txBody>
      </p:sp>
    </p:spTree>
    <p:extLst>
      <p:ext uri="{BB962C8B-B14F-4D97-AF65-F5344CB8AC3E}">
        <p14:creationId xmlns:p14="http://schemas.microsoft.com/office/powerpoint/2010/main" val="409180544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F2A479-A5A3-A590-9930-E772DCFA331F}"/>
              </a:ext>
            </a:extLst>
          </p:cNvPr>
          <p:cNvSpPr>
            <a:spLocks noGrp="1"/>
          </p:cNvSpPr>
          <p:nvPr>
            <p:ph type="ctrTitle"/>
          </p:nvPr>
        </p:nvSpPr>
        <p:spPr>
          <a:xfrm>
            <a:off x="1590828" y="1926652"/>
            <a:ext cx="7766936" cy="1646302"/>
          </a:xfrm>
        </p:spPr>
        <p:txBody>
          <a:bodyPr/>
          <a:lstStyle/>
          <a:p>
            <a:r>
              <a:rPr lang="zh-CN" altLang="en-US" b="1" dirty="0">
                <a:solidFill>
                  <a:schemeClr val="tx1"/>
                </a:solidFill>
                <a:latin typeface="宋体" panose="02010600030101010101" pitchFamily="2" charset="-122"/>
                <a:ea typeface="宋体" panose="02010600030101010101" pitchFamily="2" charset="-122"/>
              </a:rPr>
              <a:t>中国家电出海情况研究</a:t>
            </a:r>
          </a:p>
        </p:txBody>
      </p:sp>
      <p:sp>
        <p:nvSpPr>
          <p:cNvPr id="3" name="副标题 2">
            <a:extLst>
              <a:ext uri="{FF2B5EF4-FFF2-40B4-BE49-F238E27FC236}">
                <a16:creationId xmlns:a16="http://schemas.microsoft.com/office/drawing/2014/main" id="{3B52D241-0343-421A-0F2E-61225211A0B3}"/>
              </a:ext>
            </a:extLst>
          </p:cNvPr>
          <p:cNvSpPr>
            <a:spLocks noGrp="1"/>
          </p:cNvSpPr>
          <p:nvPr>
            <p:ph type="subTitle" idx="1"/>
          </p:nvPr>
        </p:nvSpPr>
        <p:spPr/>
        <p:txBody>
          <a:bodyPr/>
          <a:lstStyle/>
          <a:p>
            <a:r>
              <a:rPr lang="en-US" altLang="zh-CN" b="1" dirty="0">
                <a:solidFill>
                  <a:schemeClr val="tx1"/>
                </a:solidFill>
              </a:rPr>
              <a:t>——</a:t>
            </a:r>
            <a:r>
              <a:rPr lang="zh-CN" altLang="en-US" b="1" dirty="0">
                <a:solidFill>
                  <a:schemeClr val="tx1"/>
                </a:solidFill>
                <a:latin typeface="宋体" panose="02010600030101010101" pitchFamily="2" charset="-122"/>
                <a:ea typeface="宋体" panose="02010600030101010101" pitchFamily="2" charset="-122"/>
              </a:rPr>
              <a:t>以海尔、美的、格力为例</a:t>
            </a:r>
            <a:endParaRPr lang="zh-CN" altLang="en-US" b="1" dirty="0">
              <a:solidFill>
                <a:schemeClr val="tx1"/>
              </a:solidFill>
            </a:endParaRPr>
          </a:p>
        </p:txBody>
      </p:sp>
    </p:spTree>
    <p:extLst>
      <p:ext uri="{BB962C8B-B14F-4D97-AF65-F5344CB8AC3E}">
        <p14:creationId xmlns:p14="http://schemas.microsoft.com/office/powerpoint/2010/main" val="383595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4ED0C1-223D-6A47-8678-97F68190E4C8}"/>
              </a:ext>
            </a:extLst>
          </p:cNvPr>
          <p:cNvSpPr>
            <a:spLocks noGrp="1"/>
          </p:cNvSpPr>
          <p:nvPr>
            <p:ph type="title"/>
          </p:nvPr>
        </p:nvSpPr>
        <p:spPr>
          <a:xfrm>
            <a:off x="663374" y="190791"/>
            <a:ext cx="9182084" cy="1320800"/>
          </a:xfrm>
        </p:spPr>
        <p:txBody>
          <a:bodyPr/>
          <a:lstStyle/>
          <a:p>
            <a:r>
              <a:rPr lang="en-US" altLang="zh-CN" b="1" dirty="0">
                <a:solidFill>
                  <a:schemeClr val="tx1"/>
                </a:solidFill>
                <a:latin typeface="宋体" panose="02010600030101010101" pitchFamily="2" charset="-122"/>
                <a:ea typeface="宋体" panose="02010600030101010101" pitchFamily="2" charset="-122"/>
              </a:rPr>
              <a:t>2025</a:t>
            </a:r>
            <a:r>
              <a:rPr lang="zh-CN" altLang="en-US" b="1" dirty="0">
                <a:solidFill>
                  <a:schemeClr val="tx1"/>
                </a:solidFill>
                <a:latin typeface="宋体" panose="02010600030101010101" pitchFamily="2" charset="-122"/>
                <a:ea typeface="宋体" panose="02010600030101010101" pitchFamily="2" charset="-122"/>
              </a:rPr>
              <a:t>上半年三大家电企业海外业务关键指标</a:t>
            </a:r>
          </a:p>
        </p:txBody>
      </p:sp>
      <p:graphicFrame>
        <p:nvGraphicFramePr>
          <p:cNvPr id="5" name="表格 4">
            <a:extLst>
              <a:ext uri="{FF2B5EF4-FFF2-40B4-BE49-F238E27FC236}">
                <a16:creationId xmlns:a16="http://schemas.microsoft.com/office/drawing/2014/main" id="{BA714C9F-C2ED-F8E1-6ABF-A1C57964E051}"/>
              </a:ext>
            </a:extLst>
          </p:cNvPr>
          <p:cNvGraphicFramePr>
            <a:graphicFrameLocks noGrp="1"/>
          </p:cNvGraphicFramePr>
          <p:nvPr>
            <p:extLst>
              <p:ext uri="{D42A27DB-BD31-4B8C-83A1-F6EECF244321}">
                <p14:modId xmlns:p14="http://schemas.microsoft.com/office/powerpoint/2010/main" val="524485349"/>
              </p:ext>
            </p:extLst>
          </p:nvPr>
        </p:nvGraphicFramePr>
        <p:xfrm>
          <a:off x="1687703" y="1270000"/>
          <a:ext cx="7861145" cy="4582552"/>
        </p:xfrm>
        <a:graphic>
          <a:graphicData uri="http://schemas.openxmlformats.org/drawingml/2006/table">
            <a:tbl>
              <a:tblPr/>
              <a:tblGrid>
                <a:gridCol w="2200745">
                  <a:extLst>
                    <a:ext uri="{9D8B030D-6E8A-4147-A177-3AD203B41FA5}">
                      <a16:colId xmlns:a16="http://schemas.microsoft.com/office/drawing/2014/main" val="1264486763"/>
                    </a:ext>
                  </a:extLst>
                </a:gridCol>
                <a:gridCol w="1886800">
                  <a:extLst>
                    <a:ext uri="{9D8B030D-6E8A-4147-A177-3AD203B41FA5}">
                      <a16:colId xmlns:a16="http://schemas.microsoft.com/office/drawing/2014/main" val="39619081"/>
                    </a:ext>
                  </a:extLst>
                </a:gridCol>
                <a:gridCol w="1886800">
                  <a:extLst>
                    <a:ext uri="{9D8B030D-6E8A-4147-A177-3AD203B41FA5}">
                      <a16:colId xmlns:a16="http://schemas.microsoft.com/office/drawing/2014/main" val="3110944399"/>
                    </a:ext>
                  </a:extLst>
                </a:gridCol>
                <a:gridCol w="1886800">
                  <a:extLst>
                    <a:ext uri="{9D8B030D-6E8A-4147-A177-3AD203B41FA5}">
                      <a16:colId xmlns:a16="http://schemas.microsoft.com/office/drawing/2014/main" val="1187900693"/>
                    </a:ext>
                  </a:extLst>
                </a:gridCol>
              </a:tblGrid>
              <a:tr h="269373">
                <a:tc>
                  <a:txBody>
                    <a:bodyPr/>
                    <a:lstStyle/>
                    <a:p>
                      <a:pPr algn="l">
                        <a:lnSpc>
                          <a:spcPts val="1875"/>
                        </a:lnSpc>
                        <a:buNone/>
                      </a:pPr>
                      <a:r>
                        <a:rPr lang="zh-CN" altLang="en-US" sz="1300" b="1" dirty="0">
                          <a:effectLst/>
                          <a:latin typeface="宋体" panose="02010600030101010101" pitchFamily="2" charset="-122"/>
                          <a:ea typeface="宋体" panose="02010600030101010101" pitchFamily="2" charset="-122"/>
                        </a:rPr>
                        <a:t>公司</a:t>
                      </a:r>
                    </a:p>
                  </a:txBody>
                  <a:tcPr marL="66409" marR="73788" marT="46118" marB="46118" anchor="ctr">
                    <a:lnL>
                      <a:noFill/>
                    </a:lnL>
                    <a:lnR>
                      <a:noFill/>
                    </a:lnR>
                    <a:lnT>
                      <a:noFill/>
                    </a:lnT>
                    <a:lnB>
                      <a:noFill/>
                    </a:lnB>
                    <a:solidFill>
                      <a:srgbClr val="FFFFFF"/>
                    </a:solidFill>
                  </a:tcPr>
                </a:tc>
                <a:tc>
                  <a:txBody>
                    <a:bodyPr/>
                    <a:lstStyle/>
                    <a:p>
                      <a:pPr algn="l">
                        <a:lnSpc>
                          <a:spcPts val="1875"/>
                        </a:lnSpc>
                        <a:buNone/>
                      </a:pPr>
                      <a:r>
                        <a:rPr lang="zh-CN" altLang="en-US" sz="1300" b="1" dirty="0">
                          <a:effectLst/>
                          <a:latin typeface="宋体" panose="02010600030101010101" pitchFamily="2" charset="-122"/>
                          <a:ea typeface="宋体" panose="02010600030101010101" pitchFamily="2" charset="-122"/>
                        </a:rPr>
                        <a:t>海外营收</a:t>
                      </a:r>
                    </a:p>
                  </a:txBody>
                  <a:tcPr marL="73788" marR="73788" marT="46118" marB="46118" anchor="ctr">
                    <a:lnL>
                      <a:noFill/>
                    </a:lnL>
                    <a:lnR>
                      <a:noFill/>
                    </a:lnR>
                    <a:lnT>
                      <a:noFill/>
                    </a:lnT>
                    <a:lnB>
                      <a:noFill/>
                    </a:lnB>
                    <a:solidFill>
                      <a:srgbClr val="FFFFFF"/>
                    </a:solidFill>
                  </a:tcPr>
                </a:tc>
                <a:tc>
                  <a:txBody>
                    <a:bodyPr/>
                    <a:lstStyle/>
                    <a:p>
                      <a:pPr algn="l">
                        <a:lnSpc>
                          <a:spcPts val="1875"/>
                        </a:lnSpc>
                        <a:buNone/>
                      </a:pPr>
                      <a:r>
                        <a:rPr lang="zh-CN" altLang="en-US" sz="1300" b="1">
                          <a:effectLst/>
                          <a:latin typeface="宋体" panose="02010600030101010101" pitchFamily="2" charset="-122"/>
                          <a:ea typeface="宋体" panose="02010600030101010101" pitchFamily="2" charset="-122"/>
                        </a:rPr>
                        <a:t>同比增长</a:t>
                      </a:r>
                    </a:p>
                  </a:txBody>
                  <a:tcPr marL="73788" marR="73788" marT="46118" marB="46118" anchor="ctr">
                    <a:lnL>
                      <a:noFill/>
                    </a:lnL>
                    <a:lnR>
                      <a:noFill/>
                    </a:lnR>
                    <a:lnT>
                      <a:noFill/>
                    </a:lnT>
                    <a:lnB>
                      <a:noFill/>
                    </a:lnB>
                    <a:solidFill>
                      <a:srgbClr val="FFFFFF"/>
                    </a:solidFill>
                  </a:tcPr>
                </a:tc>
                <a:tc>
                  <a:txBody>
                    <a:bodyPr/>
                    <a:lstStyle/>
                    <a:p>
                      <a:pPr algn="l">
                        <a:lnSpc>
                          <a:spcPts val="1875"/>
                        </a:lnSpc>
                        <a:buNone/>
                      </a:pPr>
                      <a:r>
                        <a:rPr lang="zh-CN" altLang="en-US" sz="1300" b="1" dirty="0">
                          <a:effectLst/>
                          <a:latin typeface="宋体" panose="02010600030101010101" pitchFamily="2" charset="-122"/>
                          <a:ea typeface="宋体" panose="02010600030101010101" pitchFamily="2" charset="-122"/>
                        </a:rPr>
                        <a:t>业务亮点与战略</a:t>
                      </a:r>
                    </a:p>
                  </a:txBody>
                  <a:tcPr marL="73788" marR="73788" marT="46118" marB="46118" anchor="ctr">
                    <a:lnL>
                      <a:noFill/>
                    </a:lnL>
                    <a:lnR>
                      <a:noFill/>
                    </a:lnR>
                    <a:lnT>
                      <a:noFill/>
                    </a:lnT>
                    <a:lnB>
                      <a:noFill/>
                    </a:lnB>
                    <a:solidFill>
                      <a:srgbClr val="FFFFFF"/>
                    </a:solidFill>
                  </a:tcPr>
                </a:tc>
                <a:extLst>
                  <a:ext uri="{0D108BD9-81ED-4DB2-BD59-A6C34878D82A}">
                    <a16:rowId xmlns:a16="http://schemas.microsoft.com/office/drawing/2014/main" val="3523509267"/>
                  </a:ext>
                </a:extLst>
              </a:tr>
              <a:tr h="1320852">
                <a:tc>
                  <a:txBody>
                    <a:bodyPr/>
                    <a:lstStyle/>
                    <a:p>
                      <a:pPr>
                        <a:lnSpc>
                          <a:spcPts val="1875"/>
                        </a:lnSpc>
                        <a:buNone/>
                      </a:pPr>
                      <a:r>
                        <a:rPr lang="zh-CN" altLang="en-US" sz="1300" b="1" dirty="0">
                          <a:effectLst/>
                          <a:latin typeface="宋体" panose="02010600030101010101" pitchFamily="2" charset="-122"/>
                          <a:ea typeface="宋体" panose="02010600030101010101" pitchFamily="2" charset="-122"/>
                        </a:rPr>
                        <a:t>美的集团</a:t>
                      </a:r>
                    </a:p>
                  </a:txBody>
                  <a:tcPr marL="66409"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dirty="0">
                          <a:effectLst/>
                          <a:latin typeface="宋体" panose="02010600030101010101" pitchFamily="2" charset="-122"/>
                          <a:ea typeface="宋体" panose="02010600030101010101" pitchFamily="2" charset="-122"/>
                        </a:rPr>
                        <a:t>1072 </a:t>
                      </a:r>
                      <a:r>
                        <a:rPr lang="zh-CN" altLang="en-US" sz="1300" b="1" dirty="0">
                          <a:effectLst/>
                          <a:latin typeface="宋体" panose="02010600030101010101" pitchFamily="2" charset="-122"/>
                          <a:ea typeface="宋体" panose="02010600030101010101" pitchFamily="2" charset="-122"/>
                        </a:rPr>
                        <a:t>亿元</a:t>
                      </a:r>
                    </a:p>
                  </a:txBody>
                  <a:tcPr marL="73788"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a:effectLst/>
                          <a:latin typeface="宋体" panose="02010600030101010101" pitchFamily="2" charset="-122"/>
                          <a:ea typeface="宋体" panose="02010600030101010101" pitchFamily="2" charset="-122"/>
                        </a:rPr>
                        <a:t>17.7%</a:t>
                      </a:r>
                    </a:p>
                  </a:txBody>
                  <a:tcPr marL="73788"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dirty="0">
                          <a:effectLst/>
                          <a:latin typeface="宋体" panose="02010600030101010101" pitchFamily="2" charset="-122"/>
                          <a:ea typeface="宋体" panose="02010600030101010101" pitchFamily="2" charset="-122"/>
                        </a:rPr>
                        <a:t>- OBM</a:t>
                      </a:r>
                      <a:r>
                        <a:rPr lang="zh-CN" altLang="en-US" sz="1300" b="1" dirty="0">
                          <a:effectLst/>
                          <a:latin typeface="宋体" panose="02010600030101010101" pitchFamily="2" charset="-122"/>
                          <a:ea typeface="宋体" panose="02010600030101010101" pitchFamily="2" charset="-122"/>
                        </a:rPr>
                        <a:t>（自有品牌）业务占智能家居海外收入比重已超过</a:t>
                      </a:r>
                      <a:r>
                        <a:rPr lang="en-US" altLang="zh-CN" sz="1300" b="1" dirty="0">
                          <a:effectLst/>
                          <a:latin typeface="宋体" panose="02010600030101010101" pitchFamily="2" charset="-122"/>
                          <a:ea typeface="宋体" panose="02010600030101010101" pitchFamily="2" charset="-122"/>
                        </a:rPr>
                        <a:t>45%</a:t>
                      </a:r>
                      <a:r>
                        <a:rPr lang="zh-CN" altLang="en-US" sz="1300" b="1" dirty="0">
                          <a:effectLst/>
                          <a:latin typeface="宋体" panose="02010600030101010101" pitchFamily="2" charset="-122"/>
                          <a:ea typeface="宋体" panose="02010600030101010101" pitchFamily="2" charset="-122"/>
                        </a:rPr>
                        <a:t>。</a:t>
                      </a:r>
                      <a:br>
                        <a:rPr lang="zh-CN" altLang="en-US" sz="1300" b="1" dirty="0">
                          <a:effectLst/>
                          <a:latin typeface="宋体" panose="02010600030101010101" pitchFamily="2" charset="-122"/>
                          <a:ea typeface="宋体" panose="02010600030101010101" pitchFamily="2" charset="-122"/>
                        </a:rPr>
                      </a:br>
                      <a:r>
                        <a:rPr lang="en-US" altLang="zh-CN" sz="1300" b="1" dirty="0">
                          <a:effectLst/>
                          <a:latin typeface="宋体" panose="02010600030101010101" pitchFamily="2" charset="-122"/>
                          <a:ea typeface="宋体" panose="02010600030101010101" pitchFamily="2" charset="-122"/>
                        </a:rPr>
                        <a:t>- </a:t>
                      </a:r>
                      <a:r>
                        <a:rPr lang="zh-CN" altLang="en-US" sz="1300" b="1" dirty="0">
                          <a:effectLst/>
                          <a:latin typeface="宋体" panose="02010600030101010101" pitchFamily="2" charset="-122"/>
                          <a:ea typeface="宋体" panose="02010600030101010101" pitchFamily="2" charset="-122"/>
                        </a:rPr>
                        <a:t>在全球拥有</a:t>
                      </a:r>
                      <a:r>
                        <a:rPr lang="en-US" altLang="zh-CN" sz="1300" b="1" dirty="0">
                          <a:effectLst/>
                          <a:latin typeface="宋体" panose="02010600030101010101" pitchFamily="2" charset="-122"/>
                          <a:ea typeface="宋体" panose="02010600030101010101" pitchFamily="2" charset="-122"/>
                        </a:rPr>
                        <a:t>41</a:t>
                      </a:r>
                      <a:r>
                        <a:rPr lang="zh-CN" altLang="en-US" sz="1300" b="1" dirty="0">
                          <a:effectLst/>
                          <a:latin typeface="宋体" panose="02010600030101010101" pitchFamily="2" charset="-122"/>
                          <a:ea typeface="宋体" panose="02010600030101010101" pitchFamily="2" charset="-122"/>
                        </a:rPr>
                        <a:t>个主要海外生产基地和</a:t>
                      </a:r>
                      <a:r>
                        <a:rPr lang="en-US" altLang="zh-CN" sz="1300" b="1" dirty="0">
                          <a:effectLst/>
                          <a:latin typeface="宋体" panose="02010600030101010101" pitchFamily="2" charset="-122"/>
                          <a:ea typeface="宋体" panose="02010600030101010101" pitchFamily="2" charset="-122"/>
                        </a:rPr>
                        <a:t>22</a:t>
                      </a:r>
                      <a:r>
                        <a:rPr lang="zh-CN" altLang="en-US" sz="1300" b="1" dirty="0">
                          <a:effectLst/>
                          <a:latin typeface="宋体" panose="02010600030101010101" pitchFamily="2" charset="-122"/>
                          <a:ea typeface="宋体" panose="02010600030101010101" pitchFamily="2" charset="-122"/>
                        </a:rPr>
                        <a:t>个海外研发中心。</a:t>
                      </a:r>
                    </a:p>
                  </a:txBody>
                  <a:tcPr marL="73788" marR="66409" marT="46118" marB="46118" anchor="ctr">
                    <a:lnL>
                      <a:noFill/>
                    </a:lnL>
                    <a:lnR>
                      <a:noFill/>
                    </a:lnR>
                    <a:lnT>
                      <a:noFill/>
                    </a:lnT>
                    <a:lnB>
                      <a:noFill/>
                    </a:lnB>
                    <a:solidFill>
                      <a:srgbClr val="FFFFFF"/>
                    </a:solidFill>
                  </a:tcPr>
                </a:tc>
                <a:extLst>
                  <a:ext uri="{0D108BD9-81ED-4DB2-BD59-A6C34878D82A}">
                    <a16:rowId xmlns:a16="http://schemas.microsoft.com/office/drawing/2014/main" val="4220429821"/>
                  </a:ext>
                </a:extLst>
              </a:tr>
              <a:tr h="1320852">
                <a:tc>
                  <a:txBody>
                    <a:bodyPr/>
                    <a:lstStyle/>
                    <a:p>
                      <a:pPr>
                        <a:lnSpc>
                          <a:spcPts val="1875"/>
                        </a:lnSpc>
                        <a:buNone/>
                      </a:pPr>
                      <a:r>
                        <a:rPr lang="zh-CN" altLang="en-US" sz="1300" b="1" dirty="0">
                          <a:effectLst/>
                          <a:latin typeface="宋体" panose="02010600030101010101" pitchFamily="2" charset="-122"/>
                          <a:ea typeface="宋体" panose="02010600030101010101" pitchFamily="2" charset="-122"/>
                        </a:rPr>
                        <a:t>海尔智家</a:t>
                      </a:r>
                    </a:p>
                  </a:txBody>
                  <a:tcPr marL="66409"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dirty="0">
                          <a:effectLst/>
                          <a:latin typeface="宋体" panose="02010600030101010101" pitchFamily="2" charset="-122"/>
                          <a:ea typeface="宋体" panose="02010600030101010101" pitchFamily="2" charset="-122"/>
                        </a:rPr>
                        <a:t>791 </a:t>
                      </a:r>
                      <a:r>
                        <a:rPr lang="zh-CN" altLang="en-US" sz="1300" b="1" dirty="0">
                          <a:effectLst/>
                          <a:latin typeface="宋体" panose="02010600030101010101" pitchFamily="2" charset="-122"/>
                          <a:ea typeface="宋体" panose="02010600030101010101" pitchFamily="2" charset="-122"/>
                        </a:rPr>
                        <a:t>亿元</a:t>
                      </a:r>
                    </a:p>
                  </a:txBody>
                  <a:tcPr marL="73788"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dirty="0">
                          <a:effectLst/>
                          <a:latin typeface="宋体" panose="02010600030101010101" pitchFamily="2" charset="-122"/>
                          <a:ea typeface="宋体" panose="02010600030101010101" pitchFamily="2" charset="-122"/>
                        </a:rPr>
                        <a:t>11.66%</a:t>
                      </a:r>
                    </a:p>
                  </a:txBody>
                  <a:tcPr marL="73788"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dirty="0">
                          <a:effectLst/>
                          <a:latin typeface="宋体" panose="02010600030101010101" pitchFamily="2" charset="-122"/>
                          <a:ea typeface="宋体" panose="02010600030101010101" pitchFamily="2" charset="-122"/>
                        </a:rPr>
                        <a:t>- </a:t>
                      </a:r>
                      <a:r>
                        <a:rPr lang="zh-CN" altLang="en-US" sz="1300" b="1" dirty="0">
                          <a:effectLst/>
                          <a:latin typeface="宋体" panose="02010600030101010101" pitchFamily="2" charset="-122"/>
                          <a:ea typeface="宋体" panose="02010600030101010101" pitchFamily="2" charset="-122"/>
                        </a:rPr>
                        <a:t>海外收入几乎</a:t>
                      </a:r>
                      <a:r>
                        <a:rPr lang="en-US" altLang="zh-CN" sz="1300" b="1" dirty="0">
                          <a:effectLst/>
                          <a:latin typeface="宋体" panose="02010600030101010101" pitchFamily="2" charset="-122"/>
                          <a:ea typeface="宋体" panose="02010600030101010101" pitchFamily="2" charset="-122"/>
                        </a:rPr>
                        <a:t>100%</a:t>
                      </a:r>
                      <a:r>
                        <a:rPr lang="zh-CN" altLang="en-US" sz="1300" b="1" dirty="0">
                          <a:effectLst/>
                          <a:latin typeface="宋体" panose="02010600030101010101" pitchFamily="2" charset="-122"/>
                          <a:ea typeface="宋体" panose="02010600030101010101" pitchFamily="2" charset="-122"/>
                        </a:rPr>
                        <a:t>来自自有品牌。</a:t>
                      </a:r>
                      <a:br>
                        <a:rPr lang="zh-CN" altLang="en-US" sz="1300" b="1" dirty="0">
                          <a:effectLst/>
                          <a:latin typeface="宋体" panose="02010600030101010101" pitchFamily="2" charset="-122"/>
                          <a:ea typeface="宋体" panose="02010600030101010101" pitchFamily="2" charset="-122"/>
                        </a:rPr>
                      </a:br>
                      <a:r>
                        <a:rPr lang="en-US" altLang="zh-CN" sz="1300" b="1" dirty="0">
                          <a:effectLst/>
                          <a:latin typeface="宋体" panose="02010600030101010101" pitchFamily="2" charset="-122"/>
                          <a:ea typeface="宋体" panose="02010600030101010101" pitchFamily="2" charset="-122"/>
                        </a:rPr>
                        <a:t>- </a:t>
                      </a:r>
                      <a:r>
                        <a:rPr lang="zh-CN" altLang="en-US" sz="1300" b="1" dirty="0">
                          <a:effectLst/>
                          <a:latin typeface="宋体" panose="02010600030101010101" pitchFamily="2" charset="-122"/>
                          <a:ea typeface="宋体" panose="02010600030101010101" pitchFamily="2" charset="-122"/>
                        </a:rPr>
                        <a:t>在新兴市场增长迅猛：中东非（</a:t>
                      </a:r>
                      <a:r>
                        <a:rPr lang="en-US" altLang="zh-CN" sz="1300" b="1" dirty="0">
                          <a:effectLst/>
                          <a:latin typeface="宋体" panose="02010600030101010101" pitchFamily="2" charset="-122"/>
                          <a:ea typeface="宋体" panose="02010600030101010101" pitchFamily="2" charset="-122"/>
                        </a:rPr>
                        <a:t>+65.42%</a:t>
                      </a:r>
                      <a:r>
                        <a:rPr lang="zh-CN" altLang="en-US" sz="1300" b="1" dirty="0">
                          <a:effectLst/>
                          <a:latin typeface="宋体" panose="02010600030101010101" pitchFamily="2" charset="-122"/>
                          <a:ea typeface="宋体" panose="02010600030101010101" pitchFamily="2" charset="-122"/>
                        </a:rPr>
                        <a:t>）、南亚（</a:t>
                      </a:r>
                      <a:r>
                        <a:rPr lang="en-US" altLang="zh-CN" sz="1300" b="1" dirty="0">
                          <a:effectLst/>
                          <a:latin typeface="宋体" panose="02010600030101010101" pitchFamily="2" charset="-122"/>
                          <a:ea typeface="宋体" panose="02010600030101010101" pitchFamily="2" charset="-122"/>
                        </a:rPr>
                        <a:t>+32.47%</a:t>
                      </a:r>
                      <a:r>
                        <a:rPr lang="zh-CN" altLang="en-US" sz="1300" b="1" dirty="0">
                          <a:effectLst/>
                          <a:latin typeface="宋体" panose="02010600030101010101" pitchFamily="2" charset="-122"/>
                          <a:ea typeface="宋体" panose="02010600030101010101" pitchFamily="2" charset="-122"/>
                        </a:rPr>
                        <a:t>）、东南亚（</a:t>
                      </a:r>
                      <a:r>
                        <a:rPr lang="en-US" altLang="zh-CN" sz="1300" b="1" dirty="0">
                          <a:effectLst/>
                          <a:latin typeface="宋体" panose="02010600030101010101" pitchFamily="2" charset="-122"/>
                          <a:ea typeface="宋体" panose="02010600030101010101" pitchFamily="2" charset="-122"/>
                        </a:rPr>
                        <a:t>+18.29%</a:t>
                      </a:r>
                      <a:r>
                        <a:rPr lang="zh-CN" altLang="en-US" sz="1300" b="1" dirty="0">
                          <a:effectLst/>
                          <a:latin typeface="宋体" panose="02010600030101010101" pitchFamily="2" charset="-122"/>
                          <a:ea typeface="宋体" panose="02010600030101010101" pitchFamily="2" charset="-122"/>
                        </a:rPr>
                        <a:t>）。</a:t>
                      </a:r>
                    </a:p>
                  </a:txBody>
                  <a:tcPr marL="73788" marR="66409" marT="46118" marB="46118" anchor="ctr">
                    <a:lnL>
                      <a:noFill/>
                    </a:lnL>
                    <a:lnR>
                      <a:noFill/>
                    </a:lnR>
                    <a:lnT>
                      <a:noFill/>
                    </a:lnT>
                    <a:lnB>
                      <a:noFill/>
                    </a:lnB>
                    <a:solidFill>
                      <a:srgbClr val="FFFFFF"/>
                    </a:solidFill>
                  </a:tcPr>
                </a:tc>
                <a:extLst>
                  <a:ext uri="{0D108BD9-81ED-4DB2-BD59-A6C34878D82A}">
                    <a16:rowId xmlns:a16="http://schemas.microsoft.com/office/drawing/2014/main" val="625871710"/>
                  </a:ext>
                </a:extLst>
              </a:tr>
              <a:tr h="970359">
                <a:tc>
                  <a:txBody>
                    <a:bodyPr/>
                    <a:lstStyle/>
                    <a:p>
                      <a:pPr>
                        <a:lnSpc>
                          <a:spcPts val="1875"/>
                        </a:lnSpc>
                        <a:buNone/>
                      </a:pPr>
                      <a:r>
                        <a:rPr lang="zh-CN" altLang="en-US" sz="1300" b="1" dirty="0">
                          <a:effectLst/>
                          <a:latin typeface="宋体" panose="02010600030101010101" pitchFamily="2" charset="-122"/>
                          <a:ea typeface="宋体" panose="02010600030101010101" pitchFamily="2" charset="-122"/>
                        </a:rPr>
                        <a:t>格力电器</a:t>
                      </a:r>
                    </a:p>
                  </a:txBody>
                  <a:tcPr marL="66409"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a:effectLst/>
                          <a:latin typeface="宋体" panose="02010600030101010101" pitchFamily="2" charset="-122"/>
                          <a:ea typeface="宋体" panose="02010600030101010101" pitchFamily="2" charset="-122"/>
                        </a:rPr>
                        <a:t>163.35 </a:t>
                      </a:r>
                      <a:r>
                        <a:rPr lang="zh-CN" altLang="en-US" sz="1300" b="1">
                          <a:effectLst/>
                          <a:latin typeface="宋体" panose="02010600030101010101" pitchFamily="2" charset="-122"/>
                          <a:ea typeface="宋体" panose="02010600030101010101" pitchFamily="2" charset="-122"/>
                        </a:rPr>
                        <a:t>亿元</a:t>
                      </a:r>
                    </a:p>
                  </a:txBody>
                  <a:tcPr marL="73788"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a:effectLst/>
                          <a:latin typeface="宋体" panose="02010600030101010101" pitchFamily="2" charset="-122"/>
                          <a:ea typeface="宋体" panose="02010600030101010101" pitchFamily="2" charset="-122"/>
                        </a:rPr>
                        <a:t>10.19%</a:t>
                      </a:r>
                    </a:p>
                  </a:txBody>
                  <a:tcPr marL="73788" marR="73788" marT="46118" marB="46118" anchor="ctr">
                    <a:lnL>
                      <a:noFill/>
                    </a:lnL>
                    <a:lnR>
                      <a:noFill/>
                    </a:lnR>
                    <a:lnT>
                      <a:noFill/>
                    </a:lnT>
                    <a:lnB>
                      <a:noFill/>
                    </a:lnB>
                    <a:solidFill>
                      <a:srgbClr val="FFFFFF"/>
                    </a:solidFill>
                  </a:tcPr>
                </a:tc>
                <a:tc>
                  <a:txBody>
                    <a:bodyPr/>
                    <a:lstStyle/>
                    <a:p>
                      <a:pPr>
                        <a:lnSpc>
                          <a:spcPts val="1875"/>
                        </a:lnSpc>
                        <a:buNone/>
                      </a:pPr>
                      <a:r>
                        <a:rPr lang="en-US" altLang="zh-CN" sz="1300" b="1" dirty="0">
                          <a:effectLst/>
                          <a:latin typeface="宋体" panose="02010600030101010101" pitchFamily="2" charset="-122"/>
                          <a:ea typeface="宋体" panose="02010600030101010101" pitchFamily="2" charset="-122"/>
                        </a:rPr>
                        <a:t>- </a:t>
                      </a:r>
                      <a:r>
                        <a:rPr lang="zh-CN" altLang="en-US" sz="1300" b="1" dirty="0">
                          <a:effectLst/>
                          <a:latin typeface="宋体" panose="02010600030101010101" pitchFamily="2" charset="-122"/>
                          <a:ea typeface="宋体" panose="02010600030101010101" pitchFamily="2" charset="-122"/>
                        </a:rPr>
                        <a:t>自主品牌占出口总额的比例高达</a:t>
                      </a:r>
                      <a:r>
                        <a:rPr lang="en-US" altLang="zh-CN" sz="1300" b="1" dirty="0">
                          <a:effectLst/>
                          <a:latin typeface="宋体" panose="02010600030101010101" pitchFamily="2" charset="-122"/>
                          <a:ea typeface="宋体" panose="02010600030101010101" pitchFamily="2" charset="-122"/>
                        </a:rPr>
                        <a:t>70%</a:t>
                      </a:r>
                      <a:r>
                        <a:rPr lang="zh-CN" altLang="en-US" sz="1300" b="1" dirty="0">
                          <a:effectLst/>
                          <a:latin typeface="宋体" panose="02010600030101010101" pitchFamily="2" charset="-122"/>
                          <a:ea typeface="宋体" panose="02010600030101010101" pitchFamily="2" charset="-122"/>
                        </a:rPr>
                        <a:t>。</a:t>
                      </a:r>
                      <a:br>
                        <a:rPr lang="zh-CN" altLang="en-US" sz="1300" b="1" dirty="0">
                          <a:effectLst/>
                          <a:latin typeface="宋体" panose="02010600030101010101" pitchFamily="2" charset="-122"/>
                          <a:ea typeface="宋体" panose="02010600030101010101" pitchFamily="2" charset="-122"/>
                        </a:rPr>
                      </a:br>
                      <a:r>
                        <a:rPr lang="en-US" altLang="zh-CN" sz="1300" b="1" dirty="0">
                          <a:effectLst/>
                          <a:latin typeface="宋体" panose="02010600030101010101" pitchFamily="2" charset="-122"/>
                          <a:ea typeface="宋体" panose="02010600030101010101" pitchFamily="2" charset="-122"/>
                        </a:rPr>
                        <a:t>- </a:t>
                      </a:r>
                      <a:r>
                        <a:rPr lang="zh-CN" altLang="en-US" sz="1300" b="1" dirty="0">
                          <a:effectLst/>
                          <a:latin typeface="宋体" panose="02010600030101010101" pitchFamily="2" charset="-122"/>
                          <a:ea typeface="宋体" panose="02010600030101010101" pitchFamily="2" charset="-122"/>
                        </a:rPr>
                        <a:t>在共建“一带一路”国家市场中，自主品牌占比超过</a:t>
                      </a:r>
                      <a:r>
                        <a:rPr lang="en-US" altLang="zh-CN" sz="1300" b="1" dirty="0">
                          <a:effectLst/>
                          <a:latin typeface="宋体" panose="02010600030101010101" pitchFamily="2" charset="-122"/>
                          <a:ea typeface="宋体" panose="02010600030101010101" pitchFamily="2" charset="-122"/>
                        </a:rPr>
                        <a:t>85%</a:t>
                      </a:r>
                      <a:r>
                        <a:rPr lang="zh-CN" altLang="en-US" sz="1300" b="1" dirty="0">
                          <a:effectLst/>
                          <a:latin typeface="宋体" panose="02010600030101010101" pitchFamily="2" charset="-122"/>
                          <a:ea typeface="宋体" panose="02010600030101010101" pitchFamily="2" charset="-122"/>
                        </a:rPr>
                        <a:t>。</a:t>
                      </a:r>
                    </a:p>
                  </a:txBody>
                  <a:tcPr marL="73788" marR="66409" marT="46118" marB="46118" anchor="ctr">
                    <a:lnL>
                      <a:noFill/>
                    </a:lnL>
                    <a:lnR>
                      <a:noFill/>
                    </a:lnR>
                    <a:lnT>
                      <a:noFill/>
                    </a:lnT>
                    <a:lnB>
                      <a:noFill/>
                    </a:lnB>
                    <a:solidFill>
                      <a:srgbClr val="FFFFFF"/>
                    </a:solidFill>
                  </a:tcPr>
                </a:tc>
                <a:extLst>
                  <a:ext uri="{0D108BD9-81ED-4DB2-BD59-A6C34878D82A}">
                    <a16:rowId xmlns:a16="http://schemas.microsoft.com/office/drawing/2014/main" val="1605690713"/>
                  </a:ext>
                </a:extLst>
              </a:tr>
            </a:tbl>
          </a:graphicData>
        </a:graphic>
      </p:graphicFrame>
    </p:spTree>
    <p:extLst>
      <p:ext uri="{BB962C8B-B14F-4D97-AF65-F5344CB8AC3E}">
        <p14:creationId xmlns:p14="http://schemas.microsoft.com/office/powerpoint/2010/main" val="11559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4C24D-874B-6E8F-BEA3-C11D71525E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5898F7D-315B-999A-FBD8-FC5F08BBBD53}"/>
              </a:ext>
            </a:extLst>
          </p:cNvPr>
          <p:cNvSpPr>
            <a:spLocks noGrp="1"/>
          </p:cNvSpPr>
          <p:nvPr>
            <p:ph type="title"/>
          </p:nvPr>
        </p:nvSpPr>
        <p:spPr>
          <a:xfrm>
            <a:off x="740156" y="560739"/>
            <a:ext cx="8596668" cy="1320800"/>
          </a:xfrm>
        </p:spPr>
        <p:txBody>
          <a:bodyPr/>
          <a:lstStyle/>
          <a:p>
            <a:r>
              <a:rPr lang="zh-CN" altLang="en-US" b="1" dirty="0">
                <a:solidFill>
                  <a:schemeClr val="tx1"/>
                </a:solidFill>
                <a:latin typeface="宋体" panose="02010600030101010101" pitchFamily="2" charset="-122"/>
                <a:ea typeface="宋体" panose="02010600030101010101" pitchFamily="2" charset="-122"/>
              </a:rPr>
              <a:t>海尔：“先难后易”</a:t>
            </a:r>
          </a:p>
        </p:txBody>
      </p:sp>
      <p:sp>
        <p:nvSpPr>
          <p:cNvPr id="4" name="文本框 3">
            <a:extLst>
              <a:ext uri="{FF2B5EF4-FFF2-40B4-BE49-F238E27FC236}">
                <a16:creationId xmlns:a16="http://schemas.microsoft.com/office/drawing/2014/main" id="{1E98E0CC-CCED-D080-7588-64CA2B85E5DF}"/>
              </a:ext>
            </a:extLst>
          </p:cNvPr>
          <p:cNvSpPr txBox="1"/>
          <p:nvPr/>
        </p:nvSpPr>
        <p:spPr>
          <a:xfrm>
            <a:off x="740156" y="1395891"/>
            <a:ext cx="8850574" cy="2031325"/>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海尔在全球市场的成功，很大程度上得益于其“先难后易”的出海总战略。在这一战略指引下，海尔根据不同市场的特点，采取了针对性的打法。</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攻克</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难</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的成熟市场：在</a:t>
            </a:r>
            <a:r>
              <a:rPr lang="zh-CN" altLang="en-US" b="1" dirty="0">
                <a:latin typeface="宋体" panose="02010600030101010101" pitchFamily="2" charset="-122"/>
                <a:ea typeface="宋体" panose="02010600030101010101" pitchFamily="2" charset="-122"/>
              </a:rPr>
              <a:t>北美、欧洲</a:t>
            </a:r>
            <a:r>
              <a:rPr lang="zh-CN" altLang="en-US" dirty="0">
                <a:latin typeface="宋体" panose="02010600030101010101" pitchFamily="2" charset="-122"/>
                <a:ea typeface="宋体" panose="02010600030101010101" pitchFamily="2" charset="-122"/>
              </a:rPr>
              <a:t>这类竞争激烈、用户要求高的市场，海尔主要通过并购高端本土品牌并持续运营，来快速站稳脚跟。例如，在北美运营</a:t>
            </a:r>
            <a:r>
              <a:rPr lang="en-US" altLang="zh-CN" dirty="0">
                <a:latin typeface="宋体" panose="02010600030101010101" pitchFamily="2" charset="-122"/>
                <a:ea typeface="宋体" panose="02010600030101010101" pitchFamily="2" charset="-122"/>
              </a:rPr>
              <a:t>GE Appliances</a:t>
            </a:r>
            <a:r>
              <a:rPr lang="zh-CN" altLang="en-US" dirty="0">
                <a:latin typeface="宋体" panose="02010600030101010101" pitchFamily="2" charset="-122"/>
                <a:ea typeface="宋体" panose="02010600030101010101" pitchFamily="2" charset="-122"/>
              </a:rPr>
              <a:t>，并通过优化产品组合和提升本土制造效率来应对市场波动。在欧洲，则通过品牌升级和管理变革，实现逆势高增长。</a:t>
            </a:r>
          </a:p>
          <a:p>
            <a:endParaRPr lang="zh-CN" altLang="en-US"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971BDC9E-7A7F-DF99-4F9B-AEE54C46F0E7}"/>
              </a:ext>
            </a:extLst>
          </p:cNvPr>
          <p:cNvPicPr>
            <a:picLocks noChangeAspect="1"/>
          </p:cNvPicPr>
          <p:nvPr/>
        </p:nvPicPr>
        <p:blipFill>
          <a:blip r:embed="rId2"/>
          <a:stretch>
            <a:fillRect/>
          </a:stretch>
        </p:blipFill>
        <p:spPr>
          <a:xfrm>
            <a:off x="951009" y="3427216"/>
            <a:ext cx="6518489" cy="1729115"/>
          </a:xfrm>
          <a:prstGeom prst="rect">
            <a:avLst/>
          </a:prstGeom>
        </p:spPr>
      </p:pic>
      <p:pic>
        <p:nvPicPr>
          <p:cNvPr id="8" name="图片 7">
            <a:extLst>
              <a:ext uri="{FF2B5EF4-FFF2-40B4-BE49-F238E27FC236}">
                <a16:creationId xmlns:a16="http://schemas.microsoft.com/office/drawing/2014/main" id="{FAB23B3F-D934-50D3-BD4C-820B0CF47E9D}"/>
              </a:ext>
            </a:extLst>
          </p:cNvPr>
          <p:cNvPicPr>
            <a:picLocks noChangeAspect="1"/>
          </p:cNvPicPr>
          <p:nvPr/>
        </p:nvPicPr>
        <p:blipFill>
          <a:blip r:embed="rId3"/>
          <a:stretch>
            <a:fillRect/>
          </a:stretch>
        </p:blipFill>
        <p:spPr>
          <a:xfrm>
            <a:off x="8109605" y="3252969"/>
            <a:ext cx="3383956" cy="2976118"/>
          </a:xfrm>
          <a:prstGeom prst="rect">
            <a:avLst/>
          </a:prstGeom>
        </p:spPr>
      </p:pic>
    </p:spTree>
    <p:extLst>
      <p:ext uri="{BB962C8B-B14F-4D97-AF65-F5344CB8AC3E}">
        <p14:creationId xmlns:p14="http://schemas.microsoft.com/office/powerpoint/2010/main" val="662593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78D93-1456-C048-714E-116C5DA42D3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F66DDD9-C30F-F1D1-183D-19D6996AE5CC}"/>
              </a:ext>
            </a:extLst>
          </p:cNvPr>
          <p:cNvSpPr txBox="1"/>
          <p:nvPr/>
        </p:nvSpPr>
        <p:spPr>
          <a:xfrm>
            <a:off x="677333" y="594598"/>
            <a:ext cx="8773793" cy="2031325"/>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拓展“易”的新兴市场：在</a:t>
            </a:r>
            <a:r>
              <a:rPr lang="zh-CN" altLang="en-US" b="1" dirty="0">
                <a:latin typeface="宋体" panose="02010600030101010101" pitchFamily="2" charset="-122"/>
                <a:ea typeface="宋体" panose="02010600030101010101" pitchFamily="2" charset="-122"/>
              </a:rPr>
              <a:t>东南亚、中东非、南亚</a:t>
            </a:r>
            <a:r>
              <a:rPr lang="zh-CN" altLang="en-US" dirty="0">
                <a:latin typeface="宋体" panose="02010600030101010101" pitchFamily="2" charset="-122"/>
                <a:ea typeface="宋体" panose="02010600030101010101" pitchFamily="2" charset="-122"/>
              </a:rPr>
              <a:t>等增长潜力巨大的市场，海尔凭借其全球品牌势能，通过深度本土化快速抢占份额。具体措施包括：</a:t>
            </a:r>
          </a:p>
          <a:p>
            <a:r>
              <a:rPr lang="zh-CN" altLang="en-US" dirty="0">
                <a:latin typeface="宋体" panose="02010600030101010101" pitchFamily="2" charset="-122"/>
                <a:ea typeface="宋体" panose="02010600030101010101" pitchFamily="2" charset="-122"/>
              </a:rPr>
              <a:t>工厂：在泰国建设年产能</a:t>
            </a:r>
            <a:r>
              <a:rPr lang="en-US" altLang="zh-CN" dirty="0">
                <a:latin typeface="宋体" panose="02010600030101010101" pitchFamily="2" charset="-122"/>
                <a:ea typeface="宋体" panose="02010600030101010101" pitchFamily="2" charset="-122"/>
              </a:rPr>
              <a:t>600</a:t>
            </a:r>
            <a:r>
              <a:rPr lang="zh-CN" altLang="en-US" dirty="0">
                <a:latin typeface="宋体" panose="02010600030101010101" pitchFamily="2" charset="-122"/>
                <a:ea typeface="宋体" panose="02010600030101010101" pitchFamily="2" charset="-122"/>
              </a:rPr>
              <a:t>万套的空调工业园，在埃及建设生态园，辐射整个非洲和中东市场。</a:t>
            </a:r>
          </a:p>
          <a:p>
            <a:r>
              <a:rPr lang="zh-CN" altLang="en-US" dirty="0">
                <a:latin typeface="宋体" panose="02010600030101010101" pitchFamily="2" charset="-122"/>
                <a:ea typeface="宋体" panose="02010600030101010101" pitchFamily="2" charset="-122"/>
              </a:rPr>
              <a:t>渠道：积极推进零售数字化转型，例如在泰国让</a:t>
            </a:r>
            <a:r>
              <a:rPr lang="en-US" altLang="zh-CN" dirty="0">
                <a:latin typeface="宋体" panose="02010600030101010101" pitchFamily="2" charset="-122"/>
                <a:ea typeface="宋体" panose="02010600030101010101" pitchFamily="2" charset="-122"/>
              </a:rPr>
              <a:t>1000</a:t>
            </a:r>
            <a:r>
              <a:rPr lang="zh-CN" altLang="en-US" dirty="0">
                <a:latin typeface="宋体" panose="02010600030101010101" pitchFamily="2" charset="-122"/>
                <a:ea typeface="宋体" panose="02010600030101010101" pitchFamily="2" charset="-122"/>
              </a:rPr>
              <a:t>多家门店上线统一平台，显著提升了经营效率。</a:t>
            </a:r>
          </a:p>
          <a:p>
            <a:r>
              <a:rPr lang="zh-CN" altLang="en-US" dirty="0">
                <a:latin typeface="宋体" panose="02010600030101010101" pitchFamily="2" charset="-122"/>
                <a:ea typeface="宋体" panose="02010600030101010101" pitchFamily="2" charset="-122"/>
              </a:rPr>
              <a:t>并购：通过收购南非知名品牌</a:t>
            </a:r>
            <a:r>
              <a:rPr lang="en-US" altLang="zh-CN" dirty="0" err="1">
                <a:latin typeface="宋体" panose="02010600030101010101" pitchFamily="2" charset="-122"/>
                <a:ea typeface="宋体" panose="02010600030101010101" pitchFamily="2" charset="-122"/>
              </a:rPr>
              <a:t>Kwikot</a:t>
            </a:r>
            <a:r>
              <a:rPr lang="zh-CN" altLang="en-US" dirty="0">
                <a:latin typeface="宋体" panose="02010600030101010101" pitchFamily="2" charset="-122"/>
                <a:ea typeface="宋体" panose="02010600030101010101" pitchFamily="2" charset="-122"/>
              </a:rPr>
              <a:t>，快速获得了当地的渠道和客户资源。</a:t>
            </a:r>
          </a:p>
        </p:txBody>
      </p:sp>
      <p:pic>
        <p:nvPicPr>
          <p:cNvPr id="5" name="图片 4">
            <a:extLst>
              <a:ext uri="{FF2B5EF4-FFF2-40B4-BE49-F238E27FC236}">
                <a16:creationId xmlns:a16="http://schemas.microsoft.com/office/drawing/2014/main" id="{9977F24D-0357-FCBB-273F-9F32497F44C0}"/>
              </a:ext>
            </a:extLst>
          </p:cNvPr>
          <p:cNvPicPr>
            <a:picLocks noChangeAspect="1"/>
          </p:cNvPicPr>
          <p:nvPr/>
        </p:nvPicPr>
        <p:blipFill>
          <a:blip r:embed="rId2"/>
          <a:stretch>
            <a:fillRect/>
          </a:stretch>
        </p:blipFill>
        <p:spPr>
          <a:xfrm>
            <a:off x="893459" y="2929939"/>
            <a:ext cx="3906413" cy="2604275"/>
          </a:xfrm>
          <a:prstGeom prst="rect">
            <a:avLst/>
          </a:prstGeom>
        </p:spPr>
      </p:pic>
      <p:sp>
        <p:nvSpPr>
          <p:cNvPr id="6" name="文本框 5">
            <a:extLst>
              <a:ext uri="{FF2B5EF4-FFF2-40B4-BE49-F238E27FC236}">
                <a16:creationId xmlns:a16="http://schemas.microsoft.com/office/drawing/2014/main" id="{60CAC194-FEBA-B2A2-8C9A-32EB2D6B52C1}"/>
              </a:ext>
            </a:extLst>
          </p:cNvPr>
          <p:cNvSpPr txBox="1"/>
          <p:nvPr/>
        </p:nvSpPr>
        <p:spPr>
          <a:xfrm>
            <a:off x="1745038" y="5709765"/>
            <a:ext cx="3887945"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海尔埃及生态园</a:t>
            </a:r>
          </a:p>
        </p:txBody>
      </p:sp>
      <p:pic>
        <p:nvPicPr>
          <p:cNvPr id="7" name="图片 6">
            <a:extLst>
              <a:ext uri="{FF2B5EF4-FFF2-40B4-BE49-F238E27FC236}">
                <a16:creationId xmlns:a16="http://schemas.microsoft.com/office/drawing/2014/main" id="{D01083A3-4FFE-AA3A-FDA4-B34D184FB193}"/>
              </a:ext>
            </a:extLst>
          </p:cNvPr>
          <p:cNvPicPr>
            <a:picLocks noChangeAspect="1"/>
          </p:cNvPicPr>
          <p:nvPr/>
        </p:nvPicPr>
        <p:blipFill>
          <a:blip r:embed="rId3"/>
          <a:stretch>
            <a:fillRect/>
          </a:stretch>
        </p:blipFill>
        <p:spPr>
          <a:xfrm>
            <a:off x="6015767" y="2797616"/>
            <a:ext cx="2953729" cy="3096816"/>
          </a:xfrm>
          <a:prstGeom prst="rect">
            <a:avLst/>
          </a:prstGeom>
        </p:spPr>
      </p:pic>
    </p:spTree>
    <p:extLst>
      <p:ext uri="{BB962C8B-B14F-4D97-AF65-F5344CB8AC3E}">
        <p14:creationId xmlns:p14="http://schemas.microsoft.com/office/powerpoint/2010/main" val="333602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C7AFF-6118-9832-9D8D-BA6C125A648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6855F02-7DD6-1CA0-37D6-134FE2CA8A47}"/>
              </a:ext>
            </a:extLst>
          </p:cNvPr>
          <p:cNvSpPr txBox="1"/>
          <p:nvPr/>
        </p:nvSpPr>
        <p:spPr>
          <a:xfrm>
            <a:off x="837879" y="1391722"/>
            <a:ext cx="9073939" cy="3693319"/>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为了保障全球战略的有效执行，海尔构建了</a:t>
            </a:r>
            <a:r>
              <a:rPr lang="zh-CN" altLang="en-US" b="1" dirty="0">
                <a:latin typeface="宋体" panose="02010600030101010101" pitchFamily="2" charset="-122"/>
                <a:ea typeface="宋体" panose="02010600030101010101" pitchFamily="2" charset="-122"/>
              </a:rPr>
              <a:t>三大坚实的支撑体系</a:t>
            </a:r>
            <a:r>
              <a:rPr lang="zh-CN" altLang="en-US" dirty="0">
                <a:latin typeface="宋体" panose="02010600030101010101" pitchFamily="2" charset="-122"/>
                <a:ea typeface="宋体" panose="02010600030101010101" pitchFamily="2" charset="-122"/>
              </a:rPr>
              <a:t>。</a:t>
            </a:r>
          </a:p>
          <a:p>
            <a:endParaRPr lang="zh-CN" altLang="en-US"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韧性供应链体系</a:t>
            </a:r>
            <a:r>
              <a:rPr lang="zh-CN" altLang="en-US" dirty="0">
                <a:latin typeface="宋体" panose="02010600030101010101" pitchFamily="2" charset="-122"/>
                <a:ea typeface="宋体" panose="02010600030101010101" pitchFamily="2" charset="-122"/>
              </a:rPr>
              <a:t>：海尔打造了</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中国</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及</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本土化</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区域化</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的双轨供应链。简单来说，就是不在一个地方集中生产，而是根据全球各地的需求、关税和政策，灵活地调配产能和物流，从而有效应对国际贸易中的不确定性。</a:t>
            </a:r>
          </a:p>
          <a:p>
            <a:endParaRPr lang="zh-CN" altLang="en-US"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人才与数字化</a:t>
            </a:r>
            <a:r>
              <a:rPr lang="zh-CN" altLang="en-US" dirty="0">
                <a:latin typeface="宋体" panose="02010600030101010101" pitchFamily="2" charset="-122"/>
                <a:ea typeface="宋体" panose="02010600030101010101" pitchFamily="2" charset="-122"/>
              </a:rPr>
              <a:t>：海尔启动 </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千人人才计划</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，将国内经验丰富的成熟人才派驻海外，以支持新兴市场的拓展。同时，大力推动数字化工具的应用，例如其</a:t>
            </a:r>
            <a:r>
              <a:rPr lang="en-US" altLang="zh-CN" dirty="0" err="1">
                <a:latin typeface="宋体" panose="02010600030101010101" pitchFamily="2" charset="-122"/>
                <a:ea typeface="宋体" panose="02010600030101010101" pitchFamily="2" charset="-122"/>
              </a:rPr>
              <a:t>HeS</a:t>
            </a:r>
            <a:r>
              <a:rPr lang="zh-CN" altLang="en-US" dirty="0">
                <a:latin typeface="宋体" panose="02010600030101010101" pitchFamily="2" charset="-122"/>
                <a:ea typeface="宋体" panose="02010600030101010101" pitchFamily="2" charset="-122"/>
              </a:rPr>
              <a:t>智家海外销售平台，使客户自主下单占比提升了</a:t>
            </a:r>
            <a:r>
              <a:rPr lang="en-US" altLang="zh-CN" dirty="0">
                <a:latin typeface="宋体" panose="02010600030101010101" pitchFamily="2" charset="-122"/>
                <a:ea typeface="宋体" panose="02010600030101010101" pitchFamily="2" charset="-122"/>
              </a:rPr>
              <a:t>15.4%</a:t>
            </a:r>
            <a:r>
              <a:rPr lang="zh-CN" altLang="en-US" dirty="0">
                <a:latin typeface="宋体" panose="02010600030101010101" pitchFamily="2" charset="-122"/>
                <a:ea typeface="宋体" panose="02010600030101010101" pitchFamily="2" charset="-122"/>
              </a:rPr>
              <a:t>，运营效率提升</a:t>
            </a:r>
            <a:r>
              <a:rPr lang="en-US" altLang="zh-CN" dirty="0">
                <a:latin typeface="宋体" panose="02010600030101010101" pitchFamily="2" charset="-122"/>
                <a:ea typeface="宋体" panose="02010600030101010101" pitchFamily="2" charset="-122"/>
              </a:rPr>
              <a:t>30%</a:t>
            </a:r>
            <a:r>
              <a:rPr lang="zh-CN" altLang="en-US" dirty="0">
                <a:latin typeface="宋体" panose="02010600030101010101" pitchFamily="2" charset="-122"/>
                <a:ea typeface="宋体" panose="02010600030101010101" pitchFamily="2" charset="-122"/>
              </a:rPr>
              <a:t>。</a:t>
            </a:r>
          </a:p>
          <a:p>
            <a:endParaRPr lang="zh-CN" altLang="en-US"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技术研发与产品迭代</a:t>
            </a:r>
            <a:r>
              <a:rPr lang="zh-CN" altLang="en-US" dirty="0">
                <a:latin typeface="宋体" panose="02010600030101010101" pitchFamily="2" charset="-122"/>
                <a:ea typeface="宋体" panose="02010600030101010101" pitchFamily="2" charset="-122"/>
              </a:rPr>
              <a:t>：海尔在全球建立了十大研发中心和</a:t>
            </a:r>
            <a:r>
              <a:rPr lang="en-US" altLang="zh-CN" dirty="0">
                <a:latin typeface="宋体" panose="02010600030101010101" pitchFamily="2" charset="-122"/>
                <a:ea typeface="宋体" panose="02010600030101010101" pitchFamily="2" charset="-122"/>
              </a:rPr>
              <a:t>70</a:t>
            </a:r>
            <a:r>
              <a:rPr lang="zh-CN" altLang="en-US" dirty="0">
                <a:latin typeface="宋体" panose="02010600030101010101" pitchFamily="2" charset="-122"/>
                <a:ea typeface="宋体" panose="02010600030101010101" pitchFamily="2" charset="-122"/>
              </a:rPr>
              <a:t>多个研究院，确保其技术能引领市场。在产品开发上，遵循</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上市一代、开发一代、储备一代</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的严谨迭代路径，确保新产品能精准击中当地用户需求，实现</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上市即引爆</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715458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9097C-F3CD-6FAC-6A9D-B8865FC942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83BC17-0CB4-FF64-870D-07B781E91EA3}"/>
              </a:ext>
            </a:extLst>
          </p:cNvPr>
          <p:cNvSpPr>
            <a:spLocks noGrp="1"/>
          </p:cNvSpPr>
          <p:nvPr>
            <p:ph type="title"/>
          </p:nvPr>
        </p:nvSpPr>
        <p:spPr>
          <a:xfrm>
            <a:off x="600552" y="393215"/>
            <a:ext cx="8596668" cy="1320800"/>
          </a:xfrm>
        </p:spPr>
        <p:txBody>
          <a:bodyPr/>
          <a:lstStyle/>
          <a:p>
            <a:r>
              <a:rPr lang="zh-CN" altLang="en-US" b="1" dirty="0">
                <a:solidFill>
                  <a:schemeClr val="tx1"/>
                </a:solidFill>
                <a:latin typeface="宋体" panose="02010600030101010101" pitchFamily="2" charset="-122"/>
                <a:ea typeface="宋体" panose="02010600030101010101" pitchFamily="2" charset="-122"/>
              </a:rPr>
              <a:t>近年海尔海外营收</a:t>
            </a:r>
          </a:p>
        </p:txBody>
      </p:sp>
      <p:graphicFrame>
        <p:nvGraphicFramePr>
          <p:cNvPr id="6" name="图表 5">
            <a:extLst>
              <a:ext uri="{FF2B5EF4-FFF2-40B4-BE49-F238E27FC236}">
                <a16:creationId xmlns:a16="http://schemas.microsoft.com/office/drawing/2014/main" id="{D6E85543-E637-D2D9-F978-494BAE77ABBC}"/>
              </a:ext>
            </a:extLst>
          </p:cNvPr>
          <p:cNvGraphicFramePr/>
          <p:nvPr>
            <p:extLst>
              <p:ext uri="{D42A27DB-BD31-4B8C-83A1-F6EECF244321}">
                <p14:modId xmlns:p14="http://schemas.microsoft.com/office/powerpoint/2010/main" val="3502966411"/>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99045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0E29F-ED85-BBEC-A42D-6C423555E6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46A09C4-DF17-8DAD-C483-4959FED51DFE}"/>
              </a:ext>
            </a:extLst>
          </p:cNvPr>
          <p:cNvSpPr>
            <a:spLocks noGrp="1"/>
          </p:cNvSpPr>
          <p:nvPr>
            <p:ph type="title"/>
          </p:nvPr>
        </p:nvSpPr>
        <p:spPr/>
        <p:txBody>
          <a:bodyPr/>
          <a:lstStyle/>
          <a:p>
            <a:r>
              <a:rPr lang="zh-CN" altLang="en-US" b="1" dirty="0">
                <a:solidFill>
                  <a:schemeClr val="tx1"/>
                </a:solidFill>
                <a:latin typeface="宋体" panose="02010600030101010101" pitchFamily="2" charset="-122"/>
                <a:ea typeface="宋体" panose="02010600030101010101" pitchFamily="2" charset="-122"/>
              </a:rPr>
              <a:t>美的：“深海浅海都要去”</a:t>
            </a:r>
          </a:p>
        </p:txBody>
      </p:sp>
      <p:sp>
        <p:nvSpPr>
          <p:cNvPr id="3" name="文本框 2">
            <a:extLst>
              <a:ext uri="{FF2B5EF4-FFF2-40B4-BE49-F238E27FC236}">
                <a16:creationId xmlns:a16="http://schemas.microsoft.com/office/drawing/2014/main" id="{15443052-2474-33F1-2BF1-1C44F503BD50}"/>
              </a:ext>
            </a:extLst>
          </p:cNvPr>
          <p:cNvSpPr txBox="1"/>
          <p:nvPr/>
        </p:nvSpPr>
        <p:spPr>
          <a:xfrm>
            <a:off x="795737" y="1591475"/>
            <a:ext cx="8596668" cy="3416320"/>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美的采取</a:t>
            </a:r>
            <a:r>
              <a:rPr lang="zh-CN" altLang="en-US" b="1" dirty="0">
                <a:latin typeface="宋体" panose="02010600030101010101" pitchFamily="2" charset="-122"/>
                <a:ea typeface="宋体" panose="02010600030101010101" pitchFamily="2" charset="-122"/>
              </a:rPr>
              <a:t>全域覆盖</a:t>
            </a:r>
            <a:r>
              <a:rPr lang="zh-CN" altLang="en-US" dirty="0">
                <a:latin typeface="宋体" panose="02010600030101010101" pitchFamily="2" charset="-122"/>
                <a:ea typeface="宋体" panose="02010600030101010101" pitchFamily="2" charset="-122"/>
              </a:rPr>
              <a:t>的策略，正如其董事长方洪波所言，“深海浅海都要去”。这意味着既要攻坚北美、西欧等成熟市场，也要拓展东盟、中东、南美等新兴市场。在渠道上，美的正将重心向线上市场转移，并致力于提升渠道的深度和广度。</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美的成功构建了一套协同的多品牌矩阵，以应对不同市场需求：</a:t>
            </a:r>
          </a:p>
          <a:p>
            <a:r>
              <a:rPr lang="en-US" altLang="zh-CN" b="1" dirty="0">
                <a:latin typeface="宋体" panose="02010600030101010101" pitchFamily="2" charset="-122"/>
                <a:ea typeface="宋体" panose="02010600030101010101" pitchFamily="2" charset="-122"/>
              </a:rPr>
              <a:t>Midea</a:t>
            </a:r>
            <a:r>
              <a:rPr lang="zh-CN" altLang="en-US" dirty="0">
                <a:latin typeface="宋体" panose="02010600030101010101" pitchFamily="2" charset="-122"/>
                <a:ea typeface="宋体" panose="02010600030101010101" pitchFamily="2" charset="-122"/>
              </a:rPr>
              <a:t>：作为全球主导品牌，覆盖大众市场。</a:t>
            </a:r>
          </a:p>
          <a:p>
            <a:r>
              <a:rPr lang="en-US" altLang="zh-CN" b="1" dirty="0">
                <a:latin typeface="宋体" panose="02010600030101010101" pitchFamily="2" charset="-122"/>
                <a:ea typeface="宋体" panose="02010600030101010101" pitchFamily="2" charset="-122"/>
              </a:rPr>
              <a:t>Toshiba</a:t>
            </a:r>
            <a:r>
              <a:rPr lang="zh-CN" altLang="en-US" dirty="0">
                <a:latin typeface="宋体" panose="02010600030101010101" pitchFamily="2" charset="-122"/>
                <a:ea typeface="宋体" panose="02010600030101010101" pitchFamily="2" charset="-122"/>
              </a:rPr>
              <a:t>：借助收购获得，主攻高端市场。</a:t>
            </a:r>
          </a:p>
          <a:p>
            <a:r>
              <a:rPr lang="en-US" altLang="zh-CN" b="1" dirty="0" err="1">
                <a:latin typeface="宋体" panose="02010600030101010101" pitchFamily="2" charset="-122"/>
                <a:ea typeface="宋体" panose="02010600030101010101" pitchFamily="2" charset="-122"/>
              </a:rPr>
              <a:t>Comfee</a:t>
            </a:r>
            <a:r>
              <a:rPr lang="zh-CN" altLang="en-US" dirty="0">
                <a:latin typeface="宋体" panose="02010600030101010101" pitchFamily="2" charset="-122"/>
                <a:ea typeface="宋体" panose="02010600030101010101" pitchFamily="2" charset="-122"/>
              </a:rPr>
              <a:t>：专注于小型家电品类。</a:t>
            </a:r>
          </a:p>
          <a:p>
            <a:r>
              <a:rPr lang="en-US" altLang="zh-CN" b="1" dirty="0">
                <a:latin typeface="宋体" panose="02010600030101010101" pitchFamily="2" charset="-122"/>
                <a:ea typeface="宋体" panose="02010600030101010101" pitchFamily="2" charset="-122"/>
              </a:rPr>
              <a:t>Eureka</a:t>
            </a:r>
            <a:r>
              <a:rPr lang="zh-CN" altLang="en-US" dirty="0">
                <a:latin typeface="宋体" panose="02010600030101010101" pitchFamily="2" charset="-122"/>
                <a:ea typeface="宋体" panose="02010600030101010101" pitchFamily="2" charset="-122"/>
              </a:rPr>
              <a:t>：也在收购中获得，完善品牌布局。</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在技术上，美的通过收购德国库卡（工业机器人）和以色列高创，不仅提升了智能制造水平，更发展了面向企业（</a:t>
            </a:r>
            <a:r>
              <a:rPr lang="en-US" altLang="zh-CN" dirty="0">
                <a:latin typeface="宋体" panose="02010600030101010101" pitchFamily="2" charset="-122"/>
                <a:ea typeface="宋体" panose="02010600030101010101" pitchFamily="2" charset="-122"/>
              </a:rPr>
              <a:t>To B</a:t>
            </a:r>
            <a:r>
              <a:rPr lang="zh-CN" altLang="en-US" dirty="0">
                <a:latin typeface="宋体" panose="02010600030101010101" pitchFamily="2" charset="-122"/>
                <a:ea typeface="宋体" panose="02010600030101010101" pitchFamily="2" charset="-122"/>
              </a:rPr>
              <a:t>）的机器人与自动化业务，成为新的增长极。</a:t>
            </a:r>
            <a:br>
              <a:rPr lang="zh-CN" altLang="en-US" dirty="0">
                <a:latin typeface="宋体" panose="02010600030101010101" pitchFamily="2" charset="-122"/>
                <a:ea typeface="宋体" panose="02010600030101010101" pitchFamily="2" charset="-122"/>
              </a:rPr>
            </a:br>
            <a:endParaRPr lang="zh-CN" altLang="en-US" dirty="0">
              <a:latin typeface="宋体" panose="02010600030101010101" pitchFamily="2" charset="-122"/>
              <a:ea typeface="宋体" panose="02010600030101010101" pitchFamily="2" charset="-122"/>
            </a:endParaRPr>
          </a:p>
          <a:p>
            <a:endParaRPr lang="zh-CN" altLang="en-US" dirty="0"/>
          </a:p>
        </p:txBody>
      </p:sp>
      <p:pic>
        <p:nvPicPr>
          <p:cNvPr id="4" name="图片 3">
            <a:extLst>
              <a:ext uri="{FF2B5EF4-FFF2-40B4-BE49-F238E27FC236}">
                <a16:creationId xmlns:a16="http://schemas.microsoft.com/office/drawing/2014/main" id="{6712F25F-D060-63DA-7DB9-04C6D24A84CC}"/>
              </a:ext>
            </a:extLst>
          </p:cNvPr>
          <p:cNvPicPr>
            <a:picLocks noChangeAspect="1"/>
          </p:cNvPicPr>
          <p:nvPr/>
        </p:nvPicPr>
        <p:blipFill>
          <a:blip r:embed="rId3"/>
          <a:stretch>
            <a:fillRect/>
          </a:stretch>
        </p:blipFill>
        <p:spPr>
          <a:xfrm>
            <a:off x="965412" y="4641801"/>
            <a:ext cx="2122819" cy="1891621"/>
          </a:xfrm>
          <a:prstGeom prst="rect">
            <a:avLst/>
          </a:prstGeom>
        </p:spPr>
      </p:pic>
      <p:pic>
        <p:nvPicPr>
          <p:cNvPr id="6" name="图片 5">
            <a:extLst>
              <a:ext uri="{FF2B5EF4-FFF2-40B4-BE49-F238E27FC236}">
                <a16:creationId xmlns:a16="http://schemas.microsoft.com/office/drawing/2014/main" id="{CC82691A-F8F8-8612-F361-C28D894F3048}"/>
              </a:ext>
            </a:extLst>
          </p:cNvPr>
          <p:cNvPicPr>
            <a:picLocks noChangeAspect="1"/>
          </p:cNvPicPr>
          <p:nvPr/>
        </p:nvPicPr>
        <p:blipFill>
          <a:blip r:embed="rId4"/>
          <a:stretch>
            <a:fillRect/>
          </a:stretch>
        </p:blipFill>
        <p:spPr>
          <a:xfrm>
            <a:off x="3524977" y="4692822"/>
            <a:ext cx="3388500" cy="1936286"/>
          </a:xfrm>
          <a:prstGeom prst="rect">
            <a:avLst/>
          </a:prstGeom>
        </p:spPr>
      </p:pic>
      <p:pic>
        <p:nvPicPr>
          <p:cNvPr id="7" name="图片 6">
            <a:extLst>
              <a:ext uri="{FF2B5EF4-FFF2-40B4-BE49-F238E27FC236}">
                <a16:creationId xmlns:a16="http://schemas.microsoft.com/office/drawing/2014/main" id="{08B9E84A-32FC-7174-B8C6-7ECCF57B4FF2}"/>
              </a:ext>
            </a:extLst>
          </p:cNvPr>
          <p:cNvPicPr>
            <a:picLocks noChangeAspect="1"/>
          </p:cNvPicPr>
          <p:nvPr/>
        </p:nvPicPr>
        <p:blipFill>
          <a:blip r:embed="rId5"/>
          <a:stretch>
            <a:fillRect/>
          </a:stretch>
        </p:blipFill>
        <p:spPr>
          <a:xfrm>
            <a:off x="7350223" y="4692822"/>
            <a:ext cx="1987925" cy="1942598"/>
          </a:xfrm>
          <a:prstGeom prst="rect">
            <a:avLst/>
          </a:prstGeom>
        </p:spPr>
      </p:pic>
    </p:spTree>
    <p:extLst>
      <p:ext uri="{BB962C8B-B14F-4D97-AF65-F5344CB8AC3E}">
        <p14:creationId xmlns:p14="http://schemas.microsoft.com/office/powerpoint/2010/main" val="1606011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9DBD4-C514-3AD9-5D4E-F2C42F0175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FA1F97-0C20-F3BC-B566-6D1DE635DC6B}"/>
              </a:ext>
            </a:extLst>
          </p:cNvPr>
          <p:cNvSpPr>
            <a:spLocks noGrp="1"/>
          </p:cNvSpPr>
          <p:nvPr>
            <p:ph type="title"/>
          </p:nvPr>
        </p:nvSpPr>
        <p:spPr>
          <a:xfrm>
            <a:off x="677334" y="609599"/>
            <a:ext cx="8596668" cy="2615231"/>
          </a:xfrm>
        </p:spPr>
        <p:txBody>
          <a:bodyPr>
            <a:normAutofit fontScale="90000"/>
          </a:bodyPr>
          <a:lstStyle/>
          <a:p>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供应链与制造</a:t>
            </a:r>
            <a:r>
              <a:rPr lang="zh-CN" altLang="en-US" sz="1800" dirty="0">
                <a:solidFill>
                  <a:schemeClr val="tx1"/>
                </a:solidFill>
                <a:latin typeface="宋体" panose="02010600030101010101" pitchFamily="2" charset="-122"/>
                <a:ea typeface="宋体" panose="02010600030101010101" pitchFamily="2" charset="-122"/>
              </a:rPr>
              <a:t>：“区域供区域”的韧性网络</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美的在全球打造了“中国供全球</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区域供区域”的供应链模式，以分散风险、提升效率。截至</a:t>
            </a:r>
            <a:r>
              <a:rPr lang="en-US" altLang="zh-CN" sz="1800" dirty="0">
                <a:solidFill>
                  <a:schemeClr val="tx1"/>
                </a:solidFill>
                <a:latin typeface="宋体" panose="02010600030101010101" pitchFamily="2" charset="-122"/>
                <a:ea typeface="宋体" panose="02010600030101010101" pitchFamily="2" charset="-122"/>
              </a:rPr>
              <a:t>2024</a:t>
            </a:r>
            <a:r>
              <a:rPr lang="zh-CN" altLang="en-US" sz="1800" dirty="0">
                <a:solidFill>
                  <a:schemeClr val="tx1"/>
                </a:solidFill>
                <a:latin typeface="宋体" panose="02010600030101010101" pitchFamily="2" charset="-122"/>
                <a:ea typeface="宋体" panose="02010600030101010101" pitchFamily="2" charset="-122"/>
              </a:rPr>
              <a:t>年，美的在海外已设有</a:t>
            </a:r>
            <a:r>
              <a:rPr lang="en-US" altLang="zh-CN" sz="1800" dirty="0">
                <a:solidFill>
                  <a:schemeClr val="tx1"/>
                </a:solidFill>
                <a:latin typeface="宋体" panose="02010600030101010101" pitchFamily="2" charset="-122"/>
                <a:ea typeface="宋体" panose="02010600030101010101" pitchFamily="2" charset="-122"/>
              </a:rPr>
              <a:t>23</a:t>
            </a:r>
            <a:r>
              <a:rPr lang="zh-CN" altLang="en-US" sz="1800" dirty="0">
                <a:solidFill>
                  <a:schemeClr val="tx1"/>
                </a:solidFill>
                <a:latin typeface="宋体" panose="02010600030101010101" pitchFamily="2" charset="-122"/>
                <a:ea typeface="宋体" panose="02010600030101010101" pitchFamily="2" charset="-122"/>
              </a:rPr>
              <a:t>个主要生产基地和</a:t>
            </a:r>
            <a:r>
              <a:rPr lang="en-US" altLang="zh-CN" sz="1800" dirty="0">
                <a:solidFill>
                  <a:schemeClr val="tx1"/>
                </a:solidFill>
                <a:latin typeface="宋体" panose="02010600030101010101" pitchFamily="2" charset="-122"/>
                <a:ea typeface="宋体" panose="02010600030101010101" pitchFamily="2" charset="-122"/>
              </a:rPr>
              <a:t>22</a:t>
            </a:r>
            <a:r>
              <a:rPr lang="zh-CN" altLang="en-US" sz="1800" dirty="0">
                <a:solidFill>
                  <a:schemeClr val="tx1"/>
                </a:solidFill>
                <a:latin typeface="宋体" panose="02010600030101010101" pitchFamily="2" charset="-122"/>
                <a:ea typeface="宋体" panose="02010600030101010101" pitchFamily="2" charset="-122"/>
              </a:rPr>
              <a:t>个研发中心。其旗下的安得智联公司，正将成熟的供应链管理经验作为服务输出，为中国制造企业提供一站式的出海供应链解决方案。</a:t>
            </a:r>
            <a:br>
              <a:rPr lang="zh-CN" altLang="en-US" sz="1800" dirty="0">
                <a:solidFill>
                  <a:schemeClr val="tx1"/>
                </a:solidFill>
                <a:latin typeface="宋体" panose="02010600030101010101" pitchFamily="2" charset="-122"/>
                <a:ea typeface="宋体" panose="02010600030101010101" pitchFamily="2" charset="-122"/>
              </a:rPr>
            </a:br>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业务增长</a:t>
            </a:r>
            <a:r>
              <a:rPr lang="zh-CN" altLang="en-US" sz="1800" dirty="0">
                <a:solidFill>
                  <a:schemeClr val="tx1"/>
                </a:solidFill>
                <a:latin typeface="宋体" panose="02010600030101010101" pitchFamily="2" charset="-122"/>
                <a:ea typeface="宋体" panose="02010600030101010101" pitchFamily="2" charset="-122"/>
              </a:rPr>
              <a:t>：智能家居与</a:t>
            </a:r>
            <a:r>
              <a:rPr lang="en-US" altLang="zh-CN" sz="1800" dirty="0">
                <a:solidFill>
                  <a:schemeClr val="tx1"/>
                </a:solidFill>
                <a:latin typeface="宋体" panose="02010600030101010101" pitchFamily="2" charset="-122"/>
                <a:ea typeface="宋体" panose="02010600030101010101" pitchFamily="2" charset="-122"/>
              </a:rPr>
              <a:t>To B</a:t>
            </a:r>
            <a:r>
              <a:rPr lang="zh-CN" altLang="en-US" sz="1800" dirty="0">
                <a:solidFill>
                  <a:schemeClr val="tx1"/>
                </a:solidFill>
                <a:latin typeface="宋体" panose="02010600030101010101" pitchFamily="2" charset="-122"/>
                <a:ea typeface="宋体" panose="02010600030101010101" pitchFamily="2" charset="-122"/>
              </a:rPr>
              <a:t>业务双轮驱动</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美的在巩固智能家居优势的同时，大力拓展</a:t>
            </a:r>
            <a:r>
              <a:rPr lang="en-US" altLang="zh-CN" sz="1800" dirty="0">
                <a:solidFill>
                  <a:schemeClr val="tx1"/>
                </a:solidFill>
                <a:latin typeface="宋体" panose="02010600030101010101" pitchFamily="2" charset="-122"/>
                <a:ea typeface="宋体" panose="02010600030101010101" pitchFamily="2" charset="-122"/>
              </a:rPr>
              <a:t>To B</a:t>
            </a:r>
            <a:r>
              <a:rPr lang="zh-CN" altLang="en-US" sz="1800" dirty="0">
                <a:solidFill>
                  <a:schemeClr val="tx1"/>
                </a:solidFill>
                <a:latin typeface="宋体" panose="02010600030101010101" pitchFamily="2" charset="-122"/>
                <a:ea typeface="宋体" panose="02010600030101010101" pitchFamily="2" charset="-122"/>
              </a:rPr>
              <a:t>业务（商业及工业解决方案）。</a:t>
            </a:r>
            <a:r>
              <a:rPr lang="en-US" altLang="zh-CN" sz="1800" dirty="0">
                <a:solidFill>
                  <a:schemeClr val="tx1"/>
                </a:solidFill>
                <a:latin typeface="宋体" panose="02010600030101010101" pitchFamily="2" charset="-122"/>
                <a:ea typeface="宋体" panose="02010600030101010101" pitchFamily="2" charset="-122"/>
              </a:rPr>
              <a:t>2024</a:t>
            </a:r>
            <a:r>
              <a:rPr lang="zh-CN" altLang="en-US" sz="1800" dirty="0">
                <a:solidFill>
                  <a:schemeClr val="tx1"/>
                </a:solidFill>
                <a:latin typeface="宋体" panose="02010600030101010101" pitchFamily="2" charset="-122"/>
                <a:ea typeface="宋体" panose="02010600030101010101" pitchFamily="2" charset="-122"/>
              </a:rPr>
              <a:t>年，</a:t>
            </a:r>
            <a:r>
              <a:rPr lang="en-US" altLang="zh-CN" sz="1800" dirty="0">
                <a:solidFill>
                  <a:schemeClr val="tx1"/>
                </a:solidFill>
                <a:latin typeface="宋体" panose="02010600030101010101" pitchFamily="2" charset="-122"/>
                <a:ea typeface="宋体" panose="02010600030101010101" pitchFamily="2" charset="-122"/>
              </a:rPr>
              <a:t>To B</a:t>
            </a:r>
            <a:r>
              <a:rPr lang="zh-CN" altLang="en-US" sz="1800" dirty="0">
                <a:solidFill>
                  <a:schemeClr val="tx1"/>
                </a:solidFill>
                <a:latin typeface="宋体" panose="02010600030101010101" pitchFamily="2" charset="-122"/>
                <a:ea typeface="宋体" panose="02010600030101010101" pitchFamily="2" charset="-122"/>
              </a:rPr>
              <a:t>业务收入首次突破千亿元，占总收入比例提升至</a:t>
            </a:r>
            <a:r>
              <a:rPr lang="en-US" altLang="zh-CN" sz="1800" dirty="0">
                <a:solidFill>
                  <a:schemeClr val="tx1"/>
                </a:solidFill>
                <a:latin typeface="宋体" panose="02010600030101010101" pitchFamily="2" charset="-122"/>
                <a:ea typeface="宋体" panose="02010600030101010101" pitchFamily="2" charset="-122"/>
              </a:rPr>
              <a:t>25.5%</a:t>
            </a:r>
            <a:r>
              <a:rPr lang="zh-CN" altLang="en-US" sz="1800" dirty="0">
                <a:solidFill>
                  <a:schemeClr val="tx1"/>
                </a:solidFill>
                <a:latin typeface="宋体" panose="02010600030101010101" pitchFamily="2" charset="-122"/>
                <a:ea typeface="宋体" panose="02010600030101010101" pitchFamily="2" charset="-122"/>
              </a:rPr>
              <a:t>，这标志着美的已成长为一家多元化的科技集团。</a:t>
            </a:r>
            <a:br>
              <a:rPr lang="zh-CN" altLang="en-US" sz="1800" dirty="0">
                <a:solidFill>
                  <a:schemeClr val="tx1"/>
                </a:solidFill>
                <a:latin typeface="宋体" panose="02010600030101010101" pitchFamily="2" charset="-122"/>
                <a:ea typeface="宋体" panose="02010600030101010101" pitchFamily="2" charset="-122"/>
              </a:rPr>
            </a:br>
            <a:endParaRPr lang="zh-CN" altLang="en-US" sz="1800" dirty="0">
              <a:solidFill>
                <a:schemeClr val="tx1"/>
              </a:solidFill>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90B66AFE-65BC-676E-C0F2-965998A32D2C}"/>
              </a:ext>
            </a:extLst>
          </p:cNvPr>
          <p:cNvPicPr>
            <a:picLocks noChangeAspect="1"/>
          </p:cNvPicPr>
          <p:nvPr/>
        </p:nvPicPr>
        <p:blipFill>
          <a:blip r:embed="rId2"/>
          <a:stretch>
            <a:fillRect/>
          </a:stretch>
        </p:blipFill>
        <p:spPr>
          <a:xfrm>
            <a:off x="2052165" y="3429000"/>
            <a:ext cx="4540407" cy="3119364"/>
          </a:xfrm>
          <a:prstGeom prst="rect">
            <a:avLst/>
          </a:prstGeom>
        </p:spPr>
      </p:pic>
    </p:spTree>
    <p:extLst>
      <p:ext uri="{BB962C8B-B14F-4D97-AF65-F5344CB8AC3E}">
        <p14:creationId xmlns:p14="http://schemas.microsoft.com/office/powerpoint/2010/main" val="3582926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F89B5-23AA-5E6B-BF74-DF29938B70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74C94C-DFCC-9506-DD14-53C3E134BFA4}"/>
              </a:ext>
            </a:extLst>
          </p:cNvPr>
          <p:cNvSpPr>
            <a:spLocks noGrp="1"/>
          </p:cNvSpPr>
          <p:nvPr>
            <p:ph type="title"/>
          </p:nvPr>
        </p:nvSpPr>
        <p:spPr/>
        <p:txBody>
          <a:bodyPr>
            <a:normAutofit fontScale="90000"/>
          </a:bodyPr>
          <a:lstStyle/>
          <a:p>
            <a:r>
              <a:rPr lang="zh-CN" altLang="en-US" sz="1800" b="1" dirty="0">
                <a:solidFill>
                  <a:schemeClr val="tx1"/>
                </a:solidFill>
                <a:latin typeface="宋体" panose="02010600030101010101" pitchFamily="2" charset="-122"/>
                <a:ea typeface="宋体" panose="02010600030101010101" pitchFamily="2" charset="-122"/>
              </a:rPr>
              <a:t>产品本土化</a:t>
            </a:r>
            <a:r>
              <a:rPr lang="zh-CN" altLang="en-US" sz="1800" dirty="0">
                <a:solidFill>
                  <a:schemeClr val="tx1"/>
                </a:solidFill>
                <a:latin typeface="宋体" panose="02010600030101010101" pitchFamily="2" charset="-122"/>
                <a:ea typeface="宋体" panose="02010600030101010101" pitchFamily="2" charset="-122"/>
              </a:rPr>
              <a:t>：打造区域“爆款”</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美的并非简单地将国内产品卖到海外，而是</a:t>
            </a:r>
            <a:r>
              <a:rPr lang="zh-CN" altLang="en-US" sz="1800" b="1" dirty="0">
                <a:solidFill>
                  <a:schemeClr val="tx1"/>
                </a:solidFill>
                <a:latin typeface="宋体" panose="02010600030101010101" pitchFamily="2" charset="-122"/>
                <a:ea typeface="宋体" panose="02010600030101010101" pitchFamily="2" charset="-122"/>
              </a:rPr>
              <a:t>深度洞察本地需求</a:t>
            </a:r>
            <a:r>
              <a:rPr lang="zh-CN" altLang="en-US" sz="1800" dirty="0">
                <a:solidFill>
                  <a:schemeClr val="tx1"/>
                </a:solidFill>
                <a:latin typeface="宋体" panose="02010600030101010101" pitchFamily="2" charset="-122"/>
                <a:ea typeface="宋体" panose="02010600030101010101" pitchFamily="2" charset="-122"/>
              </a:rPr>
              <a:t>。例如，针对美国市场嘈杂的传统窗机空调，美的研发了静音</a:t>
            </a:r>
            <a:r>
              <a:rPr lang="en-US" altLang="zh-CN" sz="1800" dirty="0">
                <a:solidFill>
                  <a:schemeClr val="tx1"/>
                </a:solidFill>
                <a:latin typeface="宋体" panose="02010600030101010101" pitchFamily="2" charset="-122"/>
                <a:ea typeface="宋体" panose="02010600030101010101" pitchFamily="2" charset="-122"/>
              </a:rPr>
              <a:t>U</a:t>
            </a:r>
            <a:r>
              <a:rPr lang="zh-CN" altLang="en-US" sz="1800" dirty="0">
                <a:solidFill>
                  <a:schemeClr val="tx1"/>
                </a:solidFill>
                <a:latin typeface="宋体" panose="02010600030101010101" pitchFamily="2" charset="-122"/>
                <a:ea typeface="宋体" panose="02010600030101010101" pitchFamily="2" charset="-122"/>
              </a:rPr>
              <a:t>型窗机，价格提升至</a:t>
            </a:r>
            <a:r>
              <a:rPr lang="en-US" altLang="zh-CN" sz="1800" dirty="0">
                <a:solidFill>
                  <a:schemeClr val="tx1"/>
                </a:solidFill>
                <a:latin typeface="宋体" panose="02010600030101010101" pitchFamily="2" charset="-122"/>
                <a:ea typeface="宋体" panose="02010600030101010101" pitchFamily="2" charset="-122"/>
              </a:rPr>
              <a:t>359</a:t>
            </a:r>
            <a:r>
              <a:rPr lang="zh-CN" altLang="en-US" sz="1800" dirty="0">
                <a:solidFill>
                  <a:schemeClr val="tx1"/>
                </a:solidFill>
                <a:latin typeface="宋体" panose="02010600030101010101" pitchFamily="2" charset="-122"/>
                <a:ea typeface="宋体" panose="02010600030101010101" pitchFamily="2" charset="-122"/>
              </a:rPr>
              <a:t>美元仍广受欢迎。在中东，则推出了融合“灯神”视觉符号和强劲制冷功能的 “</a:t>
            </a:r>
            <a:r>
              <a:rPr lang="en-US" altLang="zh-CN" sz="1800" dirty="0">
                <a:solidFill>
                  <a:schemeClr val="tx1"/>
                </a:solidFill>
                <a:latin typeface="宋体" panose="02010600030101010101" pitchFamily="2" charset="-122"/>
                <a:ea typeface="宋体" panose="02010600030101010101" pitchFamily="2" charset="-122"/>
              </a:rPr>
              <a:t>Midea Wonder”</a:t>
            </a:r>
            <a:r>
              <a:rPr lang="zh-CN" altLang="en-US" sz="1800" dirty="0">
                <a:solidFill>
                  <a:schemeClr val="tx1"/>
                </a:solidFill>
                <a:latin typeface="宋体" panose="02010600030101010101" pitchFamily="2" charset="-122"/>
                <a:ea typeface="宋体" panose="02010600030101010101" pitchFamily="2" charset="-122"/>
              </a:rPr>
              <a:t>窗机，成功抢占市场。</a:t>
            </a:r>
            <a:br>
              <a:rPr lang="zh-CN" altLang="en-US" sz="1800" dirty="0">
                <a:solidFill>
                  <a:schemeClr val="tx1"/>
                </a:solidFill>
                <a:latin typeface="宋体" panose="02010600030101010101" pitchFamily="2" charset="-122"/>
                <a:ea typeface="宋体" panose="02010600030101010101" pitchFamily="2" charset="-122"/>
              </a:rPr>
            </a:br>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并购与整合：</a:t>
            </a:r>
            <a:r>
              <a:rPr lang="zh-CN" altLang="en-US" sz="1800" dirty="0">
                <a:solidFill>
                  <a:schemeClr val="tx1"/>
                </a:solidFill>
                <a:latin typeface="宋体" panose="02010600030101010101" pitchFamily="2" charset="-122"/>
                <a:ea typeface="宋体" panose="02010600030101010101" pitchFamily="2" charset="-122"/>
              </a:rPr>
              <a:t>“渐进式”合作与“三不”原则</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美的在国际并购中常采用“为你打工</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与你合作</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将你收购”的渐进式策略。在整合被收购企业时，奉行“三不主义”：不杀国王（保留原管理层）、不毁品牌、不撤团队，以此稳定军心，实现优势互补。</a:t>
            </a:r>
            <a:br>
              <a:rPr lang="zh-CN" altLang="en-US" sz="1800" dirty="0">
                <a:solidFill>
                  <a:schemeClr val="tx1"/>
                </a:solidFill>
                <a:latin typeface="宋体" panose="02010600030101010101" pitchFamily="2" charset="-122"/>
                <a:ea typeface="宋体" panose="02010600030101010101" pitchFamily="2" charset="-122"/>
              </a:rPr>
            </a:br>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组织与人才</a:t>
            </a:r>
            <a:r>
              <a:rPr lang="zh-CN" altLang="en-US" sz="1800" dirty="0">
                <a:solidFill>
                  <a:schemeClr val="tx1"/>
                </a:solidFill>
                <a:latin typeface="宋体" panose="02010600030101010101" pitchFamily="2" charset="-122"/>
                <a:ea typeface="宋体" panose="02010600030101010101" pitchFamily="2" charset="-122"/>
              </a:rPr>
              <a:t>：事业部制激发活力</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美的自</a:t>
            </a:r>
            <a:r>
              <a:rPr lang="en-US" altLang="zh-CN" sz="1800" dirty="0">
                <a:solidFill>
                  <a:schemeClr val="tx1"/>
                </a:solidFill>
                <a:latin typeface="宋体" panose="02010600030101010101" pitchFamily="2" charset="-122"/>
                <a:ea typeface="宋体" panose="02010600030101010101" pitchFamily="2" charset="-122"/>
              </a:rPr>
              <a:t>1997</a:t>
            </a:r>
            <a:r>
              <a:rPr lang="zh-CN" altLang="en-US" sz="1800" dirty="0">
                <a:solidFill>
                  <a:schemeClr val="tx1"/>
                </a:solidFill>
                <a:latin typeface="宋体" panose="02010600030101010101" pitchFamily="2" charset="-122"/>
                <a:ea typeface="宋体" panose="02010600030101010101" pitchFamily="2" charset="-122"/>
              </a:rPr>
              <a:t>年开始推行的事业部制度，是其出海活力的重要来源。其精髓在于“开放、和谐、务实、创新”。通过充分放权，让各事业部自主经营、自负盈亏，从而激发了前端的积极性和灵活性。</a:t>
            </a:r>
          </a:p>
        </p:txBody>
      </p:sp>
      <p:pic>
        <p:nvPicPr>
          <p:cNvPr id="3" name="图片 2">
            <a:extLst>
              <a:ext uri="{FF2B5EF4-FFF2-40B4-BE49-F238E27FC236}">
                <a16:creationId xmlns:a16="http://schemas.microsoft.com/office/drawing/2014/main" id="{6663991A-279C-659B-D3AB-7AA28C4F916D}"/>
              </a:ext>
            </a:extLst>
          </p:cNvPr>
          <p:cNvPicPr>
            <a:picLocks noChangeAspect="1"/>
          </p:cNvPicPr>
          <p:nvPr/>
        </p:nvPicPr>
        <p:blipFill>
          <a:blip r:embed="rId2"/>
          <a:stretch>
            <a:fillRect/>
          </a:stretch>
        </p:blipFill>
        <p:spPr>
          <a:xfrm>
            <a:off x="5367737" y="3967218"/>
            <a:ext cx="3055452" cy="2281182"/>
          </a:xfrm>
          <a:prstGeom prst="rect">
            <a:avLst/>
          </a:prstGeom>
        </p:spPr>
      </p:pic>
      <p:sp>
        <p:nvSpPr>
          <p:cNvPr id="4" name="文本框 3">
            <a:extLst>
              <a:ext uri="{FF2B5EF4-FFF2-40B4-BE49-F238E27FC236}">
                <a16:creationId xmlns:a16="http://schemas.microsoft.com/office/drawing/2014/main" id="{5AE52D78-202A-0A3B-F582-EDE1C9AA0FEC}"/>
              </a:ext>
            </a:extLst>
          </p:cNvPr>
          <p:cNvSpPr txBox="1"/>
          <p:nvPr/>
        </p:nvSpPr>
        <p:spPr>
          <a:xfrm>
            <a:off x="5932201" y="5988971"/>
            <a:ext cx="1926523"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美的静音</a:t>
            </a:r>
            <a:r>
              <a:rPr lang="en-US" altLang="zh-CN" b="1" dirty="0">
                <a:latin typeface="宋体" panose="02010600030101010101" pitchFamily="2" charset="-122"/>
                <a:ea typeface="宋体" panose="02010600030101010101" pitchFamily="2" charset="-122"/>
              </a:rPr>
              <a:t>U</a:t>
            </a:r>
            <a:r>
              <a:rPr lang="zh-CN" altLang="en-US" b="1" dirty="0">
                <a:latin typeface="宋体" panose="02010600030101010101" pitchFamily="2" charset="-122"/>
                <a:ea typeface="宋体" panose="02010600030101010101" pitchFamily="2" charset="-122"/>
              </a:rPr>
              <a:t>型窗机</a:t>
            </a:r>
          </a:p>
        </p:txBody>
      </p:sp>
    </p:spTree>
    <p:extLst>
      <p:ext uri="{BB962C8B-B14F-4D97-AF65-F5344CB8AC3E}">
        <p14:creationId xmlns:p14="http://schemas.microsoft.com/office/powerpoint/2010/main" val="2224269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461B3-CE41-B02F-8BEE-70DA543A8A5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4C98D30-A579-4C8B-C7C1-1E39BB67FB17}"/>
              </a:ext>
            </a:extLst>
          </p:cNvPr>
          <p:cNvSpPr>
            <a:spLocks noGrp="1"/>
          </p:cNvSpPr>
          <p:nvPr>
            <p:ph type="title"/>
          </p:nvPr>
        </p:nvSpPr>
        <p:spPr>
          <a:xfrm>
            <a:off x="677863" y="609600"/>
            <a:ext cx="8596312" cy="1320800"/>
          </a:xfrm>
        </p:spPr>
        <p:txBody>
          <a:bodyPr/>
          <a:lstStyle/>
          <a:p>
            <a:r>
              <a:rPr lang="zh-CN" altLang="en-US" b="1" dirty="0">
                <a:solidFill>
                  <a:schemeClr val="tx1"/>
                </a:solidFill>
                <a:latin typeface="宋体" panose="02010600030101010101" pitchFamily="2" charset="-122"/>
                <a:ea typeface="宋体" panose="02010600030101010101" pitchFamily="2" charset="-122"/>
              </a:rPr>
              <a:t>近年美的海外营收</a:t>
            </a:r>
          </a:p>
        </p:txBody>
      </p:sp>
      <p:graphicFrame>
        <p:nvGraphicFramePr>
          <p:cNvPr id="6" name="图表 5">
            <a:extLst>
              <a:ext uri="{FF2B5EF4-FFF2-40B4-BE49-F238E27FC236}">
                <a16:creationId xmlns:a16="http://schemas.microsoft.com/office/drawing/2014/main" id="{63B0F970-0CCB-9689-1EDB-79D1799B6E0B}"/>
              </a:ext>
            </a:extLst>
          </p:cNvPr>
          <p:cNvGraphicFramePr/>
          <p:nvPr>
            <p:extLst>
              <p:ext uri="{D42A27DB-BD31-4B8C-83A1-F6EECF244321}">
                <p14:modId xmlns:p14="http://schemas.microsoft.com/office/powerpoint/2010/main" val="1123927256"/>
              </p:ext>
            </p:extLst>
          </p:nvPr>
        </p:nvGraphicFramePr>
        <p:xfrm>
          <a:off x="1969178" y="943031"/>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05033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2842-B434-8FE4-A3DC-B87B9D3B1AB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890B47A-CA7F-A190-689F-37AD0C9BE02E}"/>
              </a:ext>
            </a:extLst>
          </p:cNvPr>
          <p:cNvSpPr>
            <a:spLocks noGrp="1"/>
          </p:cNvSpPr>
          <p:nvPr>
            <p:ph type="title"/>
          </p:nvPr>
        </p:nvSpPr>
        <p:spPr/>
        <p:txBody>
          <a:bodyPr/>
          <a:lstStyle/>
          <a:p>
            <a:r>
              <a:rPr lang="zh-CN" altLang="en-US" b="1" dirty="0">
                <a:solidFill>
                  <a:schemeClr val="tx1"/>
                </a:solidFill>
                <a:latin typeface="宋体" panose="02010600030101010101" pitchFamily="2" charset="-122"/>
                <a:ea typeface="宋体" panose="02010600030101010101" pitchFamily="2" charset="-122"/>
              </a:rPr>
              <a:t>格力：“定制市场”</a:t>
            </a:r>
          </a:p>
        </p:txBody>
      </p:sp>
      <p:sp>
        <p:nvSpPr>
          <p:cNvPr id="3" name="文本框 2">
            <a:extLst>
              <a:ext uri="{FF2B5EF4-FFF2-40B4-BE49-F238E27FC236}">
                <a16:creationId xmlns:a16="http://schemas.microsoft.com/office/drawing/2014/main" id="{16515942-49E7-C089-B4AA-491F6AFDC829}"/>
              </a:ext>
            </a:extLst>
          </p:cNvPr>
          <p:cNvSpPr txBox="1"/>
          <p:nvPr/>
        </p:nvSpPr>
        <p:spPr>
          <a:xfrm>
            <a:off x="826718" y="1503123"/>
            <a:ext cx="7910186" cy="2031325"/>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坚定不移的自主品牌之路</a:t>
            </a:r>
          </a:p>
          <a:p>
            <a:r>
              <a:rPr lang="zh-CN" altLang="en-US" dirty="0">
                <a:latin typeface="宋体" panose="02010600030101010101" pitchFamily="2" charset="-122"/>
                <a:ea typeface="宋体" panose="02010600030101010101" pitchFamily="2" charset="-122"/>
              </a:rPr>
              <a:t>格力在出海初期，也曾面临“中国制造”等同于“低价低质”的偏见。但它选择了最艰难的一条路：坚决不做贴牌代工，全力打造自主品牌。这条路初期投入大、见效慢，但格力认为，只有让消费者记住“格力”这个名字，品牌才能有长久的生命力。正是这份坚持，让其自主品牌占比从十年前的不足</a:t>
            </a:r>
            <a:r>
              <a:rPr lang="en-US" altLang="zh-CN" dirty="0">
                <a:latin typeface="宋体" panose="02010600030101010101" pitchFamily="2" charset="-122"/>
                <a:ea typeface="宋体" panose="02010600030101010101" pitchFamily="2" charset="-122"/>
              </a:rPr>
              <a:t>30%</a:t>
            </a:r>
            <a:r>
              <a:rPr lang="zh-CN" altLang="en-US" dirty="0">
                <a:latin typeface="宋体" panose="02010600030101010101" pitchFamily="2" charset="-122"/>
                <a:ea typeface="宋体" panose="02010600030101010101" pitchFamily="2" charset="-122"/>
              </a:rPr>
              <a:t>提升至如今的</a:t>
            </a:r>
            <a:r>
              <a:rPr lang="en-US" altLang="zh-CN" dirty="0">
                <a:latin typeface="宋体" panose="02010600030101010101" pitchFamily="2" charset="-122"/>
                <a:ea typeface="宋体" panose="02010600030101010101" pitchFamily="2" charset="-122"/>
              </a:rPr>
              <a:t>70%</a:t>
            </a:r>
            <a:r>
              <a:rPr lang="zh-CN" altLang="en-US" dirty="0">
                <a:latin typeface="宋体" panose="02010600030101010101" pitchFamily="2" charset="-122"/>
                <a:ea typeface="宋体" panose="02010600030101010101" pitchFamily="2" charset="-122"/>
              </a:rPr>
              <a:t>。</a:t>
            </a:r>
          </a:p>
          <a:p>
            <a:endParaRPr lang="zh-CN" altLang="en-US"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35B9F203-F3C3-86B6-FDB7-E5F67E273CBD}"/>
              </a:ext>
            </a:extLst>
          </p:cNvPr>
          <p:cNvPicPr>
            <a:picLocks noChangeAspect="1"/>
          </p:cNvPicPr>
          <p:nvPr/>
        </p:nvPicPr>
        <p:blipFill>
          <a:blip r:embed="rId2"/>
          <a:stretch>
            <a:fillRect/>
          </a:stretch>
        </p:blipFill>
        <p:spPr>
          <a:xfrm>
            <a:off x="2414326" y="3771509"/>
            <a:ext cx="3945589" cy="2710710"/>
          </a:xfrm>
          <a:prstGeom prst="rect">
            <a:avLst/>
          </a:prstGeom>
        </p:spPr>
      </p:pic>
    </p:spTree>
    <p:extLst>
      <p:ext uri="{BB962C8B-B14F-4D97-AF65-F5344CB8AC3E}">
        <p14:creationId xmlns:p14="http://schemas.microsoft.com/office/powerpoint/2010/main" val="2160165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450FA-CC64-6F21-1C52-6473E03FD4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A34F53-78F7-9182-2220-FAE7D7A04066}"/>
              </a:ext>
            </a:extLst>
          </p:cNvPr>
          <p:cNvSpPr>
            <a:spLocks noGrp="1"/>
          </p:cNvSpPr>
          <p:nvPr>
            <p:ph type="title"/>
          </p:nvPr>
        </p:nvSpPr>
        <p:spPr/>
        <p:txBody>
          <a:bodyPr>
            <a:normAutofit fontScale="90000"/>
          </a:bodyPr>
          <a:lstStyle/>
          <a:p>
            <a:r>
              <a:rPr lang="zh-CN" altLang="en-US" sz="1800" b="1" dirty="0">
                <a:solidFill>
                  <a:schemeClr val="tx1"/>
                </a:solidFill>
                <a:latin typeface="宋体" panose="02010600030101010101" pitchFamily="2" charset="-122"/>
                <a:ea typeface="宋体" panose="02010600030101010101" pitchFamily="2" charset="-122"/>
              </a:rPr>
              <a:t>不设重点的全球定制化市场观</a:t>
            </a:r>
            <a:br>
              <a:rPr lang="zh-CN" altLang="en-US" sz="1800" b="1"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格力对全球市场的看法非常独特：没有“重点市场”与“非重点市场”之分，</a:t>
            </a:r>
            <a:r>
              <a:rPr lang="en-US" altLang="zh-CN" sz="1800" dirty="0">
                <a:solidFill>
                  <a:schemeClr val="tx1"/>
                </a:solidFill>
                <a:latin typeface="宋体" panose="02010600030101010101" pitchFamily="2" charset="-122"/>
                <a:ea typeface="宋体" panose="02010600030101010101" pitchFamily="2" charset="-122"/>
              </a:rPr>
              <a:t>190</a:t>
            </a:r>
            <a:r>
              <a:rPr lang="zh-CN" altLang="en-US" sz="1800" dirty="0">
                <a:solidFill>
                  <a:schemeClr val="tx1"/>
                </a:solidFill>
                <a:latin typeface="宋体" panose="02010600030101010101" pitchFamily="2" charset="-122"/>
                <a:ea typeface="宋体" panose="02010600030101010101" pitchFamily="2" charset="-122"/>
              </a:rPr>
              <a:t>多个国家和地区每一个都是需要深耕的“定制市场”。在俄罗斯西伯利亚，需要能抵抗</a:t>
            </a:r>
            <a:r>
              <a:rPr lang="en-US" altLang="zh-CN" sz="1800" dirty="0">
                <a:solidFill>
                  <a:schemeClr val="tx1"/>
                </a:solidFill>
                <a:latin typeface="宋体" panose="02010600030101010101" pitchFamily="2" charset="-122"/>
                <a:ea typeface="宋体" panose="02010600030101010101" pitchFamily="2" charset="-122"/>
              </a:rPr>
              <a:t>-40℃</a:t>
            </a:r>
            <a:r>
              <a:rPr lang="zh-CN" altLang="en-US" sz="1800" dirty="0">
                <a:solidFill>
                  <a:schemeClr val="tx1"/>
                </a:solidFill>
                <a:latin typeface="宋体" panose="02010600030101010101" pitchFamily="2" charset="-122"/>
                <a:ea typeface="宋体" panose="02010600030101010101" pitchFamily="2" charset="-122"/>
              </a:rPr>
              <a:t>严寒稳定制热的空调；在中东沙漠，则需要能在</a:t>
            </a:r>
            <a:r>
              <a:rPr lang="en-US" altLang="zh-CN" sz="1800" dirty="0">
                <a:solidFill>
                  <a:schemeClr val="tx1"/>
                </a:solidFill>
                <a:latin typeface="宋体" panose="02010600030101010101" pitchFamily="2" charset="-122"/>
                <a:ea typeface="宋体" panose="02010600030101010101" pitchFamily="2" charset="-122"/>
              </a:rPr>
              <a:t>70℃</a:t>
            </a:r>
            <a:r>
              <a:rPr lang="zh-CN" altLang="en-US" sz="1800" dirty="0">
                <a:solidFill>
                  <a:schemeClr val="tx1"/>
                </a:solidFill>
                <a:latin typeface="宋体" panose="02010600030101010101" pitchFamily="2" charset="-122"/>
                <a:ea typeface="宋体" panose="02010600030101010101" pitchFamily="2" charset="-122"/>
              </a:rPr>
              <a:t>地表温度下持续运行且耐腐蚀的产品。格力凭借其强大的研发能力，为这些极端环境提供了定制化的解决方案，从而在全球范围内撕开了市场口子。</a:t>
            </a:r>
            <a:br>
              <a:rPr lang="zh-CN" altLang="en-US" sz="1800" dirty="0">
                <a:solidFill>
                  <a:schemeClr val="tx1"/>
                </a:solidFill>
                <a:latin typeface="宋体" panose="02010600030101010101" pitchFamily="2" charset="-122"/>
                <a:ea typeface="宋体" panose="02010600030101010101" pitchFamily="2" charset="-122"/>
              </a:rPr>
            </a:br>
            <a:endParaRPr lang="zh-CN" altLang="en-US" sz="1800" dirty="0">
              <a:solidFill>
                <a:schemeClr val="tx1"/>
              </a:solidFill>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DDBFE92D-44DC-C87A-C5FE-0ECEAD320911}"/>
              </a:ext>
            </a:extLst>
          </p:cNvPr>
          <p:cNvPicPr>
            <a:picLocks noChangeAspect="1"/>
          </p:cNvPicPr>
          <p:nvPr/>
        </p:nvPicPr>
        <p:blipFill>
          <a:blip r:embed="rId2"/>
          <a:srcRect b="11503"/>
          <a:stretch>
            <a:fillRect/>
          </a:stretch>
        </p:blipFill>
        <p:spPr>
          <a:xfrm>
            <a:off x="1434296" y="2816922"/>
            <a:ext cx="3724275" cy="2613112"/>
          </a:xfrm>
          <a:prstGeom prst="rect">
            <a:avLst/>
          </a:prstGeom>
        </p:spPr>
      </p:pic>
      <p:pic>
        <p:nvPicPr>
          <p:cNvPr id="4" name="图片 3">
            <a:extLst>
              <a:ext uri="{FF2B5EF4-FFF2-40B4-BE49-F238E27FC236}">
                <a16:creationId xmlns:a16="http://schemas.microsoft.com/office/drawing/2014/main" id="{28E6E344-7047-8A55-92DB-1F662499B818}"/>
              </a:ext>
            </a:extLst>
          </p:cNvPr>
          <p:cNvPicPr>
            <a:picLocks noChangeAspect="1"/>
          </p:cNvPicPr>
          <p:nvPr/>
        </p:nvPicPr>
        <p:blipFill>
          <a:blip r:embed="rId3"/>
          <a:stretch>
            <a:fillRect/>
          </a:stretch>
        </p:blipFill>
        <p:spPr>
          <a:xfrm>
            <a:off x="5474005" y="2668042"/>
            <a:ext cx="3757810" cy="2818357"/>
          </a:xfrm>
          <a:prstGeom prst="rect">
            <a:avLst/>
          </a:prstGeom>
        </p:spPr>
      </p:pic>
    </p:spTree>
    <p:extLst>
      <p:ext uri="{BB962C8B-B14F-4D97-AF65-F5344CB8AC3E}">
        <p14:creationId xmlns:p14="http://schemas.microsoft.com/office/powerpoint/2010/main" val="2998116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65B8D-85F5-E986-E444-2B2E032FEC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742758-942B-2F76-F20E-968C61C05B68}"/>
              </a:ext>
            </a:extLst>
          </p:cNvPr>
          <p:cNvSpPr>
            <a:spLocks noGrp="1"/>
          </p:cNvSpPr>
          <p:nvPr>
            <p:ph type="title"/>
          </p:nvPr>
        </p:nvSpPr>
        <p:spPr>
          <a:xfrm>
            <a:off x="815121" y="1354898"/>
            <a:ext cx="8596668" cy="3943611"/>
          </a:xfrm>
        </p:spPr>
        <p:txBody>
          <a:bodyPr>
            <a:normAutofit fontScale="90000"/>
          </a:bodyPr>
          <a:lstStyle/>
          <a:p>
            <a:r>
              <a:rPr lang="zh-CN" altLang="en-US" sz="1800" b="1" dirty="0">
                <a:solidFill>
                  <a:schemeClr val="tx1"/>
                </a:solidFill>
                <a:latin typeface="宋体" panose="02010600030101010101" pitchFamily="2" charset="-122"/>
                <a:ea typeface="宋体" panose="02010600030101010101" pitchFamily="2" charset="-122"/>
              </a:rPr>
              <a:t>技术是格力出海战略最坚实的保障。</a:t>
            </a:r>
            <a:br>
              <a:rPr lang="zh-CN" altLang="en-US" sz="1800" b="1" dirty="0">
                <a:solidFill>
                  <a:schemeClr val="tx1"/>
                </a:solidFill>
                <a:latin typeface="宋体" panose="02010600030101010101" pitchFamily="2" charset="-122"/>
                <a:ea typeface="宋体" panose="02010600030101010101" pitchFamily="2" charset="-122"/>
              </a:rPr>
            </a:br>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攻克极端环境的定制科技</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格力组建了深度的市场调研和研发体系，其技术创新直指各地区用户的核心痛点：针对中东的酷暑，开发了</a:t>
            </a:r>
            <a:r>
              <a:rPr lang="en-US" altLang="zh-CN" sz="1800" b="1" dirty="0">
                <a:solidFill>
                  <a:schemeClr val="tx1"/>
                </a:solidFill>
                <a:latin typeface="宋体" panose="02010600030101010101" pitchFamily="2" charset="-122"/>
                <a:ea typeface="宋体" panose="02010600030101010101" pitchFamily="2" charset="-122"/>
              </a:rPr>
              <a:t>68℃</a:t>
            </a:r>
            <a:r>
              <a:rPr lang="zh-CN" altLang="en-US" sz="1800" b="1" dirty="0">
                <a:solidFill>
                  <a:schemeClr val="tx1"/>
                </a:solidFill>
                <a:latin typeface="宋体" panose="02010600030101010101" pitchFamily="2" charset="-122"/>
                <a:ea typeface="宋体" panose="02010600030101010101" pitchFamily="2" charset="-122"/>
              </a:rPr>
              <a:t>高温下仍能稳定制冷的空调</a:t>
            </a:r>
            <a:r>
              <a:rPr lang="zh-CN" altLang="en-US" sz="1800" dirty="0">
                <a:solidFill>
                  <a:schemeClr val="tx1"/>
                </a:solidFill>
                <a:latin typeface="宋体" panose="02010600030101010101" pitchFamily="2" charset="-122"/>
                <a:ea typeface="宋体" panose="02010600030101010101" pitchFamily="2" charset="-122"/>
              </a:rPr>
              <a:t>；针对北欧的极寒，研发了</a:t>
            </a:r>
            <a:r>
              <a:rPr lang="zh-CN" altLang="en-US" sz="1800" b="1" dirty="0">
                <a:solidFill>
                  <a:schemeClr val="tx1"/>
                </a:solidFill>
                <a:latin typeface="宋体" panose="02010600030101010101" pitchFamily="2" charset="-122"/>
                <a:ea typeface="宋体" panose="02010600030101010101" pitchFamily="2" charset="-122"/>
              </a:rPr>
              <a:t>采用“双级压缩</a:t>
            </a:r>
            <a:r>
              <a:rPr lang="en-US" altLang="zh-CN" sz="1800" b="1" dirty="0">
                <a:solidFill>
                  <a:schemeClr val="tx1"/>
                </a:solidFill>
                <a:latin typeface="宋体" panose="02010600030101010101" pitchFamily="2" charset="-122"/>
                <a:ea typeface="宋体" panose="02010600030101010101" pitchFamily="2" charset="-122"/>
              </a:rPr>
              <a:t>+</a:t>
            </a:r>
            <a:r>
              <a:rPr lang="zh-CN" altLang="en-US" sz="1800" b="1" dirty="0">
                <a:solidFill>
                  <a:schemeClr val="tx1"/>
                </a:solidFill>
                <a:latin typeface="宋体" panose="02010600030101010101" pitchFamily="2" charset="-122"/>
                <a:ea typeface="宋体" panose="02010600030101010101" pitchFamily="2" charset="-122"/>
              </a:rPr>
              <a:t>喷气增焓”技术的第三代超低温热泵空调，</a:t>
            </a:r>
            <a:r>
              <a:rPr lang="en-US" altLang="zh-CN" sz="1800" b="1" dirty="0">
                <a:solidFill>
                  <a:schemeClr val="tx1"/>
                </a:solidFill>
                <a:latin typeface="宋体" panose="02010600030101010101" pitchFamily="2" charset="-122"/>
                <a:ea typeface="宋体" panose="02010600030101010101" pitchFamily="2" charset="-122"/>
              </a:rPr>
              <a:t>-25℃</a:t>
            </a:r>
            <a:r>
              <a:rPr lang="zh-CN" altLang="en-US" sz="1800" b="1" dirty="0">
                <a:solidFill>
                  <a:schemeClr val="tx1"/>
                </a:solidFill>
                <a:latin typeface="宋体" panose="02010600030101010101" pitchFamily="2" charset="-122"/>
                <a:ea typeface="宋体" panose="02010600030101010101" pitchFamily="2" charset="-122"/>
              </a:rPr>
              <a:t>时制热能力依然保持</a:t>
            </a:r>
            <a:r>
              <a:rPr lang="en-US" altLang="zh-CN" sz="1800" b="1" dirty="0">
                <a:solidFill>
                  <a:schemeClr val="tx1"/>
                </a:solidFill>
                <a:latin typeface="宋体" panose="02010600030101010101" pitchFamily="2" charset="-122"/>
                <a:ea typeface="宋体" panose="02010600030101010101" pitchFamily="2" charset="-122"/>
              </a:rPr>
              <a:t>100%</a:t>
            </a:r>
            <a:r>
              <a:rPr lang="zh-CN" altLang="en-US" sz="1800" dirty="0">
                <a:solidFill>
                  <a:schemeClr val="tx1"/>
                </a:solidFill>
                <a:latin typeface="宋体" panose="02010600030101010101" pitchFamily="2" charset="-122"/>
                <a:ea typeface="宋体" panose="02010600030101010101" pitchFamily="2" charset="-122"/>
              </a:rPr>
              <a:t>；针对伊拉克等地区电压不稳的情况，优化电路设计，</a:t>
            </a:r>
            <a:r>
              <a:rPr lang="zh-CN" altLang="en-US" sz="1800" b="1" dirty="0">
                <a:solidFill>
                  <a:schemeClr val="tx1"/>
                </a:solidFill>
                <a:latin typeface="宋体" panose="02010600030101010101" pitchFamily="2" charset="-122"/>
                <a:ea typeface="宋体" panose="02010600030101010101" pitchFamily="2" charset="-122"/>
              </a:rPr>
              <a:t>确保空调在电压波动</a:t>
            </a:r>
            <a:r>
              <a:rPr lang="en-US" altLang="zh-CN" sz="1800" b="1" dirty="0">
                <a:solidFill>
                  <a:schemeClr val="tx1"/>
                </a:solidFill>
                <a:latin typeface="宋体" panose="02010600030101010101" pitchFamily="2" charset="-122"/>
                <a:ea typeface="宋体" panose="02010600030101010101" pitchFamily="2" charset="-122"/>
              </a:rPr>
              <a:t>±20% </a:t>
            </a:r>
            <a:r>
              <a:rPr lang="zh-CN" altLang="en-US" sz="1800" b="1" dirty="0">
                <a:solidFill>
                  <a:schemeClr val="tx1"/>
                </a:solidFill>
                <a:latin typeface="宋体" panose="02010600030101010101" pitchFamily="2" charset="-122"/>
                <a:ea typeface="宋体" panose="02010600030101010101" pitchFamily="2" charset="-122"/>
              </a:rPr>
              <a:t>时也能稳定运行</a:t>
            </a:r>
            <a:r>
              <a:rPr lang="zh-CN" altLang="en-US" sz="1800" dirty="0">
                <a:solidFill>
                  <a:schemeClr val="tx1"/>
                </a:solidFill>
                <a:latin typeface="宋体" panose="02010600030101010101" pitchFamily="2" charset="-122"/>
                <a:ea typeface="宋体" panose="02010600030101010101" pitchFamily="2" charset="-122"/>
              </a:rPr>
              <a:t>。</a:t>
            </a:r>
            <a:br>
              <a:rPr lang="zh-CN" altLang="en-US" sz="1800" dirty="0">
                <a:solidFill>
                  <a:schemeClr val="tx1"/>
                </a:solidFill>
                <a:latin typeface="宋体" panose="02010600030101010101" pitchFamily="2" charset="-122"/>
                <a:ea typeface="宋体" panose="02010600030101010101" pitchFamily="2" charset="-122"/>
              </a:rPr>
            </a:br>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引领行业的静音与商用技术</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除了适应环境，格力还在引领行业。例如，其发布的</a:t>
            </a:r>
            <a:r>
              <a:rPr lang="en-US" altLang="zh-CN" sz="1800" dirty="0" err="1">
                <a:solidFill>
                  <a:schemeClr val="tx1"/>
                </a:solidFill>
                <a:latin typeface="宋体" panose="02010600030101010101" pitchFamily="2" charset="-122"/>
                <a:ea typeface="宋体" panose="02010600030101010101" pitchFamily="2" charset="-122"/>
              </a:rPr>
              <a:t>SilenzX</a:t>
            </a:r>
            <a:r>
              <a:rPr lang="zh-CN" altLang="en-US" sz="1800" dirty="0">
                <a:solidFill>
                  <a:schemeClr val="tx1"/>
                </a:solidFill>
                <a:latin typeface="宋体" panose="02010600030101010101" pitchFamily="2" charset="-122"/>
                <a:ea typeface="宋体" panose="02010600030101010101" pitchFamily="2" charset="-122"/>
              </a:rPr>
              <a:t>系列空调，通过搭载拥有</a:t>
            </a:r>
            <a:r>
              <a:rPr lang="en-US" altLang="zh-CN" sz="1800" dirty="0">
                <a:solidFill>
                  <a:schemeClr val="tx1"/>
                </a:solidFill>
                <a:latin typeface="宋体" panose="02010600030101010101" pitchFamily="2" charset="-122"/>
                <a:ea typeface="宋体" panose="02010600030101010101" pitchFamily="2" charset="-122"/>
              </a:rPr>
              <a:t>137</a:t>
            </a:r>
            <a:r>
              <a:rPr lang="zh-CN" altLang="en-US" sz="1800" dirty="0">
                <a:solidFill>
                  <a:schemeClr val="tx1"/>
                </a:solidFill>
                <a:latin typeface="宋体" panose="02010600030101010101" pitchFamily="2" charset="-122"/>
                <a:ea typeface="宋体" panose="02010600030101010101" pitchFamily="2" charset="-122"/>
              </a:rPr>
              <a:t>项专利的</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四缸静音旋转式压缩机</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，将室内机噪音降至</a:t>
            </a:r>
            <a:r>
              <a:rPr lang="en-US" altLang="zh-CN" sz="1800" dirty="0">
                <a:solidFill>
                  <a:schemeClr val="tx1"/>
                </a:solidFill>
                <a:latin typeface="宋体" panose="02010600030101010101" pitchFamily="2" charset="-122"/>
                <a:ea typeface="宋体" panose="02010600030101010101" pitchFamily="2" charset="-122"/>
              </a:rPr>
              <a:t>15</a:t>
            </a:r>
            <a:r>
              <a:rPr lang="zh-CN" altLang="en-US" sz="1800" dirty="0">
                <a:solidFill>
                  <a:schemeClr val="tx1"/>
                </a:solidFill>
                <a:latin typeface="宋体" panose="02010600030101010101" pitchFamily="2" charset="-122"/>
                <a:ea typeface="宋体" panose="02010600030101010101" pitchFamily="2" charset="-122"/>
              </a:rPr>
              <a:t>分贝（相当于卧室安静环境），室外机噪音降至</a:t>
            </a:r>
            <a:r>
              <a:rPr lang="en-US" altLang="zh-CN" sz="1800" dirty="0">
                <a:solidFill>
                  <a:schemeClr val="tx1"/>
                </a:solidFill>
                <a:latin typeface="宋体" panose="02010600030101010101" pitchFamily="2" charset="-122"/>
                <a:ea typeface="宋体" panose="02010600030101010101" pitchFamily="2" charset="-122"/>
              </a:rPr>
              <a:t>29</a:t>
            </a:r>
            <a:r>
              <a:rPr lang="zh-CN" altLang="en-US" sz="1800" dirty="0">
                <a:solidFill>
                  <a:schemeClr val="tx1"/>
                </a:solidFill>
                <a:latin typeface="宋体" panose="02010600030101010101" pitchFamily="2" charset="-122"/>
                <a:ea typeface="宋体" panose="02010600030101010101" pitchFamily="2" charset="-122"/>
              </a:rPr>
              <a:t>分贝，同时实现了</a:t>
            </a:r>
            <a:r>
              <a:rPr lang="zh-CN" altLang="en-US" sz="1800" b="1" dirty="0">
                <a:solidFill>
                  <a:schemeClr val="tx1"/>
                </a:solidFill>
                <a:latin typeface="宋体" panose="02010600030101010101" pitchFamily="2" charset="-122"/>
                <a:ea typeface="宋体" panose="02010600030101010101" pitchFamily="2" charset="-122"/>
              </a:rPr>
              <a:t>全年能耗降低</a:t>
            </a:r>
            <a:r>
              <a:rPr lang="en-US" altLang="zh-CN" sz="1800" b="1" dirty="0">
                <a:solidFill>
                  <a:schemeClr val="tx1"/>
                </a:solidFill>
                <a:latin typeface="宋体" panose="02010600030101010101" pitchFamily="2" charset="-122"/>
                <a:ea typeface="宋体" panose="02010600030101010101" pitchFamily="2" charset="-122"/>
              </a:rPr>
              <a:t>15%</a:t>
            </a:r>
            <a:r>
              <a:rPr lang="zh-CN" altLang="en-US" sz="1800" dirty="0">
                <a:solidFill>
                  <a:schemeClr val="tx1"/>
                </a:solidFill>
                <a:latin typeface="宋体" panose="02010600030101010101" pitchFamily="2" charset="-122"/>
                <a:ea typeface="宋体" panose="02010600030101010101" pitchFamily="2" charset="-122"/>
              </a:rPr>
              <a:t>。在商用领域，</a:t>
            </a:r>
            <a:r>
              <a:rPr lang="en-US" altLang="zh-CN" sz="1800" dirty="0">
                <a:solidFill>
                  <a:schemeClr val="tx1"/>
                </a:solidFill>
                <a:latin typeface="宋体" panose="02010600030101010101" pitchFamily="2" charset="-122"/>
                <a:ea typeface="宋体" panose="02010600030101010101" pitchFamily="2" charset="-122"/>
              </a:rPr>
              <a:t>GMV9</a:t>
            </a:r>
            <a:r>
              <a:rPr lang="zh-CN" altLang="en-US" sz="1800" dirty="0">
                <a:solidFill>
                  <a:schemeClr val="tx1"/>
                </a:solidFill>
                <a:latin typeface="宋体" panose="02010600030101010101" pitchFamily="2" charset="-122"/>
                <a:ea typeface="宋体" panose="02010600030101010101" pitchFamily="2" charset="-122"/>
              </a:rPr>
              <a:t>系列中央空调的能效比</a:t>
            </a:r>
            <a:r>
              <a:rPr lang="en-US" altLang="zh-CN" sz="1800" dirty="0">
                <a:solidFill>
                  <a:schemeClr val="tx1"/>
                </a:solidFill>
                <a:latin typeface="宋体" panose="02010600030101010101" pitchFamily="2" charset="-122"/>
                <a:ea typeface="宋体" panose="02010600030101010101" pitchFamily="2" charset="-122"/>
              </a:rPr>
              <a:t>SEER</a:t>
            </a:r>
            <a:r>
              <a:rPr lang="zh-CN" altLang="en-US" sz="1800" dirty="0">
                <a:solidFill>
                  <a:schemeClr val="tx1"/>
                </a:solidFill>
                <a:latin typeface="宋体" panose="02010600030101010101" pitchFamily="2" charset="-122"/>
                <a:ea typeface="宋体" panose="02010600030101010101" pitchFamily="2" charset="-122"/>
              </a:rPr>
              <a:t>值高达</a:t>
            </a:r>
            <a:r>
              <a:rPr lang="en-US" altLang="zh-CN" sz="1800" dirty="0">
                <a:solidFill>
                  <a:schemeClr val="tx1"/>
                </a:solidFill>
                <a:latin typeface="宋体" panose="02010600030101010101" pitchFamily="2" charset="-122"/>
                <a:ea typeface="宋体" panose="02010600030101010101" pitchFamily="2" charset="-122"/>
              </a:rPr>
              <a:t>9.0</a:t>
            </a:r>
            <a:r>
              <a:rPr lang="zh-CN" altLang="en-US" sz="1800" dirty="0">
                <a:solidFill>
                  <a:schemeClr val="tx1"/>
                </a:solidFill>
                <a:latin typeface="宋体" panose="02010600030101010101" pitchFamily="2" charset="-122"/>
                <a:ea typeface="宋体" panose="02010600030101010101" pitchFamily="2" charset="-122"/>
              </a:rPr>
              <a:t>，远超行业平均水平，</a:t>
            </a:r>
            <a:r>
              <a:rPr lang="zh-CN" altLang="en-US" sz="1800" b="1" dirty="0">
                <a:solidFill>
                  <a:schemeClr val="tx1"/>
                </a:solidFill>
                <a:latin typeface="宋体" panose="02010600030101010101" pitchFamily="2" charset="-122"/>
                <a:ea typeface="宋体" panose="02010600030101010101" pitchFamily="2" charset="-122"/>
              </a:rPr>
              <a:t>能为大型商业项目节能</a:t>
            </a:r>
            <a:r>
              <a:rPr lang="en-US" altLang="zh-CN" sz="1800" b="1" dirty="0">
                <a:solidFill>
                  <a:schemeClr val="tx1"/>
                </a:solidFill>
                <a:latin typeface="宋体" panose="02010600030101010101" pitchFamily="2" charset="-122"/>
                <a:ea typeface="宋体" panose="02010600030101010101" pitchFamily="2" charset="-122"/>
              </a:rPr>
              <a:t>25%</a:t>
            </a:r>
            <a:r>
              <a:rPr lang="zh-CN" altLang="en-US" sz="1800" b="1" dirty="0">
                <a:solidFill>
                  <a:schemeClr val="tx1"/>
                </a:solidFill>
                <a:latin typeface="宋体" panose="02010600030101010101" pitchFamily="2" charset="-122"/>
                <a:ea typeface="宋体" panose="02010600030101010101" pitchFamily="2" charset="-122"/>
              </a:rPr>
              <a:t>以上</a:t>
            </a:r>
            <a:r>
              <a:rPr lang="zh-CN" altLang="en-US" sz="1800" dirty="0">
                <a:solidFill>
                  <a:schemeClr val="tx1"/>
                </a:solidFill>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878364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0C7F-C489-D188-9073-88B9A55356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36B78C-6016-7CE1-15FA-0872946347DE}"/>
              </a:ext>
            </a:extLst>
          </p:cNvPr>
          <p:cNvSpPr>
            <a:spLocks noGrp="1"/>
          </p:cNvSpPr>
          <p:nvPr>
            <p:ph type="title"/>
          </p:nvPr>
        </p:nvSpPr>
        <p:spPr>
          <a:xfrm>
            <a:off x="677334" y="609599"/>
            <a:ext cx="8848710" cy="4908115"/>
          </a:xfrm>
        </p:spPr>
        <p:txBody>
          <a:bodyPr>
            <a:normAutofit/>
          </a:bodyPr>
          <a:lstStyle/>
          <a:p>
            <a:r>
              <a:rPr lang="zh-CN" altLang="en-US" sz="1800" b="1" dirty="0">
                <a:solidFill>
                  <a:schemeClr val="tx1"/>
                </a:solidFill>
                <a:latin typeface="宋体" panose="02010600030101010101" pitchFamily="2" charset="-122"/>
                <a:ea typeface="宋体" panose="02010600030101010101" pitchFamily="2" charset="-122"/>
              </a:rPr>
              <a:t>从渠道到服务的深度本地化</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格力正计划试点建设海外区域销售公司，并完善海外智能制造基地布局，目标是形成</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产销研一体化</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的国际化生产基地。在东南亚等核心市场，格力放弃了传统的层层代理模式，转而成立子公司进行直营，直接掌控渠道和终端服务。同时，格力还推行了如</a:t>
            </a:r>
            <a:r>
              <a:rPr lang="zh-CN" altLang="en-US" sz="1800" b="1" dirty="0">
                <a:solidFill>
                  <a:schemeClr val="tx1"/>
                </a:solidFill>
                <a:latin typeface="宋体" panose="02010600030101010101" pitchFamily="2" charset="-122"/>
                <a:ea typeface="宋体" panose="02010600030101010101" pitchFamily="2" charset="-122"/>
              </a:rPr>
              <a:t>印尼市场</a:t>
            </a:r>
            <a:r>
              <a:rPr lang="en-US" altLang="zh-CN" sz="1800" dirty="0">
                <a:solidFill>
                  <a:schemeClr val="tx1"/>
                </a:solidFill>
                <a:latin typeface="宋体" panose="02010600030101010101" pitchFamily="2" charset="-122"/>
                <a:ea typeface="宋体" panose="02010600030101010101" pitchFamily="2" charset="-122"/>
              </a:rPr>
              <a:t>“5+10”</a:t>
            </a:r>
            <a:r>
              <a:rPr lang="zh-CN" altLang="en-US" sz="1800" dirty="0">
                <a:solidFill>
                  <a:schemeClr val="tx1"/>
                </a:solidFill>
                <a:latin typeface="宋体" panose="02010600030101010101" pitchFamily="2" charset="-122"/>
                <a:ea typeface="宋体" panose="02010600030101010101" pitchFamily="2" charset="-122"/>
              </a:rPr>
              <a:t>服务（核心零部件更换、上门维修等全流程服务）这样的长承诺，远超当地日系品牌普遍提供的</a:t>
            </a:r>
            <a:r>
              <a:rPr lang="en-US" altLang="zh-CN" sz="1800" dirty="0">
                <a:solidFill>
                  <a:schemeClr val="tx1"/>
                </a:solidFill>
                <a:latin typeface="宋体" panose="02010600030101010101" pitchFamily="2" charset="-122"/>
                <a:ea typeface="宋体" panose="02010600030101010101" pitchFamily="2" charset="-122"/>
              </a:rPr>
              <a:t>3</a:t>
            </a:r>
            <a:r>
              <a:rPr lang="zh-CN" altLang="en-US" sz="1800" dirty="0">
                <a:solidFill>
                  <a:schemeClr val="tx1"/>
                </a:solidFill>
                <a:latin typeface="宋体" panose="02010600030101010101" pitchFamily="2" charset="-122"/>
                <a:ea typeface="宋体" panose="02010600030101010101" pitchFamily="2" charset="-122"/>
              </a:rPr>
              <a:t>年包修政策，以此建立深厚的用户信任。</a:t>
            </a:r>
            <a:br>
              <a:rPr lang="zh-CN" altLang="en-US" sz="1800" dirty="0">
                <a:solidFill>
                  <a:schemeClr val="tx1"/>
                </a:solidFill>
                <a:latin typeface="宋体" panose="02010600030101010101" pitchFamily="2" charset="-122"/>
                <a:ea typeface="宋体" panose="02010600030101010101" pitchFamily="2" charset="-122"/>
              </a:rPr>
            </a:br>
            <a:br>
              <a:rPr lang="zh-CN" altLang="en-US" sz="1800" dirty="0">
                <a:solidFill>
                  <a:schemeClr val="tx1"/>
                </a:solidFill>
                <a:latin typeface="宋体" panose="02010600030101010101" pitchFamily="2" charset="-122"/>
                <a:ea typeface="宋体" panose="02010600030101010101" pitchFamily="2" charset="-122"/>
              </a:rPr>
            </a:br>
            <a:r>
              <a:rPr lang="zh-CN" altLang="en-US" sz="1800" b="1" dirty="0">
                <a:solidFill>
                  <a:schemeClr val="tx1"/>
                </a:solidFill>
                <a:latin typeface="宋体" panose="02010600030101010101" pitchFamily="2" charset="-122"/>
                <a:ea typeface="宋体" panose="02010600030101010101" pitchFamily="2" charset="-122"/>
              </a:rPr>
              <a:t>赋能经销商与“命运共同体”的构建</a:t>
            </a:r>
            <a:br>
              <a:rPr lang="zh-CN" altLang="en-US" sz="1800" dirty="0">
                <a:solidFill>
                  <a:schemeClr val="tx1"/>
                </a:solidFill>
                <a:latin typeface="宋体" panose="02010600030101010101" pitchFamily="2" charset="-122"/>
                <a:ea typeface="宋体" panose="02010600030101010101" pitchFamily="2" charset="-122"/>
              </a:rPr>
            </a:br>
            <a:r>
              <a:rPr lang="zh-CN" altLang="en-US" sz="1800" dirty="0">
                <a:solidFill>
                  <a:schemeClr val="tx1"/>
                </a:solidFill>
                <a:latin typeface="宋体" panose="02010600030101010101" pitchFamily="2" charset="-122"/>
                <a:ea typeface="宋体" panose="02010600030101010101" pitchFamily="2" charset="-122"/>
              </a:rPr>
              <a:t>格力不只是把产品卖给经销商，而是通过培训、资源支持和长期利益绑定，赋能他们成为格力在当地的“代言人”。例如，格力会帮助印尼的代理商落地本地化生产项目以降低关税成本，或帮助泰国的经销商培训专业的售后团队。这种</a:t>
            </a:r>
            <a:r>
              <a:rPr lang="zh-CN" altLang="en-US" sz="1800" b="1" dirty="0">
                <a:solidFill>
                  <a:schemeClr val="tx1"/>
                </a:solidFill>
                <a:latin typeface="宋体" panose="02010600030101010101" pitchFamily="2" charset="-122"/>
                <a:ea typeface="宋体" panose="02010600030101010101" pitchFamily="2" charset="-122"/>
              </a:rPr>
              <a:t>“总部赋能</a:t>
            </a:r>
            <a:r>
              <a:rPr lang="en-US" altLang="zh-CN" sz="1800" b="1" dirty="0">
                <a:solidFill>
                  <a:schemeClr val="tx1"/>
                </a:solidFill>
                <a:latin typeface="宋体" panose="02010600030101010101" pitchFamily="2" charset="-122"/>
                <a:ea typeface="宋体" panose="02010600030101010101" pitchFamily="2" charset="-122"/>
              </a:rPr>
              <a:t>+</a:t>
            </a:r>
            <a:r>
              <a:rPr lang="zh-CN" altLang="en-US" sz="1800" b="1" dirty="0">
                <a:solidFill>
                  <a:schemeClr val="tx1"/>
                </a:solidFill>
                <a:latin typeface="宋体" panose="02010600030101010101" pitchFamily="2" charset="-122"/>
                <a:ea typeface="宋体" panose="02010600030101010101" pitchFamily="2" charset="-122"/>
              </a:rPr>
              <a:t>本地执行”</a:t>
            </a:r>
            <a:r>
              <a:rPr lang="zh-CN" altLang="en-US" sz="1800" dirty="0">
                <a:solidFill>
                  <a:schemeClr val="tx1"/>
                </a:solidFill>
                <a:latin typeface="宋体" panose="02010600030101010101" pitchFamily="2" charset="-122"/>
                <a:ea typeface="宋体" panose="02010600030101010101" pitchFamily="2" charset="-122"/>
              </a:rPr>
              <a:t>的模式，让经销商更有动力去推广和维护格力品牌，甚至出现了经销商自费赞助当地知名足球俱乐部（如西班牙的皇家贝蒂斯）以提升格力品牌形象的现象。</a:t>
            </a:r>
          </a:p>
        </p:txBody>
      </p:sp>
      <p:pic>
        <p:nvPicPr>
          <p:cNvPr id="3" name="图片 2">
            <a:extLst>
              <a:ext uri="{FF2B5EF4-FFF2-40B4-BE49-F238E27FC236}">
                <a16:creationId xmlns:a16="http://schemas.microsoft.com/office/drawing/2014/main" id="{46B68F9B-2573-7AA8-0D44-5B1C23CA5517}"/>
              </a:ext>
            </a:extLst>
          </p:cNvPr>
          <p:cNvPicPr>
            <a:picLocks noChangeAspect="1"/>
          </p:cNvPicPr>
          <p:nvPr/>
        </p:nvPicPr>
        <p:blipFill>
          <a:blip r:embed="rId2"/>
          <a:stretch>
            <a:fillRect/>
          </a:stretch>
        </p:blipFill>
        <p:spPr>
          <a:xfrm>
            <a:off x="3375765" y="4371732"/>
            <a:ext cx="3883068" cy="2183602"/>
          </a:xfrm>
          <a:prstGeom prst="rect">
            <a:avLst/>
          </a:prstGeom>
        </p:spPr>
      </p:pic>
    </p:spTree>
    <p:extLst>
      <p:ext uri="{BB962C8B-B14F-4D97-AF65-F5344CB8AC3E}">
        <p14:creationId xmlns:p14="http://schemas.microsoft.com/office/powerpoint/2010/main" val="547908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65D2-A662-0E21-8B52-D21773FE4656}"/>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C67FE031-837E-97D5-BF9D-E2DE60B60307}"/>
              </a:ext>
            </a:extLst>
          </p:cNvPr>
          <p:cNvSpPr>
            <a:spLocks noGrp="1"/>
          </p:cNvSpPr>
          <p:nvPr>
            <p:ph type="title"/>
          </p:nvPr>
        </p:nvSpPr>
        <p:spPr>
          <a:xfrm>
            <a:off x="677863" y="609599"/>
            <a:ext cx="8596312" cy="4782855"/>
          </a:xfrm>
        </p:spPr>
        <p:txBody>
          <a:bodyPr>
            <a:noAutofit/>
          </a:bodyPr>
          <a:lstStyle/>
          <a:p>
            <a:r>
              <a:rPr lang="zh-CN" altLang="en-US" sz="2000" dirty="0">
                <a:solidFill>
                  <a:schemeClr val="tx1"/>
                </a:solidFill>
                <a:latin typeface="宋体" panose="02010600030101010101" pitchFamily="2" charset="-122"/>
                <a:ea typeface="宋体" panose="02010600030101010101" pitchFamily="2" charset="-122"/>
              </a:rPr>
              <a:t>上述三大企业通过各自独特的发展战略，在国际上打响了中国家电的名号，很大程度上加快了中国家电出海的步伐。当然，我们不难发现，</a:t>
            </a:r>
            <a:r>
              <a:rPr lang="zh-CN" altLang="en-US" sz="2000" b="1" dirty="0">
                <a:solidFill>
                  <a:schemeClr val="tx1"/>
                </a:solidFill>
                <a:latin typeface="宋体" panose="02010600030101010101" pitchFamily="2" charset="-122"/>
                <a:ea typeface="宋体" panose="02010600030101010101" pitchFamily="2" charset="-122"/>
              </a:rPr>
              <a:t>过硬的技术支撑、完善的供应链体系以及针对当地需求的个性化定制</a:t>
            </a:r>
            <a:r>
              <a:rPr lang="zh-CN" altLang="en-US" sz="2000" dirty="0">
                <a:solidFill>
                  <a:schemeClr val="tx1"/>
                </a:solidFill>
                <a:latin typeface="宋体" panose="02010600030101010101" pitchFamily="2" charset="-122"/>
                <a:ea typeface="宋体" panose="02010600030101010101" pitchFamily="2" charset="-122"/>
              </a:rPr>
              <a:t>这三个要素在上述企业的战略中均有出现，这其实也是任何企业出海的重中之重。</a:t>
            </a:r>
            <a:br>
              <a:rPr lang="en-US" altLang="zh-CN" sz="2000" dirty="0">
                <a:solidFill>
                  <a:schemeClr val="tx1"/>
                </a:solidFill>
                <a:latin typeface="宋体" panose="02010600030101010101" pitchFamily="2" charset="-122"/>
                <a:ea typeface="宋体" panose="02010600030101010101" pitchFamily="2" charset="-122"/>
              </a:rPr>
            </a:br>
            <a:br>
              <a:rPr lang="en-US" altLang="zh-CN" sz="2000" dirty="0">
                <a:solidFill>
                  <a:schemeClr val="tx1"/>
                </a:solidFill>
                <a:latin typeface="宋体" panose="02010600030101010101" pitchFamily="2" charset="-122"/>
                <a:ea typeface="宋体" panose="02010600030101010101" pitchFamily="2" charset="-122"/>
              </a:rPr>
            </a:br>
            <a:r>
              <a:rPr lang="zh-CN" altLang="en-US" sz="2000" dirty="0">
                <a:solidFill>
                  <a:schemeClr val="tx1"/>
                </a:solidFill>
                <a:latin typeface="宋体" panose="02010600030101010101" pitchFamily="2" charset="-122"/>
                <a:ea typeface="宋体" panose="02010600030101010101" pitchFamily="2" charset="-122"/>
              </a:rPr>
              <a:t>中国家电出海经历了从产品出海到产能出海，再到品牌出海的演进过程。当前，面对关税壁垒、市场竞争、供应链重塑等多重挑战，企业通过高端化突破、本地化运营、数字化赋能等多维策略，正逐步突破困局，向全球价值链高端攀升。</a:t>
            </a:r>
            <a:br>
              <a:rPr lang="zh-CN" altLang="en-US" sz="2000" dirty="0">
                <a:solidFill>
                  <a:schemeClr val="tx1"/>
                </a:solidFill>
                <a:latin typeface="宋体" panose="02010600030101010101" pitchFamily="2" charset="-122"/>
                <a:ea typeface="宋体" panose="02010600030101010101" pitchFamily="2" charset="-122"/>
              </a:rPr>
            </a:br>
            <a:br>
              <a:rPr lang="zh-CN" altLang="en-US" sz="2000" dirty="0">
                <a:solidFill>
                  <a:schemeClr val="tx1"/>
                </a:solidFill>
                <a:latin typeface="宋体" panose="02010600030101010101" pitchFamily="2" charset="-122"/>
                <a:ea typeface="宋体" panose="02010600030101010101" pitchFamily="2" charset="-122"/>
              </a:rPr>
            </a:br>
            <a:r>
              <a:rPr lang="zh-CN" altLang="en-US" sz="2000" dirty="0">
                <a:solidFill>
                  <a:schemeClr val="tx1"/>
                </a:solidFill>
                <a:latin typeface="宋体" panose="02010600030101010101" pitchFamily="2" charset="-122"/>
                <a:ea typeface="宋体" panose="02010600030101010101" pitchFamily="2" charset="-122"/>
              </a:rPr>
              <a:t>未来的全球家电市场竞争中，中国企业可从“价格竞争”转向“价值创造”，从“规模扩张”转向“精细化运营”，从“中国制造”转向“中国智造”。唯有把握技术创新的核心，深化全球本地化运营，构建多元市场布局，才能在复杂多变的国际环境中行稳致远。</a:t>
            </a:r>
            <a:br>
              <a:rPr lang="zh-CN" altLang="en-US" sz="2000" dirty="0">
                <a:solidFill>
                  <a:schemeClr val="tx1"/>
                </a:solidFill>
                <a:latin typeface="宋体" panose="02010600030101010101" pitchFamily="2" charset="-122"/>
                <a:ea typeface="宋体" panose="02010600030101010101" pitchFamily="2" charset="-122"/>
              </a:rPr>
            </a:br>
            <a:endParaRPr lang="zh-CN" altLang="en-US" sz="2000"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57792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9A112-5E6F-F8E6-467F-0B48CDE4CE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FE73C8-590F-0213-0B9A-E8F812434B61}"/>
              </a:ext>
            </a:extLst>
          </p:cNvPr>
          <p:cNvSpPr>
            <a:spLocks noGrp="1"/>
          </p:cNvSpPr>
          <p:nvPr>
            <p:ph type="title"/>
          </p:nvPr>
        </p:nvSpPr>
        <p:spPr>
          <a:xfrm>
            <a:off x="1797666" y="2894816"/>
            <a:ext cx="8596668" cy="1068367"/>
          </a:xfrm>
        </p:spPr>
        <p:txBody>
          <a:bodyPr>
            <a:noAutofit/>
          </a:bodyPr>
          <a:lstStyle/>
          <a:p>
            <a:pPr algn="ctr"/>
            <a:r>
              <a:rPr lang="en-US" altLang="zh-CN" sz="6000" b="1" dirty="0">
                <a:solidFill>
                  <a:schemeClr val="tx1"/>
                </a:solidFill>
                <a:latin typeface="Calibri" panose="020F0502020204030204" pitchFamily="34" charset="0"/>
                <a:ea typeface="Calibri" panose="020F0502020204030204" pitchFamily="34" charset="0"/>
                <a:cs typeface="Calibri" panose="020F0502020204030204" pitchFamily="34" charset="0"/>
              </a:rPr>
              <a:t>Thanks for listening</a:t>
            </a:r>
            <a:endParaRPr lang="zh-CN" altLang="en-US" sz="6000" b="1" dirty="0">
              <a:solidFill>
                <a:schemeClr val="tx1"/>
              </a:solidFill>
              <a:latin typeface="Calibri" panose="020F0502020204030204" pitchFamily="34" charset="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672764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2537A-369E-5884-3405-9FF6130C3F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2EF2E4-3349-BBB0-9B90-8AB89CA5E22B}"/>
              </a:ext>
            </a:extLst>
          </p:cNvPr>
          <p:cNvSpPr>
            <a:spLocks noGrp="1"/>
          </p:cNvSpPr>
          <p:nvPr>
            <p:ph type="title"/>
          </p:nvPr>
        </p:nvSpPr>
        <p:spPr/>
        <p:txBody>
          <a:bodyPr/>
          <a:lstStyle/>
          <a:p>
            <a:endParaRPr lang="zh-CN" altLang="en-US"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753121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A2380-7A93-AE67-7E6E-8F08682B79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21987E-7C40-1390-DFB4-9FD2AA85A01F}"/>
              </a:ext>
            </a:extLst>
          </p:cNvPr>
          <p:cNvSpPr>
            <a:spLocks noGrp="1"/>
          </p:cNvSpPr>
          <p:nvPr>
            <p:ph type="title"/>
          </p:nvPr>
        </p:nvSpPr>
        <p:spPr/>
        <p:txBody>
          <a:bodyPr/>
          <a:lstStyle/>
          <a:p>
            <a:endParaRPr lang="zh-CN" altLang="en-US"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94502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827D-834B-3BC0-EE07-6A8EA8326F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D75DA6-0D9D-AD6B-B54A-A3381DD5E82D}"/>
              </a:ext>
            </a:extLst>
          </p:cNvPr>
          <p:cNvSpPr>
            <a:spLocks noGrp="1"/>
          </p:cNvSpPr>
          <p:nvPr>
            <p:ph type="title"/>
          </p:nvPr>
        </p:nvSpPr>
        <p:spPr/>
        <p:txBody>
          <a:bodyPr/>
          <a:lstStyle/>
          <a:p>
            <a:endParaRPr lang="zh-CN" altLang="en-US"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943566894"/>
      </p:ext>
    </p:extLst>
  </p:cSld>
  <p:clrMapOvr>
    <a:masterClrMapping/>
  </p:clrMapOvr>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122</TotalTime>
  <Words>2104</Words>
  <Application>Microsoft Office PowerPoint</Application>
  <PresentationFormat>宽屏</PresentationFormat>
  <Paragraphs>58</Paragraphs>
  <Slides>19</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宋体</vt:lpstr>
      <vt:lpstr>Arial</vt:lpstr>
      <vt:lpstr>Calibri</vt:lpstr>
      <vt:lpstr>Trebuchet MS</vt:lpstr>
      <vt:lpstr>Wingdings 3</vt:lpstr>
      <vt:lpstr>平面</vt:lpstr>
      <vt:lpstr>中国家电出海情况研究</vt:lpstr>
      <vt:lpstr>2025上半年三大家电企业海外业务关键指标</vt:lpstr>
      <vt:lpstr>海尔：“先难后易”</vt:lpstr>
      <vt:lpstr>PowerPoint 演示文稿</vt:lpstr>
      <vt:lpstr>PowerPoint 演示文稿</vt:lpstr>
      <vt:lpstr>近年海尔海外营收</vt:lpstr>
      <vt:lpstr>美的：“深海浅海都要去”</vt:lpstr>
      <vt:lpstr> 供应链与制造：“区域供区域”的韧性网络 美的在全球打造了“中国供全球+区域供区域”的供应链模式，以分散风险、提升效率。截至2024年，美的在海外已设有23个主要生产基地和22个研发中心。其旗下的安得智联公司，正将成熟的供应链管理经验作为服务输出，为中国制造企业提供一站式的出海供应链解决方案。  业务增长：智能家居与To B业务双轮驱动 美的在巩固智能家居优势的同时，大力拓展To B业务（商业及工业解决方案）。2024年，To B业务收入首次突破千亿元，占总收入比例提升至25.5%，这标志着美的已成长为一家多元化的科技集团。 </vt:lpstr>
      <vt:lpstr>产品本土化：打造区域“爆款” 美的并非简单地将国内产品卖到海外，而是深度洞察本地需求。例如，针对美国市场嘈杂的传统窗机空调，美的研发了静音U型窗机，价格提升至359美元仍广受欢迎。在中东，则推出了融合“灯神”视觉符号和强劲制冷功能的 “Midea Wonder”窗机，成功抢占市场。  并购与整合：“渐进式”合作与“三不”原则 美的在国际并购中常采用“为你打工—与你合作—将你收购”的渐进式策略。在整合被收购企业时，奉行“三不主义”：不杀国王（保留原管理层）、不毁品牌、不撤团队，以此稳定军心，实现优势互补。  组织与人才：事业部制激发活力 美的自1997年开始推行的事业部制度，是其出海活力的重要来源。其精髓在于“开放、和谐、务实、创新”。通过充分放权，让各事业部自主经营、自负盈亏，从而激发了前端的积极性和灵活性。</vt:lpstr>
      <vt:lpstr>近年美的海外营收</vt:lpstr>
      <vt:lpstr>格力：“定制市场”</vt:lpstr>
      <vt:lpstr>不设重点的全球定制化市场观 格力对全球市场的看法非常独特：没有“重点市场”与“非重点市场”之分，190多个国家和地区每一个都是需要深耕的“定制市场”。在俄罗斯西伯利亚，需要能抵抗-40℃严寒稳定制热的空调；在中东沙漠，则需要能在70℃地表温度下持续运行且耐腐蚀的产品。格力凭借其强大的研发能力，为这些极端环境提供了定制化的解决方案，从而在全球范围内撕开了市场口子。 </vt:lpstr>
      <vt:lpstr>技术是格力出海战略最坚实的保障。  攻克极端环境的定制科技 格力组建了深度的市场调研和研发体系，其技术创新直指各地区用户的核心痛点：针对中东的酷暑，开发了68℃高温下仍能稳定制冷的空调；针对北欧的极寒，研发了采用“双级压缩+喷气增焓”技术的第三代超低温热泵空调，-25℃时制热能力依然保持100%；针对伊拉克等地区电压不稳的情况，优化电路设计，确保空调在电压波动±20% 时也能稳定运行。  引领行业的静音与商用技术 除了适应环境，格力还在引领行业。例如，其发布的SilenzX系列空调，通过搭载拥有137项专利的"四缸静音旋转式压缩机"，将室内机噪音降至15分贝（相当于卧室安静环境），室外机噪音降至29分贝，同时实现了全年能耗降低15%。在商用领域，GMV9系列中央空调的能效比SEER值高达9.0，远超行业平均水平，能为大型商业项目节能25%以上。</vt:lpstr>
      <vt:lpstr>从渠道到服务的深度本地化 格力正计划试点建设海外区域销售公司，并完善海外智能制造基地布局，目标是形成“产销研一体化”的国际化生产基地。在东南亚等核心市场，格力放弃了传统的层层代理模式，转而成立子公司进行直营，直接掌控渠道和终端服务。同时，格力还推行了如印尼市场“5+10”服务（核心零部件更换、上门维修等全流程服务）这样的长承诺，远超当地日系品牌普遍提供的3年包修政策，以此建立深厚的用户信任。  赋能经销商与“命运共同体”的构建 格力不只是把产品卖给经销商，而是通过培训、资源支持和长期利益绑定，赋能他们成为格力在当地的“代言人”。例如，格力会帮助印尼的代理商落地本地化生产项目以降低关税成本，或帮助泰国的经销商培训专业的售后团队。这种“总部赋能+本地执行”的模式，让经销商更有动力去推广和维护格力品牌，甚至出现了经销商自费赞助当地知名足球俱乐部（如西班牙的皇家贝蒂斯）以提升格力品牌形象的现象。</vt:lpstr>
      <vt:lpstr>上述三大企业通过各自独特的发展战略，在国际上打响了中国家电的名号，很大程度上加快了中国家电出海的步伐。当然，我们不难发现，过硬的技术支撑、完善的供应链体系以及针对当地需求的个性化定制这三个要素在上述企业的战略中均有出现，这其实也是任何企业出海的重中之重。  中国家电出海经历了从产品出海到产能出海，再到品牌出海的演进过程。当前，面对关税壁垒、市场竞争、供应链重塑等多重挑战，企业通过高端化突破、本地化运营、数字化赋能等多维策略，正逐步突破困局，向全球价值链高端攀升。  未来的全球家电市场竞争中，中国企业可从“价格竞争”转向“价值创造”，从“规模扩张”转向“精细化运营”，从“中国制造”转向“中国智造”。唯有把握技术创新的核心，深化全球本地化运营，构建多元市场布局，才能在复杂多变的国际环境中行稳致远。 </vt:lpstr>
      <vt:lpstr>Thanks for listening</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3199577543@qq.com</dc:creator>
  <cp:lastModifiedBy>3199577543@qq.com</cp:lastModifiedBy>
  <cp:revision>1</cp:revision>
  <dcterms:created xsi:type="dcterms:W3CDTF">2025-11-08T04:11:37Z</dcterms:created>
  <dcterms:modified xsi:type="dcterms:W3CDTF">2025-11-08T06:14:36Z</dcterms:modified>
</cp:coreProperties>
</file>