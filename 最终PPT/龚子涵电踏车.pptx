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5" r:id="rId2"/>
    <p:sldId id="265" r:id="rId3"/>
    <p:sldId id="266" r:id="rId4"/>
    <p:sldId id="267" r:id="rId5"/>
    <p:sldId id="268" r:id="rId6"/>
    <p:sldId id="260" r:id="rId7"/>
    <p:sldId id="257" r:id="rId8"/>
    <p:sldId id="258" r:id="rId9"/>
    <p:sldId id="261" r:id="rId10"/>
    <p:sldId id="263" r:id="rId11"/>
    <p:sldId id="264" r:id="rId12"/>
    <p:sldId id="259" r:id="rId13"/>
    <p:sldId id="262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6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7610C9-A9FE-4BDF-980D-C4E6965E584F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40032-246F-4E89-850C-0F80206D79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989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96F24-C765-4F72-80C7-5562978348A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03D58A-54DB-1613-A828-735653A37FF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53519F49-6F39-4096-BBCF-CE51AF5C534B}" type="datetime1">
              <a:rPr lang="zh-CN" altLang="en-US" smtClean="0"/>
              <a:t>2025/11/28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39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96F24-C765-4F72-80C7-5562978348A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B32DEF-D5CD-878A-BE65-607C409F1FD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BE2FD203-ECCE-4ECF-AD99-7F3F27CA8BAB}" type="datetime1">
              <a:rPr lang="zh-CN" altLang="en-US" smtClean="0"/>
              <a:t>2025/11/28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375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96F24-C765-4F72-80C7-5562978348A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888E4A-2690-1BC2-E6CE-3E4A2905F46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E7D5897F-151C-4F66-9758-4FF6B6B51183}" type="datetime1">
              <a:rPr lang="zh-CN" altLang="en-US" smtClean="0"/>
              <a:t>2025/11/28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141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876A49-E3C8-B544-9FC3-E716AA389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9394D5-9532-1A0F-4B9D-07914ACA7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74F9EF-CECD-67FE-AFA6-84C54BFD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AC4F0-BD04-2E4F-35EB-B73FC546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55E006-E466-A9E3-9FFD-2AEA6656C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11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56DF0-6609-D1FE-9B85-5D8BCEC8E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47E24F-2B20-2FCB-1EEF-82C28A69A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1B45A5-6792-5836-FA04-26DBB563F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7C1C01-9C8D-04DE-7EC1-2529B506F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7D8A3B-BDF3-F56F-3AA7-D0AE6A61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05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521C2-222A-8313-EC5B-258D596EA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661028-B0C6-1059-E241-FF4F0DFD7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71AE5-E0ED-E572-2F45-9E5D4B049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093155-1FFE-3208-D5BE-FB9F2BECD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D52EF3-9ED6-6937-6CE1-74AD6F29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14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8A5D75-B623-FE1C-1679-6F82F119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A15325-7C43-45BF-84B1-24C16BEA6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3F427-FBD1-7C40-E425-D29DB2BF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2B0526-3A3F-4AC1-643E-923DFAE9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A53957-C2C1-2646-903A-39B632713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D86C18-86F3-EB0E-E3A7-5F6BD634E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917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CF86D2-F43A-276D-BE52-14232835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B78667-F501-729D-338D-28E533F6B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1A208B-1EF2-A128-7C39-ED530A8DD3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85878B-6911-3546-73B3-416E67E38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605083B-EE4D-778D-BA67-5560B6313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53199E-B17F-C892-727B-7D8186D5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6BFA1D-F022-DFB8-00E4-4C0EB87A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6BFAA2-EFF9-FEEE-20AC-C847ED7A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15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B95F2-B0AD-0550-70BF-5AA1E3C5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6D69E5-BC97-7A19-FBFD-3C7C7DA7A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B90F199-18E5-E398-2943-91BE22CF5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FBCEBA-FE16-D2A7-3F40-F5C4020FF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34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278EEB-1986-D353-74B0-1297CE2C9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354F5E-F7D6-1A0B-36AA-64A494F0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6DE407B-81A7-278E-CBC2-A36EEC29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72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F7CA2-2192-F6DF-CE8E-D24E727DB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F6C459-0B4B-9B90-5F30-80396E6C4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38E58E-4093-D7BD-A534-FAAEC0DD5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E26C65-655C-F29B-EDAD-1DCF26117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67E169-2A12-6294-52D8-BC2376AF2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3F1228-5286-1187-5426-3BF71117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248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2018F-E64C-18AF-D1AB-BF3C24EAE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EE326BC-DF01-9C6C-EFF6-C5369A68A0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A0B315-6141-6E62-DB98-520DBD4937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9DBD51-98F0-BFF8-D8F6-2928A6A9E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4FBD8C-6679-3904-D57D-F7C5A4F8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1B422C-6488-0278-A348-C2950505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9278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3789CA-E5D9-8F9B-43EE-65A08FC4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27F7E3-E7F1-FF64-18D4-6BC8DAAD8B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D45BBB-D1DA-AD6E-B0A2-30390EA31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A89F6-85D4-EC81-FBFB-C5ACBF9CF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A4F07-FB96-0A98-A570-81C50511A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22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77B138-4278-3547-6D79-5ACD43F07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81AFF0-B012-46C7-CF8F-1B4AB7CEA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850B66-37AB-F461-1E6E-9E8CD30A1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7981BB-CAA0-D463-4A84-6450F974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040BA3-F26D-E1CD-700C-45DECD373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29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87D6EB1-DEE1-ADEE-FF5B-FFD08394F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016ECF-50A8-AF78-25A8-3700D6FA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73106-1D0C-7F3C-5CA6-ED0CF83F3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76F38-A436-40B2-B23F-C2ADB6A4167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0B3C57-4BDB-D441-7407-068097743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9C7DB4-9B8E-D76C-E5B4-50F0B304E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E2282-02DF-4F5E-B20E-38632EEF80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55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5D919C08-457F-5863-5CC9-638470C0BC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444" y="1105805"/>
            <a:ext cx="6438095" cy="6450793"/>
          </a:xfrm>
          <a:prstGeom prst="rect">
            <a:avLst/>
          </a:prstGeom>
        </p:spPr>
      </p:pic>
      <p:pic>
        <p:nvPicPr>
          <p:cNvPr id="4" name="图片占位符 15">
            <a:extLst>
              <a:ext uri="{FF2B5EF4-FFF2-40B4-BE49-F238E27FC236}">
                <a16:creationId xmlns:a16="http://schemas.microsoft.com/office/drawing/2014/main" id="{C120CD74-315A-96A6-EEA3-9393D4208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02647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6BCF670-69F4-A33D-9713-7896F1AA4C3F}"/>
              </a:ext>
            </a:extLst>
          </p:cNvPr>
          <p:cNvCxnSpPr>
            <a:cxnSpLocks/>
          </p:cNvCxnSpPr>
          <p:nvPr/>
        </p:nvCxnSpPr>
        <p:spPr>
          <a:xfrm>
            <a:off x="0" y="4056185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708A54D-F278-E47C-A288-E11445BE41B4}"/>
              </a:ext>
            </a:extLst>
          </p:cNvPr>
          <p:cNvSpPr/>
          <p:nvPr/>
        </p:nvSpPr>
        <p:spPr>
          <a:xfrm>
            <a:off x="4224759" y="3429000"/>
            <a:ext cx="3742482" cy="982721"/>
          </a:xfrm>
          <a:prstGeom prst="roundRect">
            <a:avLst>
              <a:gd name="adj" fmla="val 50000"/>
            </a:avLst>
          </a:prstGeom>
          <a:solidFill>
            <a:srgbClr val="0326A0"/>
          </a:solidFill>
          <a:ln>
            <a:solidFill>
              <a:srgbClr val="0326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923A9-9899-D7F0-3F44-627CA9FCD06D}"/>
              </a:ext>
            </a:extLst>
          </p:cNvPr>
          <p:cNvSpPr txBox="1"/>
          <p:nvPr/>
        </p:nvSpPr>
        <p:spPr>
          <a:xfrm>
            <a:off x="4474046" y="3458695"/>
            <a:ext cx="3239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PART 03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E5502CB-20B8-7268-48A5-592C38BCE561}"/>
              </a:ext>
            </a:extLst>
          </p:cNvPr>
          <p:cNvCxnSpPr>
            <a:cxnSpLocks/>
          </p:cNvCxnSpPr>
          <p:nvPr/>
        </p:nvCxnSpPr>
        <p:spPr>
          <a:xfrm>
            <a:off x="7893127" y="4056186"/>
            <a:ext cx="4298873" cy="0"/>
          </a:xfrm>
          <a:prstGeom prst="line">
            <a:avLst/>
          </a:prstGeom>
          <a:ln w="101600">
            <a:solidFill>
              <a:srgbClr val="0326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06CCB59C-36F7-B9DF-4E73-DFB71EFD2966}"/>
              </a:ext>
            </a:extLst>
          </p:cNvPr>
          <p:cNvSpPr txBox="1"/>
          <p:nvPr/>
        </p:nvSpPr>
        <p:spPr>
          <a:xfrm>
            <a:off x="1995116" y="4716783"/>
            <a:ext cx="81973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3.4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电踏车驱动系统行业分析</a:t>
            </a: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0BFC78A9-E8FE-C727-5500-9B55CD36E087}"/>
              </a:ext>
            </a:extLst>
          </p:cNvPr>
          <p:cNvSpPr/>
          <p:nvPr/>
        </p:nvSpPr>
        <p:spPr>
          <a:xfrm>
            <a:off x="5922380" y="6572723"/>
            <a:ext cx="347240" cy="299345"/>
          </a:xfrm>
          <a:prstGeom prst="triangle">
            <a:avLst/>
          </a:prstGeom>
          <a:solidFill>
            <a:srgbClr val="0326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5372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A2B30-1747-5A12-2BE6-3FBF43C80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1" y="1414917"/>
            <a:ext cx="10515600" cy="54430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zh-CN" dirty="0"/>
              <a:t>行业规模</a:t>
            </a:r>
          </a:p>
          <a:p>
            <a:r>
              <a:rPr lang="zh-CN" altLang="zh-CN" dirty="0"/>
              <a:t>电助力自行车市场：全球年销量约</a:t>
            </a:r>
            <a:r>
              <a:rPr lang="en-US" altLang="zh-CN" dirty="0"/>
              <a:t> 4000</a:t>
            </a:r>
            <a:r>
              <a:rPr lang="zh-CN" altLang="zh-CN" dirty="0"/>
              <a:t>–</a:t>
            </a:r>
            <a:r>
              <a:rPr lang="en-US" altLang="zh-CN" dirty="0"/>
              <a:t>5000 </a:t>
            </a:r>
            <a:r>
              <a:rPr lang="zh-CN" altLang="zh-CN" dirty="0"/>
              <a:t>万辆。</a:t>
            </a:r>
          </a:p>
          <a:p>
            <a:r>
              <a:rPr lang="zh-CN" altLang="zh-CN" dirty="0"/>
              <a:t>驱动系统市场作为核心零部件，约占整车成本的</a:t>
            </a:r>
            <a:r>
              <a:rPr lang="en-US" altLang="zh-CN" dirty="0"/>
              <a:t> 15</a:t>
            </a:r>
            <a:r>
              <a:rPr lang="zh-CN" altLang="zh-CN" dirty="0"/>
              <a:t>–</a:t>
            </a:r>
            <a:r>
              <a:rPr lang="en-US" altLang="zh-CN" dirty="0"/>
              <a:t>25%</a:t>
            </a:r>
            <a:r>
              <a:rPr lang="zh-CN" altLang="zh-CN" dirty="0"/>
              <a:t>，市场规模随整车销量而增长。</a:t>
            </a:r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出口市场规模</a:t>
            </a:r>
          </a:p>
          <a:p>
            <a:r>
              <a:rPr lang="zh-CN" altLang="zh-CN" dirty="0"/>
              <a:t>欧洲为最大出口市场，占全球电助力自行车销量约</a:t>
            </a:r>
            <a:r>
              <a:rPr lang="en-US" altLang="zh-CN" dirty="0"/>
              <a:t> 50%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八方股份出口市场主要集中在欧美市场，受市场成熟度和环保政策推动。</a:t>
            </a:r>
          </a:p>
          <a:p>
            <a:pPr marL="0" indent="0">
              <a:buNone/>
            </a:pPr>
            <a:r>
              <a:rPr lang="en-US" altLang="zh-CN" dirty="0"/>
              <a:t> 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增长趋势</a:t>
            </a:r>
          </a:p>
          <a:p>
            <a:r>
              <a:rPr lang="zh-CN" altLang="zh-CN" dirty="0"/>
              <a:t>高端电助力自行车（中置电机、智能控制）年增速可达</a:t>
            </a:r>
            <a:r>
              <a:rPr lang="en-US" altLang="zh-CN" dirty="0"/>
              <a:t> 10</a:t>
            </a:r>
            <a:r>
              <a:rPr lang="zh-CN" altLang="zh-CN" dirty="0"/>
              <a:t>–</a:t>
            </a:r>
            <a:r>
              <a:rPr lang="en-US" altLang="zh-CN" dirty="0"/>
              <a:t>15%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技术创新、智能化控制系统、续航提升等推动高端零部件需求增长。</a:t>
            </a:r>
          </a:p>
          <a:p>
            <a:endParaRPr lang="zh-CN" altLang="en-US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56AFED8-AE95-DEF8-6A3B-80FCC88A81C9}"/>
              </a:ext>
            </a:extLst>
          </p:cNvPr>
          <p:cNvGrpSpPr/>
          <p:nvPr/>
        </p:nvGrpSpPr>
        <p:grpSpPr>
          <a:xfrm>
            <a:off x="-240704" y="263950"/>
            <a:ext cx="2545493" cy="734108"/>
            <a:chOff x="-240704" y="246620"/>
            <a:chExt cx="3456384" cy="734108"/>
          </a:xfrm>
        </p:grpSpPr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352A0DDB-10A6-73EE-589B-B6B2AC537EF8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45" name="文本占位符 3">
              <a:extLst>
                <a:ext uri="{FF2B5EF4-FFF2-40B4-BE49-F238E27FC236}">
                  <a16:creationId xmlns:a16="http://schemas.microsoft.com/office/drawing/2014/main" id="{ACE78220-6D12-FD6B-1649-E2678E69558E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行业分析</a:t>
              </a: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B09D7202-DA4E-1F5E-75ED-D4AE0EB5D9F3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43742514-2EF2-FD76-6C82-669B89C99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2FA40C3C-7431-00DB-F22D-271E528FAB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9755C4A-1F4A-0026-18F9-0C2767D2F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14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AB5A-F72A-4724-927B-5A188EEB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5C24C-400A-93A1-529E-74D9A42C8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1" y="1139345"/>
            <a:ext cx="10515600" cy="54430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zh-CN" dirty="0"/>
              <a:t>国内竞争</a:t>
            </a:r>
          </a:p>
          <a:p>
            <a:r>
              <a:rPr lang="zh-CN" altLang="zh-CN" dirty="0"/>
              <a:t>国内零部件企业集中度较低，除了八方股份外，还有 速珂、雅迪</a:t>
            </a:r>
            <a:r>
              <a:rPr lang="en-US" altLang="zh-CN" dirty="0"/>
              <a:t>/</a:t>
            </a:r>
            <a:r>
              <a:rPr lang="zh-CN" altLang="zh-CN" dirty="0"/>
              <a:t>绿源自主研发零部件等。</a:t>
            </a:r>
          </a:p>
          <a:p>
            <a:r>
              <a:rPr lang="zh-CN" altLang="zh-CN" dirty="0"/>
              <a:t>高端驱动系统技术壁垒较高，形成了前期投资和研发积累优势。</a:t>
            </a:r>
          </a:p>
          <a:p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国际竞争</a:t>
            </a:r>
          </a:p>
          <a:p>
            <a:r>
              <a:rPr lang="zh-CN" altLang="zh-CN" dirty="0"/>
              <a:t>欧洲品牌如</a:t>
            </a:r>
            <a:r>
              <a:rPr lang="en-US" altLang="zh-CN" dirty="0"/>
              <a:t> Bosch</a:t>
            </a:r>
            <a:r>
              <a:rPr lang="zh-CN" altLang="zh-CN" dirty="0"/>
              <a:t>、</a:t>
            </a:r>
            <a:r>
              <a:rPr lang="en-US" altLang="zh-CN" dirty="0"/>
              <a:t>Shimano</a:t>
            </a:r>
            <a:r>
              <a:rPr lang="zh-CN" altLang="zh-CN" dirty="0"/>
              <a:t>、</a:t>
            </a:r>
            <a:r>
              <a:rPr lang="en-US" altLang="zh-CN" dirty="0" err="1"/>
              <a:t>TranzX</a:t>
            </a:r>
            <a:r>
              <a:rPr lang="en-US" altLang="zh-CN" dirty="0"/>
              <a:t> </a:t>
            </a:r>
            <a:r>
              <a:rPr lang="zh-CN" altLang="zh-CN" dirty="0"/>
              <a:t>等占据高端市场。</a:t>
            </a:r>
          </a:p>
          <a:p>
            <a:r>
              <a:rPr lang="zh-CN" altLang="zh-CN" dirty="0"/>
              <a:t>中国企业通过成本优势和中高端系统研发，逐渐进入欧洲市场，但仍需面对品牌认知和认证门槛。</a:t>
            </a:r>
          </a:p>
          <a:p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行业特征</a:t>
            </a:r>
          </a:p>
          <a:p>
            <a:r>
              <a:rPr lang="zh-CN" altLang="zh-CN" dirty="0"/>
              <a:t>技术密集：高效电机、控制器、力矩传感器等技术要求高。</a:t>
            </a:r>
          </a:p>
          <a:p>
            <a:r>
              <a:rPr lang="zh-CN" altLang="zh-CN" dirty="0"/>
              <a:t>资本密集：研发投入和产能建设需较大资金。</a:t>
            </a:r>
          </a:p>
          <a:p>
            <a:r>
              <a:rPr lang="zh-CN" altLang="zh-CN" dirty="0"/>
              <a:t>渠道依赖：出口需建立长期客户关系或合作整车厂。</a:t>
            </a:r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3808206-E646-BAA2-696A-08C23C6B4BE7}"/>
              </a:ext>
            </a:extLst>
          </p:cNvPr>
          <p:cNvGrpSpPr/>
          <p:nvPr/>
        </p:nvGrpSpPr>
        <p:grpSpPr>
          <a:xfrm>
            <a:off x="-240704" y="263950"/>
            <a:ext cx="2545493" cy="734108"/>
            <a:chOff x="-240704" y="246620"/>
            <a:chExt cx="3456384" cy="73410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FC94D95-275A-EE84-DB55-0EA33956630D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8" name="文本占位符 3">
              <a:extLst>
                <a:ext uri="{FF2B5EF4-FFF2-40B4-BE49-F238E27FC236}">
                  <a16:creationId xmlns:a16="http://schemas.microsoft.com/office/drawing/2014/main" id="{917FEE11-C915-AD12-B13B-566CC78D82B9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行业分析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74BB9C2E-6B8A-5EA8-49BB-E6F5CD623E49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CDAC2BE-808D-7EF1-3FF4-B40A415298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5ED1131-1678-A264-01F5-3244F99AC8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1F9343-414A-CC7C-7AF6-E7CA27B8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463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C7621-B120-459C-0326-BA41DB0C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4F224-CACE-F9D0-4947-B2F8548A4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71" y="1414917"/>
            <a:ext cx="10515600" cy="5443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市场竞争格局</a:t>
            </a:r>
          </a:p>
          <a:p>
            <a:pPr marL="0" indent="0">
              <a:buNone/>
            </a:pPr>
            <a:endParaRPr lang="zh-CN" altLang="zh-CN" dirty="0"/>
          </a:p>
          <a:p>
            <a:r>
              <a:rPr lang="zh-CN" altLang="zh-CN" dirty="0"/>
              <a:t>领先者：八方（技术＋系统方案＋海外品牌客户）、安乃达（系统方案＋快速海外布局）</a:t>
            </a:r>
          </a:p>
          <a:p>
            <a:r>
              <a:rPr lang="zh-CN" altLang="zh-CN" dirty="0"/>
              <a:t>追赶者</a:t>
            </a:r>
            <a:r>
              <a:rPr lang="en-US" altLang="zh-CN" dirty="0"/>
              <a:t>/</a:t>
            </a:r>
            <a:r>
              <a:rPr lang="zh-CN" altLang="zh-CN" dirty="0"/>
              <a:t>细分玩家：</a:t>
            </a:r>
            <a:r>
              <a:rPr lang="en-US" altLang="zh-CN" dirty="0"/>
              <a:t>QSMOTOR</a:t>
            </a:r>
            <a:r>
              <a:rPr lang="zh-CN" altLang="zh-CN" dirty="0"/>
              <a:t>（高功率</a:t>
            </a:r>
            <a:r>
              <a:rPr lang="en-US" altLang="zh-CN" dirty="0"/>
              <a:t>/</a:t>
            </a:r>
            <a:r>
              <a:rPr lang="zh-CN" altLang="zh-CN" dirty="0"/>
              <a:t>差异化）、松正（多场景</a:t>
            </a:r>
            <a:r>
              <a:rPr lang="en-US" altLang="zh-CN" dirty="0"/>
              <a:t>/</a:t>
            </a:r>
            <a:r>
              <a:rPr lang="zh-CN" altLang="zh-CN" dirty="0"/>
              <a:t>通用技术）</a:t>
            </a:r>
          </a:p>
          <a:p>
            <a:r>
              <a:rPr lang="zh-CN" altLang="zh-CN" dirty="0"/>
              <a:t>零部件</a:t>
            </a:r>
            <a:r>
              <a:rPr lang="en-US" altLang="zh-CN" dirty="0"/>
              <a:t>/</a:t>
            </a:r>
            <a:r>
              <a:rPr lang="zh-CN" altLang="zh-CN" dirty="0"/>
              <a:t>配套型：盛逸、同盛</a:t>
            </a:r>
          </a:p>
          <a:p>
            <a:r>
              <a:rPr lang="zh-CN" altLang="zh-CN" dirty="0"/>
              <a:t>新进入者：</a:t>
            </a:r>
            <a:r>
              <a:rPr lang="en-US" altLang="zh-CN" dirty="0"/>
              <a:t>TRUCKRUN</a:t>
            </a:r>
            <a:r>
              <a:rPr lang="zh-CN" altLang="zh-CN" dirty="0"/>
              <a:t>（量产</a:t>
            </a:r>
            <a:r>
              <a:rPr lang="en-US" altLang="zh-CN" dirty="0"/>
              <a:t>/</a:t>
            </a:r>
            <a:r>
              <a:rPr lang="zh-CN" altLang="zh-CN" dirty="0"/>
              <a:t>低成本）</a:t>
            </a:r>
          </a:p>
          <a:p>
            <a:endParaRPr lang="zh-CN" altLang="en-US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7BEA835-8ADC-55AA-F3E4-E15CD251DF23}"/>
              </a:ext>
            </a:extLst>
          </p:cNvPr>
          <p:cNvGrpSpPr/>
          <p:nvPr/>
        </p:nvGrpSpPr>
        <p:grpSpPr>
          <a:xfrm>
            <a:off x="-240704" y="263950"/>
            <a:ext cx="2545493" cy="734108"/>
            <a:chOff x="-240704" y="246620"/>
            <a:chExt cx="3456384" cy="73410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590D4FD7-EECE-78F4-F5A7-5034D325E547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8" name="文本占位符 3">
              <a:extLst>
                <a:ext uri="{FF2B5EF4-FFF2-40B4-BE49-F238E27FC236}">
                  <a16:creationId xmlns:a16="http://schemas.microsoft.com/office/drawing/2014/main" id="{6147354B-8A79-576D-A828-5A314396EE44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行业分析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B34A808A-E9E2-ED20-BA05-6E2A353C4518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B91817E-9D31-C3F8-B58B-3581B8AEF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ACA3AC-881D-DBE0-E55E-181898084B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A470B6-F67F-C87C-0D2D-0BA234D53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72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69A51-E993-4240-CFBE-9A858643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1FFD77F-9C17-A3D9-36BD-CAF5E5ED9BFB}"/>
              </a:ext>
            </a:extLst>
          </p:cNvPr>
          <p:cNvGraphicFramePr>
            <a:graphicFrameLocks noGrp="1"/>
          </p:cNvGraphicFramePr>
          <p:nvPr/>
        </p:nvGraphicFramePr>
        <p:xfrm>
          <a:off x="713013" y="1181402"/>
          <a:ext cx="10765973" cy="4926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8886">
                  <a:extLst>
                    <a:ext uri="{9D8B030D-6E8A-4147-A177-3AD203B41FA5}">
                      <a16:colId xmlns:a16="http://schemas.microsoft.com/office/drawing/2014/main" val="1420648271"/>
                    </a:ext>
                  </a:extLst>
                </a:gridCol>
                <a:gridCol w="4056743">
                  <a:extLst>
                    <a:ext uri="{9D8B030D-6E8A-4147-A177-3AD203B41FA5}">
                      <a16:colId xmlns:a16="http://schemas.microsoft.com/office/drawing/2014/main" val="1650214767"/>
                    </a:ext>
                  </a:extLst>
                </a:gridCol>
                <a:gridCol w="4920344">
                  <a:extLst>
                    <a:ext uri="{9D8B030D-6E8A-4147-A177-3AD203B41FA5}">
                      <a16:colId xmlns:a16="http://schemas.microsoft.com/office/drawing/2014/main" val="204734126"/>
                    </a:ext>
                  </a:extLst>
                </a:gridCol>
              </a:tblGrid>
              <a:tr h="15849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维度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行业现状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案例映射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1002615415"/>
                  </a:ext>
                </a:extLst>
              </a:tr>
              <a:tr h="83747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技术与产品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技术壁垒高，整套系统能力是核心竞争力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八方、安乃达领先；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量产导向；盛逸、同盛零部件专注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2048449752"/>
                  </a:ext>
                </a:extLst>
              </a:tr>
              <a:tr h="84713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出口与国际化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出口市场空间大，但需认证、服务、海外布局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八方欧美成熟；安乃达新布局；盛逸、同盛出口零部件；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新进入量产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158127391"/>
                  </a:ext>
                </a:extLst>
              </a:tr>
              <a:tr h="89262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市场竞争格局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高端系统方案利润高、门槛高；中低端竞争激烈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安乃达领先；</a:t>
                      </a:r>
                      <a:r>
                        <a:rPr lang="en-US" sz="1600" kern="100">
                          <a:effectLst/>
                        </a:rPr>
                        <a:t>QSMOTOR/</a:t>
                      </a:r>
                      <a:r>
                        <a:rPr lang="zh-CN" sz="1600" kern="100">
                          <a:effectLst/>
                        </a:rPr>
                        <a:t>松正差异化；盛逸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同盛配套；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新进入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2329190472"/>
                  </a:ext>
                </a:extLst>
              </a:tr>
              <a:tr h="89988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技术趋势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中置电机、智能控制、续航优化、系统集成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八方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安乃达在中置</a:t>
                      </a:r>
                      <a:r>
                        <a:rPr lang="en-US" sz="1600" kern="100">
                          <a:effectLst/>
                        </a:rPr>
                        <a:t>+</a:t>
                      </a:r>
                      <a:r>
                        <a:rPr lang="zh-CN" sz="1600" kern="100">
                          <a:effectLst/>
                        </a:rPr>
                        <a:t>智能系统，</a:t>
                      </a:r>
                      <a:r>
                        <a:rPr lang="en-US" sz="1600" kern="100">
                          <a:effectLst/>
                        </a:rPr>
                        <a:t>QSMOTOR</a:t>
                      </a:r>
                      <a:r>
                        <a:rPr lang="zh-CN" sz="1600" kern="100">
                          <a:effectLst/>
                        </a:rPr>
                        <a:t>高功率差异化，</a:t>
                      </a:r>
                      <a:r>
                        <a:rPr lang="en-US" sz="1600" kern="100">
                          <a:effectLst/>
                        </a:rPr>
                        <a:t>TRUCKRUN</a:t>
                      </a:r>
                      <a:r>
                        <a:rPr lang="zh-CN" sz="1600" kern="100">
                          <a:effectLst/>
                        </a:rPr>
                        <a:t>量产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低成本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1939814047"/>
                  </a:ext>
                </a:extLst>
              </a:tr>
              <a:tr h="60753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产业机会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高端出口、中高端定制化、电驱动系统增量市场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系统方案、定制化、海外品牌合作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585598123"/>
                  </a:ext>
                </a:extLst>
              </a:tr>
              <a:tr h="59441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 dirty="0">
                          <a:effectLst/>
                        </a:rPr>
                        <a:t>产业风险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600" kern="100">
                          <a:effectLst/>
                        </a:rPr>
                        <a:t>低端价格竞争、原材料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物流</a:t>
                      </a:r>
                      <a:r>
                        <a:rPr lang="en-US" sz="1600" kern="100">
                          <a:effectLst/>
                        </a:rPr>
                        <a:t>/</a:t>
                      </a:r>
                      <a:r>
                        <a:rPr lang="zh-CN" sz="1600" kern="100">
                          <a:effectLst/>
                        </a:rPr>
                        <a:t>贸易政策、认证标准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600" kern="100" dirty="0">
                          <a:effectLst/>
                        </a:rPr>
                        <a:t>TRUCKRUN</a:t>
                      </a:r>
                      <a:r>
                        <a:rPr lang="zh-CN" sz="1600" kern="100" dirty="0">
                          <a:effectLst/>
                        </a:rPr>
                        <a:t>、盛逸等需管控成本和出口风险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729" marR="1729" marT="1729" marB="1729" anchor="ctr"/>
                </a:tc>
                <a:extLst>
                  <a:ext uri="{0D108BD9-81ED-4DB2-BD59-A6C34878D82A}">
                    <a16:rowId xmlns:a16="http://schemas.microsoft.com/office/drawing/2014/main" val="564151476"/>
                  </a:ext>
                </a:extLst>
              </a:tr>
            </a:tbl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EC7CD916-CE30-D312-716B-C2643F4FA5D6}"/>
              </a:ext>
            </a:extLst>
          </p:cNvPr>
          <p:cNvGrpSpPr/>
          <p:nvPr/>
        </p:nvGrpSpPr>
        <p:grpSpPr>
          <a:xfrm>
            <a:off x="-240704" y="263950"/>
            <a:ext cx="2545493" cy="734108"/>
            <a:chOff x="-240704" y="246620"/>
            <a:chExt cx="3456384" cy="73410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6895F929-00E1-3103-90C5-2E53E673E8E3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8" name="文本占位符 3">
              <a:extLst>
                <a:ext uri="{FF2B5EF4-FFF2-40B4-BE49-F238E27FC236}">
                  <a16:creationId xmlns:a16="http://schemas.microsoft.com/office/drawing/2014/main" id="{C2D69AA2-AE9A-1B6C-3C81-E235653008B4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行业分析</a:t>
              </a:r>
            </a:p>
          </p:txBody>
        </p: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85104747-6327-DABD-12FB-529BD1EC2694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A4368C1-BBD8-6C80-7D72-FE23EE2D8B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FC91AC2-5CC3-1A6D-F949-6ECDD0FE1C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606ECAF-22B3-F7D9-4594-E16D3F43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55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6B98A-3D93-959F-90E2-B886E28A0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70D1122-F020-F5F2-46D9-9A9053697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核心定位：全球电踏车驱动系统龙头，中国制造出海升级的标杆企业。</a:t>
            </a:r>
            <a:endParaRPr lang="en-US" altLang="zh-CN" b="1" dirty="0"/>
          </a:p>
          <a:p>
            <a:r>
              <a:rPr lang="zh-CN" altLang="en-US" b="1" dirty="0"/>
              <a:t>空间广阔</a:t>
            </a:r>
            <a:r>
              <a:rPr lang="zh-CN" altLang="en-US" dirty="0"/>
              <a:t>：全球核心市场（欧美日）规模</a:t>
            </a:r>
            <a:r>
              <a:rPr lang="en-US" altLang="zh-CN" dirty="0"/>
              <a:t>2024</a:t>
            </a:r>
            <a:r>
              <a:rPr lang="zh-CN" altLang="en-US" dirty="0"/>
              <a:t>年约</a:t>
            </a:r>
            <a:r>
              <a:rPr lang="en-US" altLang="zh-CN" dirty="0"/>
              <a:t>200</a:t>
            </a:r>
            <a:r>
              <a:rPr lang="zh-CN" altLang="en-US" dirty="0"/>
              <a:t>亿美元，预计</a:t>
            </a:r>
            <a:r>
              <a:rPr lang="en-US" altLang="zh-CN" dirty="0"/>
              <a:t>2030</a:t>
            </a:r>
            <a:r>
              <a:rPr lang="zh-CN" altLang="en-US" dirty="0"/>
              <a:t>年达</a:t>
            </a:r>
            <a:r>
              <a:rPr lang="en-US" altLang="zh-CN" dirty="0"/>
              <a:t>406</a:t>
            </a:r>
            <a:r>
              <a:rPr lang="zh-CN" altLang="en-US" dirty="0"/>
              <a:t>亿美元，年复合增长率达</a:t>
            </a:r>
            <a:r>
              <a:rPr lang="en-US" altLang="zh-CN" dirty="0"/>
              <a:t>12.5%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并非整车出口，而是零部件出口。</a:t>
            </a:r>
            <a:endParaRPr lang="en-US" altLang="zh-CN" dirty="0"/>
          </a:p>
          <a:p>
            <a:pPr lvl="0"/>
            <a:r>
              <a:rPr lang="zh-CN" altLang="zh-CN" b="1" dirty="0"/>
              <a:t>宏观数据</a:t>
            </a:r>
            <a:r>
              <a:rPr lang="zh-CN" altLang="zh-CN" dirty="0"/>
              <a:t>：显示中国向全球出口了大量的</a:t>
            </a:r>
            <a:r>
              <a:rPr lang="zh-CN" altLang="zh-CN" b="1" dirty="0"/>
              <a:t>非机动自行车</a:t>
            </a:r>
            <a:r>
              <a:rPr lang="zh-CN" altLang="zh-CN" dirty="0"/>
              <a:t>。这些产品大多价格敏感，竞争激烈。</a:t>
            </a:r>
          </a:p>
          <a:p>
            <a:pPr lvl="0"/>
            <a:r>
              <a:rPr lang="zh-CN" altLang="zh-CN" b="1" dirty="0"/>
              <a:t>八方股份</a:t>
            </a:r>
            <a:r>
              <a:rPr lang="zh-CN" altLang="zh-CN" dirty="0"/>
              <a:t>：其产品配套的</a:t>
            </a:r>
            <a:r>
              <a:rPr lang="zh-CN" altLang="zh-CN" b="1" dirty="0"/>
              <a:t>电踏车</a:t>
            </a:r>
            <a:r>
              <a:rPr lang="zh-CN" altLang="zh-CN" dirty="0"/>
              <a:t>，在报告中明确区分于传统的</a:t>
            </a:r>
            <a:r>
              <a:rPr lang="en-US" altLang="zh-CN" dirty="0"/>
              <a:t>“</a:t>
            </a:r>
            <a:r>
              <a:rPr lang="zh-CN" altLang="zh-CN" dirty="0"/>
              <a:t>电动自行车</a:t>
            </a:r>
            <a:r>
              <a:rPr lang="en-US" altLang="zh-CN" dirty="0"/>
              <a:t>”</a:t>
            </a:r>
            <a:r>
              <a:rPr lang="zh-CN" altLang="zh-CN" dirty="0"/>
              <a:t>，定位</a:t>
            </a:r>
            <a:r>
              <a:rPr lang="zh-CN" altLang="zh-CN" b="1" dirty="0"/>
              <a:t>中高端、运动、通勤</a:t>
            </a:r>
            <a:r>
              <a:rPr lang="zh-CN" altLang="zh-CN" dirty="0"/>
              <a:t>，主要面向</a:t>
            </a:r>
            <a:r>
              <a:rPr lang="zh-CN" altLang="zh-CN" b="1" dirty="0"/>
              <a:t>欧美日</a:t>
            </a:r>
            <a:r>
              <a:rPr lang="zh-CN" altLang="zh-CN" dirty="0"/>
              <a:t>消费市场。</a:t>
            </a:r>
          </a:p>
          <a:p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615D54E-BDF6-0AD9-D723-6A2070DD6E98}"/>
              </a:ext>
            </a:extLst>
          </p:cNvPr>
          <p:cNvGrpSpPr/>
          <p:nvPr/>
        </p:nvGrpSpPr>
        <p:grpSpPr>
          <a:xfrm>
            <a:off x="-240704" y="270213"/>
            <a:ext cx="4468238" cy="734108"/>
            <a:chOff x="-240704" y="246620"/>
            <a:chExt cx="3456384" cy="73410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B100A14-503E-D56D-FAEE-FDCC938BC554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6" name="文本占位符 3">
              <a:extLst>
                <a:ext uri="{FF2B5EF4-FFF2-40B4-BE49-F238E27FC236}">
                  <a16:creationId xmlns:a16="http://schemas.microsoft.com/office/drawing/2014/main" id="{5D68935D-834F-AF4F-C1D4-C466568160F3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八方股份行研报告</a:t>
              </a: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3BB86422-C4C0-84FC-AB72-34B56D57F4A3}"/>
              </a:ext>
            </a:extLst>
          </p:cNvPr>
          <p:cNvSpPr/>
          <p:nvPr/>
        </p:nvSpPr>
        <p:spPr>
          <a:xfrm>
            <a:off x="375805" y="6450307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C9FBB7F-114C-315A-5418-35C97F0FC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6476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5919CC9-1D4C-BCB7-8E93-9D2029A1B2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7321"/>
            <a:ext cx="1815412" cy="71436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E7B6BF6-2359-DC77-B1EB-87B2F909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2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BCE9D1B7-91C7-8864-1B51-9CD89ACA78C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48776" y="1808175"/>
          <a:ext cx="10732169" cy="44619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14080">
                  <a:extLst>
                    <a:ext uri="{9D8B030D-6E8A-4147-A177-3AD203B41FA5}">
                      <a16:colId xmlns:a16="http://schemas.microsoft.com/office/drawing/2014/main" val="2578487483"/>
                    </a:ext>
                  </a:extLst>
                </a:gridCol>
                <a:gridCol w="1236120">
                  <a:extLst>
                    <a:ext uri="{9D8B030D-6E8A-4147-A177-3AD203B41FA5}">
                      <a16:colId xmlns:a16="http://schemas.microsoft.com/office/drawing/2014/main" val="2282146094"/>
                    </a:ext>
                  </a:extLst>
                </a:gridCol>
                <a:gridCol w="1789283">
                  <a:extLst>
                    <a:ext uri="{9D8B030D-6E8A-4147-A177-3AD203B41FA5}">
                      <a16:colId xmlns:a16="http://schemas.microsoft.com/office/drawing/2014/main" val="571152880"/>
                    </a:ext>
                  </a:extLst>
                </a:gridCol>
                <a:gridCol w="4537624">
                  <a:extLst>
                    <a:ext uri="{9D8B030D-6E8A-4147-A177-3AD203B41FA5}">
                      <a16:colId xmlns:a16="http://schemas.microsoft.com/office/drawing/2014/main" val="4074559560"/>
                    </a:ext>
                  </a:extLst>
                </a:gridCol>
                <a:gridCol w="2255062">
                  <a:extLst>
                    <a:ext uri="{9D8B030D-6E8A-4147-A177-3AD203B41FA5}">
                      <a16:colId xmlns:a16="http://schemas.microsoft.com/office/drawing/2014/main" val="333027685"/>
                    </a:ext>
                  </a:extLst>
                </a:gridCol>
              </a:tblGrid>
              <a:tr h="31871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区域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市场阶段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规模（</a:t>
                      </a:r>
                      <a:r>
                        <a:rPr lang="en-US" sz="1800" kern="100">
                          <a:effectLst/>
                        </a:rPr>
                        <a:t>2024E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特点与驱动因素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主要玩家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extLst>
                  <a:ext uri="{0D108BD9-81ED-4DB2-BD59-A6C34878D82A}">
                    <a16:rowId xmlns:a16="http://schemas.microsoft.com/office/drawing/2014/main" val="1546403795"/>
                  </a:ext>
                </a:extLst>
              </a:tr>
              <a:tr h="1115499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欧洲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成熟主导市场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</a:rPr>
                        <a:t>148.6</a:t>
                      </a:r>
                      <a:r>
                        <a:rPr lang="zh-CN" sz="1800" kern="100">
                          <a:effectLst/>
                        </a:rPr>
                        <a:t>亿美元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骑行文化深厚，渗透率高（</a:t>
                      </a:r>
                      <a:r>
                        <a:rPr lang="en-US" sz="1800" kern="100">
                          <a:effectLst/>
                        </a:rPr>
                        <a:t>44%</a:t>
                      </a:r>
                      <a:r>
                        <a:rPr lang="zh-CN" sz="1800" kern="100">
                          <a:effectLst/>
                        </a:rPr>
                        <a:t>），法规完善，通勤刚需。产品以中置电机为主，性能要求高。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博世（龙头）、八方股份、福玛诺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extLst>
                  <a:ext uri="{0D108BD9-81ED-4DB2-BD59-A6C34878D82A}">
                    <a16:rowId xmlns:a16="http://schemas.microsoft.com/office/drawing/2014/main" val="3619378027"/>
                  </a:ext>
                </a:extLst>
              </a:tr>
              <a:tr h="159357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北美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高增长蓝海市场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</a:rPr>
                        <a:t>19.8</a:t>
                      </a:r>
                      <a:r>
                        <a:rPr lang="zh-CN" sz="1800" kern="100">
                          <a:effectLst/>
                        </a:rPr>
                        <a:t>亿美元（</a:t>
                      </a:r>
                      <a:r>
                        <a:rPr lang="en-US" sz="1800" kern="100">
                          <a:effectLst/>
                        </a:rPr>
                        <a:t>2022</a:t>
                      </a:r>
                      <a:r>
                        <a:rPr lang="zh-CN" sz="1800" kern="100">
                          <a:effectLst/>
                        </a:rPr>
                        <a:t>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地广人稀，休闲与</a:t>
                      </a:r>
                      <a:r>
                        <a:rPr lang="en-US" sz="1800" kern="100">
                          <a:effectLst/>
                        </a:rPr>
                        <a:t>“</a:t>
                      </a:r>
                      <a:r>
                        <a:rPr lang="zh-CN" sz="1800" kern="100">
                          <a:effectLst/>
                        </a:rPr>
                        <a:t>最后一英里</a:t>
                      </a:r>
                      <a:r>
                        <a:rPr lang="en-US" sz="1800" kern="100">
                          <a:effectLst/>
                        </a:rPr>
                        <a:t>”</a:t>
                      </a:r>
                      <a:r>
                        <a:rPr lang="zh-CN" sz="1800" kern="100">
                          <a:effectLst/>
                        </a:rPr>
                        <a:t>需求为主。产品以大功率轮毂电机为主，共享单车推动。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八方股份、安乃达、盛亿、同盛（中国阵营为主）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extLst>
                  <a:ext uri="{0D108BD9-81ED-4DB2-BD59-A6C34878D82A}">
                    <a16:rowId xmlns:a16="http://schemas.microsoft.com/office/drawing/2014/main" val="1972610052"/>
                  </a:ext>
                </a:extLst>
              </a:tr>
              <a:tr h="1434214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日本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高渗透成熟市场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</a:rPr>
                        <a:t>10.1</a:t>
                      </a:r>
                      <a:r>
                        <a:rPr lang="zh-CN" sz="1800" kern="100">
                          <a:effectLst/>
                        </a:rPr>
                        <a:t>亿美元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法规严格（限速），老龄化社会刚性需求。市场格局固化，本土品牌强势。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雅马哈、松下、福玛诺（本土巨头主导）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6602" marR="66602" marT="0" marB="0"/>
                </a:tc>
                <a:extLst>
                  <a:ext uri="{0D108BD9-81ED-4DB2-BD59-A6C34878D82A}">
                    <a16:rowId xmlns:a16="http://schemas.microsoft.com/office/drawing/2014/main" val="300437019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4C0C5091-A715-E2FA-3F63-EA54DBA37F8A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95C2CCB-F02D-CBEB-A0F9-16DC3D3FA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5364E3D-EBE0-223F-F9A2-727D5B435C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24684B89-0584-99A8-7AC2-55ED0C95A0C6}"/>
              </a:ext>
            </a:extLst>
          </p:cNvPr>
          <p:cNvGrpSpPr/>
          <p:nvPr/>
        </p:nvGrpSpPr>
        <p:grpSpPr>
          <a:xfrm>
            <a:off x="-240704" y="270213"/>
            <a:ext cx="4468238" cy="734108"/>
            <a:chOff x="-240704" y="246620"/>
            <a:chExt cx="3456384" cy="73410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A7AC6DB2-E5F5-E3AD-BF63-3640EA560431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4" name="文本占位符 3">
              <a:extLst>
                <a:ext uri="{FF2B5EF4-FFF2-40B4-BE49-F238E27FC236}">
                  <a16:creationId xmlns:a16="http://schemas.microsoft.com/office/drawing/2014/main" id="{D1FB6E90-E76A-A272-BE38-FDB942643B8C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八方股份行研报告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8E14955-46DF-D6FD-69AA-5E2AD284F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72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11F3-B104-5E66-CD2F-29617119C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4172051-B387-2AA6-C96D-20495E299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005" y="1218839"/>
            <a:ext cx="11907825" cy="6098291"/>
          </a:xfrm>
        </p:spPr>
        <p:txBody>
          <a:bodyPr>
            <a:normAutofit/>
          </a:bodyPr>
          <a:lstStyle/>
          <a:p>
            <a:r>
              <a:rPr lang="zh-CN" altLang="zh-CN" sz="2200" b="1" u="sng" dirty="0"/>
              <a:t>欧洲目前是主战场</a:t>
            </a:r>
            <a:r>
              <a:rPr lang="zh-CN" altLang="zh-CN" sz="2200" dirty="0"/>
              <a:t>：根据</a:t>
            </a:r>
            <a:r>
              <a:rPr lang="en-US" altLang="zh-CN" sz="2200" dirty="0"/>
              <a:t>Market Data Forecast</a:t>
            </a:r>
            <a:r>
              <a:rPr lang="zh-CN" altLang="zh-CN" sz="2200" dirty="0"/>
              <a:t>，</a:t>
            </a:r>
            <a:r>
              <a:rPr lang="en-US" altLang="zh-CN" sz="2200" dirty="0"/>
              <a:t>2024</a:t>
            </a:r>
            <a:r>
              <a:rPr lang="zh-CN" altLang="zh-CN" sz="2200" dirty="0"/>
              <a:t>年欧洲电踏车市场规模达</a:t>
            </a:r>
            <a:r>
              <a:rPr lang="en-US" altLang="zh-CN" sz="2200" dirty="0"/>
              <a:t>148.6 </a:t>
            </a:r>
            <a:r>
              <a:rPr lang="zh-CN" altLang="zh-CN" sz="2200" dirty="0"/>
              <a:t>亿美元，</a:t>
            </a:r>
            <a:r>
              <a:rPr lang="en-US" altLang="zh-CN" sz="2200" dirty="0"/>
              <a:t>2030</a:t>
            </a:r>
            <a:r>
              <a:rPr lang="zh-CN" altLang="zh-CN" sz="2200" dirty="0"/>
              <a:t>年规模将达到</a:t>
            </a:r>
            <a:r>
              <a:rPr lang="en-US" altLang="zh-CN" sz="2200" dirty="0"/>
              <a:t>298.7</a:t>
            </a:r>
            <a:r>
              <a:rPr lang="zh-CN" altLang="zh-CN" sz="2200" dirty="0"/>
              <a:t>亿美元，期间</a:t>
            </a:r>
            <a:r>
              <a:rPr lang="en-US" altLang="zh-CN" sz="2200" dirty="0"/>
              <a:t>CAGR</a:t>
            </a:r>
            <a:r>
              <a:rPr lang="zh-CN" altLang="zh-CN" sz="2200" dirty="0"/>
              <a:t>达</a:t>
            </a:r>
            <a:r>
              <a:rPr lang="en-US" altLang="zh-CN" sz="2200" dirty="0"/>
              <a:t>12.3%</a:t>
            </a:r>
            <a:r>
              <a:rPr lang="zh-CN" altLang="zh-CN" sz="2200" dirty="0"/>
              <a:t>；根据</a:t>
            </a:r>
            <a:r>
              <a:rPr lang="en-US" altLang="zh-CN" sz="2200" dirty="0"/>
              <a:t>CONEBI</a:t>
            </a:r>
            <a:r>
              <a:rPr lang="zh-CN" altLang="zh-CN" sz="2200" dirty="0"/>
              <a:t>，</a:t>
            </a:r>
            <a:r>
              <a:rPr lang="en-US" altLang="zh-CN" sz="2200" dirty="0"/>
              <a:t>2023</a:t>
            </a:r>
            <a:r>
              <a:rPr lang="zh-CN" altLang="zh-CN" sz="2200" dirty="0"/>
              <a:t>年 销量约</a:t>
            </a:r>
            <a:r>
              <a:rPr lang="en-US" altLang="zh-CN" sz="2200" dirty="0"/>
              <a:t>510</a:t>
            </a:r>
            <a:r>
              <a:rPr lang="zh-CN" altLang="zh-CN" sz="2200" dirty="0"/>
              <a:t>万辆，</a:t>
            </a:r>
            <a:r>
              <a:rPr lang="en-US" altLang="zh-CN" sz="2200" dirty="0" err="1"/>
              <a:t>BikeNews</a:t>
            </a:r>
            <a:r>
              <a:rPr lang="zh-CN" altLang="zh-CN" sz="2200" dirty="0"/>
              <a:t>预计</a:t>
            </a:r>
            <a:r>
              <a:rPr lang="en-US" altLang="zh-CN" sz="2200" dirty="0"/>
              <a:t>2030</a:t>
            </a:r>
            <a:r>
              <a:rPr lang="zh-CN" altLang="zh-CN" sz="2200" dirty="0"/>
              <a:t>年欧洲</a:t>
            </a:r>
            <a:r>
              <a:rPr lang="en-US" altLang="zh-CN" sz="2200" dirty="0"/>
              <a:t>E-bike</a:t>
            </a:r>
            <a:r>
              <a:rPr lang="zh-CN" altLang="zh-CN" sz="2200" dirty="0"/>
              <a:t>销量将突破</a:t>
            </a:r>
            <a:r>
              <a:rPr lang="en-US" altLang="zh-CN" sz="2200" dirty="0"/>
              <a:t>1000</a:t>
            </a:r>
            <a:r>
              <a:rPr lang="zh-CN" altLang="zh-CN" sz="2200" dirty="0"/>
              <a:t>万辆，期间</a:t>
            </a:r>
            <a:r>
              <a:rPr lang="en-US" altLang="zh-CN" sz="2200" dirty="0"/>
              <a:t>CAGR</a:t>
            </a:r>
            <a:r>
              <a:rPr lang="zh-CN" altLang="zh-CN" sz="2200" dirty="0"/>
              <a:t>为</a:t>
            </a:r>
            <a:r>
              <a:rPr lang="en-US" altLang="zh-CN" sz="2200" dirty="0"/>
              <a:t> 10.1%</a:t>
            </a:r>
            <a:r>
              <a:rPr lang="zh-CN" altLang="zh-CN" sz="2200" dirty="0"/>
              <a:t>。</a:t>
            </a:r>
            <a:r>
              <a:rPr lang="en-US" altLang="zh-CN" sz="2200" dirty="0"/>
              <a:t>2023</a:t>
            </a:r>
            <a:r>
              <a:rPr lang="zh-CN" altLang="zh-CN" sz="2200" dirty="0"/>
              <a:t>年，欧洲</a:t>
            </a:r>
            <a:r>
              <a:rPr lang="en-US" altLang="zh-CN" sz="2200" dirty="0"/>
              <a:t>E-bike</a:t>
            </a:r>
            <a:r>
              <a:rPr lang="zh-CN" altLang="zh-CN" sz="2200" dirty="0"/>
              <a:t>渗透率达</a:t>
            </a:r>
            <a:r>
              <a:rPr lang="en-US" altLang="zh-CN" sz="2200" dirty="0"/>
              <a:t>44%</a:t>
            </a:r>
            <a:r>
              <a:rPr lang="zh-CN" altLang="zh-CN" sz="2200" dirty="0"/>
              <a:t>，但主要系自行车销量下滑</a:t>
            </a:r>
            <a:r>
              <a:rPr lang="en-US" altLang="zh-CN" sz="2200" dirty="0"/>
              <a:t>20%</a:t>
            </a:r>
            <a:r>
              <a:rPr lang="zh-CN" altLang="zh-CN" sz="2200" dirty="0"/>
              <a:t>，若以正常年 份的欧洲自行车年销量</a:t>
            </a:r>
            <a:r>
              <a:rPr lang="en-US" altLang="zh-CN" sz="2200" dirty="0"/>
              <a:t>1500</a:t>
            </a:r>
            <a:r>
              <a:rPr lang="zh-CN" altLang="zh-CN" sz="2200" dirty="0"/>
              <a:t>万辆来看，</a:t>
            </a:r>
            <a:r>
              <a:rPr lang="en-US" altLang="zh-CN" sz="2200" dirty="0"/>
              <a:t>2030</a:t>
            </a:r>
            <a:r>
              <a:rPr lang="zh-CN" altLang="zh-CN" sz="2200" dirty="0"/>
              <a:t>年欧洲</a:t>
            </a:r>
            <a:r>
              <a:rPr lang="en-US" altLang="zh-CN" sz="2200" dirty="0"/>
              <a:t>E-bike</a:t>
            </a:r>
            <a:r>
              <a:rPr lang="zh-CN" altLang="zh-CN" sz="2200" dirty="0"/>
              <a:t>渗透率有望达到</a:t>
            </a:r>
            <a:r>
              <a:rPr lang="en-US" altLang="zh-CN" sz="2200" dirty="0"/>
              <a:t>67%</a:t>
            </a:r>
            <a:r>
              <a:rPr lang="zh-CN" altLang="zh-CN" sz="2200" dirty="0"/>
              <a:t>。 </a:t>
            </a:r>
          </a:p>
          <a:p>
            <a:r>
              <a:rPr lang="zh-CN" altLang="zh-CN" sz="2200" b="1" u="sng" dirty="0"/>
              <a:t>北美保持快速增长</a:t>
            </a:r>
            <a:r>
              <a:rPr lang="zh-CN" altLang="zh-CN" sz="2200" dirty="0"/>
              <a:t>：根据</a:t>
            </a:r>
            <a:r>
              <a:rPr lang="en-US" altLang="zh-CN" sz="2200" dirty="0"/>
              <a:t>Grand View Research</a:t>
            </a:r>
            <a:r>
              <a:rPr lang="zh-CN" altLang="zh-CN" sz="2200" dirty="0"/>
              <a:t>，</a:t>
            </a:r>
            <a:r>
              <a:rPr lang="en-US" altLang="zh-CN" sz="2200" dirty="0"/>
              <a:t>2022</a:t>
            </a:r>
            <a:r>
              <a:rPr lang="zh-CN" altLang="zh-CN" sz="2200" dirty="0"/>
              <a:t>年北美电踏车市场规模约为</a:t>
            </a:r>
            <a:r>
              <a:rPr lang="en-US" altLang="zh-CN" sz="2200" dirty="0"/>
              <a:t>19.8 </a:t>
            </a:r>
            <a:r>
              <a:rPr lang="zh-CN" altLang="zh-CN" sz="2200" dirty="0"/>
              <a:t>亿美元，</a:t>
            </a:r>
            <a:r>
              <a:rPr lang="en-US" altLang="zh-CN" sz="2200" dirty="0"/>
              <a:t>2030</a:t>
            </a:r>
            <a:r>
              <a:rPr lang="zh-CN" altLang="zh-CN" sz="2200" dirty="0"/>
              <a:t>年规模将达到</a:t>
            </a:r>
            <a:r>
              <a:rPr lang="en-US" altLang="zh-CN" sz="2200" dirty="0"/>
              <a:t>63.1</a:t>
            </a:r>
            <a:r>
              <a:rPr lang="zh-CN" altLang="zh-CN" sz="2200" dirty="0"/>
              <a:t>亿美元，</a:t>
            </a:r>
            <a:r>
              <a:rPr lang="en-US" altLang="zh-CN" sz="2200" dirty="0"/>
              <a:t>CAGR</a:t>
            </a:r>
            <a:r>
              <a:rPr lang="zh-CN" altLang="zh-CN" sz="2200" dirty="0"/>
              <a:t>达</a:t>
            </a:r>
            <a:r>
              <a:rPr lang="en-US" altLang="zh-CN" sz="2200" dirty="0"/>
              <a:t>15.6%</a:t>
            </a:r>
            <a:r>
              <a:rPr lang="zh-CN" altLang="zh-CN" sz="2200" dirty="0"/>
              <a:t>；根据</a:t>
            </a:r>
            <a:r>
              <a:rPr lang="en-US" altLang="zh-CN" sz="2200" dirty="0"/>
              <a:t>Statista</a:t>
            </a:r>
            <a:r>
              <a:rPr lang="zh-CN" altLang="zh-CN" sz="2200" dirty="0"/>
              <a:t>，</a:t>
            </a:r>
            <a:r>
              <a:rPr lang="en-US" altLang="zh-CN" sz="2200" dirty="0"/>
              <a:t>2023</a:t>
            </a:r>
            <a:r>
              <a:rPr lang="zh-CN" altLang="zh-CN" sz="2200" dirty="0"/>
              <a:t>年销量约 为</a:t>
            </a:r>
            <a:r>
              <a:rPr lang="en-US" altLang="zh-CN" sz="2200" dirty="0"/>
              <a:t>99</a:t>
            </a:r>
            <a:r>
              <a:rPr lang="zh-CN" altLang="zh-CN" sz="2200" dirty="0"/>
              <a:t>万辆，预计</a:t>
            </a:r>
            <a:r>
              <a:rPr lang="en-US" altLang="zh-CN" sz="2200" dirty="0"/>
              <a:t>2030</a:t>
            </a:r>
            <a:r>
              <a:rPr lang="zh-CN" altLang="zh-CN" sz="2200" dirty="0"/>
              <a:t>年将达到</a:t>
            </a:r>
            <a:r>
              <a:rPr lang="en-US" altLang="zh-CN" sz="2200" dirty="0"/>
              <a:t>289.6</a:t>
            </a:r>
            <a:r>
              <a:rPr lang="zh-CN" altLang="zh-CN" sz="2200" dirty="0"/>
              <a:t>万辆，</a:t>
            </a:r>
            <a:r>
              <a:rPr lang="en-US" altLang="zh-CN" sz="2200" dirty="0"/>
              <a:t>CAGR</a:t>
            </a:r>
            <a:r>
              <a:rPr lang="zh-CN" altLang="zh-CN" sz="2200" dirty="0"/>
              <a:t>为</a:t>
            </a:r>
            <a:r>
              <a:rPr lang="en-US" altLang="zh-CN" sz="2200" dirty="0"/>
              <a:t>16.6%</a:t>
            </a:r>
            <a:r>
              <a:rPr lang="zh-CN" altLang="zh-CN" sz="2200" dirty="0"/>
              <a:t>，此增长率接近</a:t>
            </a:r>
            <a:r>
              <a:rPr lang="en-US" altLang="zh-CN" sz="2200" dirty="0"/>
              <a:t> </a:t>
            </a:r>
            <a:r>
              <a:rPr lang="en-US" altLang="zh-CN" sz="2200" dirty="0" err="1"/>
              <a:t>ECycleElectric</a:t>
            </a:r>
            <a:r>
              <a:rPr lang="en-US" altLang="zh-CN" sz="2200" dirty="0"/>
              <a:t> </a:t>
            </a:r>
            <a:r>
              <a:rPr lang="zh-CN" altLang="zh-CN" sz="2200" dirty="0"/>
              <a:t>的悲观预期</a:t>
            </a:r>
            <a:r>
              <a:rPr lang="en-US" altLang="zh-CN" sz="2200" dirty="0"/>
              <a:t> 14%</a:t>
            </a:r>
            <a:r>
              <a:rPr lang="zh-CN" altLang="zh-CN" sz="2200" dirty="0"/>
              <a:t>。若按照该机构的乐观预期</a:t>
            </a:r>
            <a:r>
              <a:rPr lang="en-US" altLang="zh-CN" sz="2200" dirty="0"/>
              <a:t>25%</a:t>
            </a:r>
            <a:r>
              <a:rPr lang="zh-CN" altLang="zh-CN" sz="2200" dirty="0"/>
              <a:t>复合增长，预计</a:t>
            </a:r>
            <a:r>
              <a:rPr lang="en-US" altLang="zh-CN" sz="2200" dirty="0"/>
              <a:t>2025</a:t>
            </a:r>
            <a:r>
              <a:rPr lang="zh-CN" altLang="zh-CN" sz="2200" dirty="0"/>
              <a:t>年美 国</a:t>
            </a:r>
            <a:r>
              <a:rPr lang="en-US" altLang="zh-CN" sz="2200" dirty="0"/>
              <a:t>E-bike</a:t>
            </a:r>
            <a:r>
              <a:rPr lang="zh-CN" altLang="zh-CN" sz="2200" dirty="0"/>
              <a:t>销量为</a:t>
            </a:r>
            <a:r>
              <a:rPr lang="en-US" altLang="zh-CN" sz="2200" dirty="0"/>
              <a:t>210</a:t>
            </a:r>
            <a:r>
              <a:rPr lang="zh-CN" altLang="zh-CN" sz="2200" dirty="0"/>
              <a:t>万辆，</a:t>
            </a:r>
            <a:r>
              <a:rPr lang="en-US" altLang="zh-CN" sz="2200" dirty="0"/>
              <a:t>2030</a:t>
            </a:r>
            <a:r>
              <a:rPr lang="zh-CN" altLang="zh-CN" sz="2200" dirty="0"/>
              <a:t>年美国</a:t>
            </a:r>
            <a:r>
              <a:rPr lang="en-US" altLang="zh-CN" sz="2200" dirty="0"/>
              <a:t>E-bike</a:t>
            </a:r>
            <a:r>
              <a:rPr lang="zh-CN" altLang="zh-CN" sz="2200" dirty="0"/>
              <a:t>销量有望达到</a:t>
            </a:r>
            <a:r>
              <a:rPr lang="en-US" altLang="zh-CN" sz="2200" dirty="0"/>
              <a:t>650</a:t>
            </a:r>
            <a:r>
              <a:rPr lang="zh-CN" altLang="zh-CN" sz="2200" dirty="0"/>
              <a:t>万辆。根据</a:t>
            </a:r>
            <a:r>
              <a:rPr lang="en-US" altLang="zh-CN" sz="2200" dirty="0"/>
              <a:t> </a:t>
            </a:r>
            <a:r>
              <a:rPr lang="en-US" altLang="zh-CN" sz="2200" dirty="0" err="1"/>
              <a:t>Circana</a:t>
            </a:r>
            <a:r>
              <a:rPr lang="zh-CN" altLang="zh-CN" sz="2200" dirty="0"/>
              <a:t>，美 国自行车销量正常保持在</a:t>
            </a:r>
            <a:r>
              <a:rPr lang="en-US" altLang="zh-CN" sz="2200" dirty="0"/>
              <a:t>1500</a:t>
            </a:r>
            <a:r>
              <a:rPr lang="zh-CN" altLang="zh-CN" sz="2200" dirty="0"/>
              <a:t>万辆左右，因此，到</a:t>
            </a:r>
            <a:r>
              <a:rPr lang="en-US" altLang="zh-CN" sz="2200" dirty="0"/>
              <a:t>2030</a:t>
            </a:r>
            <a:r>
              <a:rPr lang="zh-CN" altLang="zh-CN" sz="2200" dirty="0"/>
              <a:t>年渗透率有望达到</a:t>
            </a:r>
            <a:r>
              <a:rPr lang="en-US" altLang="zh-CN" sz="2200" dirty="0"/>
              <a:t>19%</a:t>
            </a:r>
            <a:r>
              <a:rPr lang="zh-CN" altLang="zh-CN" sz="2200" dirty="0"/>
              <a:t>以上，按 照乐观预期，渗透率有望接近</a:t>
            </a:r>
            <a:r>
              <a:rPr lang="en-US" altLang="zh-CN" sz="2200" dirty="0"/>
              <a:t>50%</a:t>
            </a:r>
            <a:r>
              <a:rPr lang="zh-CN" altLang="zh-CN" sz="2200" dirty="0"/>
              <a:t>。 </a:t>
            </a:r>
          </a:p>
          <a:p>
            <a:r>
              <a:rPr lang="zh-CN" altLang="zh-CN" sz="2200" b="1" u="sng" dirty="0"/>
              <a:t>日本保持平稳增长</a:t>
            </a:r>
            <a:r>
              <a:rPr lang="zh-CN" altLang="zh-CN" sz="2200" dirty="0"/>
              <a:t>：日本是电踏车技术的发源地，</a:t>
            </a:r>
            <a:r>
              <a:rPr lang="en-US" altLang="zh-CN" sz="2200" dirty="0"/>
              <a:t>1993</a:t>
            </a:r>
            <a:r>
              <a:rPr lang="zh-CN" altLang="zh-CN" sz="2200" dirty="0"/>
              <a:t>年雅马哈就推出了全球首款</a:t>
            </a:r>
            <a:r>
              <a:rPr lang="en-US" altLang="zh-CN" sz="2200" dirty="0"/>
              <a:t>E bike</a:t>
            </a:r>
            <a:r>
              <a:rPr lang="zh-CN" altLang="zh-CN" sz="2200" dirty="0"/>
              <a:t>。根据</a:t>
            </a:r>
            <a:r>
              <a:rPr lang="en-US" altLang="zh-CN" sz="2200" dirty="0"/>
              <a:t>Precedence Research</a:t>
            </a:r>
            <a:r>
              <a:rPr lang="zh-CN" altLang="zh-CN" sz="2200" dirty="0"/>
              <a:t>，</a:t>
            </a:r>
            <a:r>
              <a:rPr lang="en-US" altLang="zh-CN" sz="2200" dirty="0"/>
              <a:t>2023</a:t>
            </a:r>
            <a:r>
              <a:rPr lang="zh-CN" altLang="zh-CN" sz="2200" dirty="0"/>
              <a:t>年日本</a:t>
            </a:r>
            <a:r>
              <a:rPr lang="en-US" altLang="zh-CN" sz="2200" dirty="0"/>
              <a:t> E-Bike</a:t>
            </a:r>
            <a:r>
              <a:rPr lang="zh-CN" altLang="zh-CN" sz="2200" dirty="0"/>
              <a:t>市场规模为</a:t>
            </a:r>
            <a:r>
              <a:rPr lang="en-US" altLang="zh-CN" sz="2200" dirty="0"/>
              <a:t> 10.1</a:t>
            </a:r>
            <a:r>
              <a:rPr lang="zh-CN" altLang="zh-CN" sz="2200" dirty="0"/>
              <a:t>亿美元，</a:t>
            </a:r>
            <a:r>
              <a:rPr lang="en-US" altLang="zh-CN" sz="2200" dirty="0"/>
              <a:t>2030</a:t>
            </a:r>
            <a:r>
              <a:rPr lang="zh-CN" altLang="zh-CN" sz="2200" dirty="0"/>
              <a:t>年规模 约为</a:t>
            </a:r>
            <a:r>
              <a:rPr lang="en-US" altLang="zh-CN" sz="2200" dirty="0"/>
              <a:t>19.9</a:t>
            </a:r>
            <a:r>
              <a:rPr lang="zh-CN" altLang="zh-CN" sz="2200" dirty="0"/>
              <a:t>亿美元，</a:t>
            </a:r>
            <a:r>
              <a:rPr lang="en-US" altLang="zh-CN" sz="2200" dirty="0"/>
              <a:t>CAGR</a:t>
            </a:r>
            <a:r>
              <a:rPr lang="zh-CN" altLang="zh-CN" sz="2200" dirty="0"/>
              <a:t>达</a:t>
            </a:r>
            <a:r>
              <a:rPr lang="en-US" altLang="zh-CN" sz="2200" dirty="0"/>
              <a:t>10.1%</a:t>
            </a:r>
            <a:r>
              <a:rPr lang="zh-CN" altLang="zh-CN" sz="2200" dirty="0"/>
              <a:t>；根据</a:t>
            </a:r>
            <a:r>
              <a:rPr lang="en-US" altLang="zh-CN" sz="2200" dirty="0"/>
              <a:t>Statista</a:t>
            </a:r>
            <a:r>
              <a:rPr lang="zh-CN" altLang="zh-CN" sz="2200" dirty="0"/>
              <a:t>，</a:t>
            </a:r>
            <a:r>
              <a:rPr lang="en-US" altLang="zh-CN" sz="2200" dirty="0"/>
              <a:t>2023</a:t>
            </a:r>
            <a:r>
              <a:rPr lang="zh-CN" altLang="zh-CN" sz="2200" dirty="0"/>
              <a:t>年销量约为</a:t>
            </a:r>
            <a:r>
              <a:rPr lang="en-US" altLang="zh-CN" sz="2200" dirty="0"/>
              <a:t>74.2</a:t>
            </a:r>
            <a:r>
              <a:rPr lang="zh-CN" altLang="zh-CN" sz="2200" dirty="0"/>
              <a:t>万辆，预计</a:t>
            </a:r>
            <a:r>
              <a:rPr lang="en-US" altLang="zh-CN" sz="2200" dirty="0"/>
              <a:t>2030 </a:t>
            </a:r>
            <a:r>
              <a:rPr lang="zh-CN" altLang="zh-CN" sz="2200" dirty="0"/>
              <a:t>年将达到</a:t>
            </a:r>
            <a:r>
              <a:rPr lang="en-US" altLang="zh-CN" sz="2200" dirty="0"/>
              <a:t>146</a:t>
            </a:r>
            <a:r>
              <a:rPr lang="zh-CN" altLang="zh-CN" sz="2200" dirty="0"/>
              <a:t>万辆，</a:t>
            </a:r>
            <a:r>
              <a:rPr lang="en-US" altLang="zh-CN" sz="2200" dirty="0"/>
              <a:t>CAGR</a:t>
            </a:r>
            <a:r>
              <a:rPr lang="zh-CN" altLang="zh-CN" sz="2200" dirty="0"/>
              <a:t>为</a:t>
            </a:r>
            <a:r>
              <a:rPr lang="en-US" altLang="zh-CN" sz="2200" dirty="0"/>
              <a:t>10.1%</a:t>
            </a:r>
            <a:r>
              <a:rPr lang="zh-CN" altLang="zh-CN" sz="2200" dirty="0"/>
              <a:t>。</a:t>
            </a:r>
            <a:r>
              <a:rPr lang="en-US" altLang="zh-CN" sz="2200" dirty="0"/>
              <a:t>2023</a:t>
            </a:r>
            <a:r>
              <a:rPr lang="zh-CN" altLang="zh-CN" sz="2200" dirty="0"/>
              <a:t>年，日本</a:t>
            </a:r>
            <a:r>
              <a:rPr lang="en-US" altLang="zh-CN" sz="2200" dirty="0"/>
              <a:t>E-bike</a:t>
            </a:r>
            <a:r>
              <a:rPr lang="zh-CN" altLang="zh-CN" sz="2200" dirty="0"/>
              <a:t>渗透率已经超过</a:t>
            </a:r>
            <a:r>
              <a:rPr lang="en-US" altLang="zh-CN" sz="2200" dirty="0"/>
              <a:t>50%</a:t>
            </a:r>
            <a:r>
              <a:rPr lang="zh-CN" altLang="zh-CN" sz="2200" dirty="0"/>
              <a:t>，处于较高水平</a:t>
            </a:r>
            <a:r>
              <a:rPr lang="zh-CN" altLang="en-US" sz="2200" dirty="0"/>
              <a:t>。</a:t>
            </a:r>
            <a:endParaRPr lang="zh-CN" altLang="zh-CN" sz="2200" dirty="0"/>
          </a:p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8B57F9-BA03-4AE4-8FE3-0D370ADF2E4B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BBFC212-429D-566A-755C-8EE8B65A4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547E27-42D6-F74A-344E-111B2BA661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6A76154-BC8E-FDDF-AC76-045DFF744F55}"/>
              </a:ext>
            </a:extLst>
          </p:cNvPr>
          <p:cNvGrpSpPr/>
          <p:nvPr/>
        </p:nvGrpSpPr>
        <p:grpSpPr>
          <a:xfrm>
            <a:off x="-240704" y="270213"/>
            <a:ext cx="4468238" cy="734108"/>
            <a:chOff x="-240704" y="246620"/>
            <a:chExt cx="3456384" cy="73410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D0D5B1F6-1798-6446-E1E2-D32F1A76B224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4" name="文本占位符 3">
              <a:extLst>
                <a:ext uri="{FF2B5EF4-FFF2-40B4-BE49-F238E27FC236}">
                  <a16:creationId xmlns:a16="http://schemas.microsoft.com/office/drawing/2014/main" id="{6C6B7697-72C4-5C82-85D8-FE6329AA986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八方股份行研报告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E1A32DF-B297-4E12-0F9B-6A628E744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541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EF58C86F-2837-9692-32FA-4DAD3FE5B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212" y="1753468"/>
            <a:ext cx="10515600" cy="4139709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EB834AA8-13D1-176D-0B0D-71988F085B14}"/>
              </a:ext>
            </a:extLst>
          </p:cNvPr>
          <p:cNvGrpSpPr/>
          <p:nvPr/>
        </p:nvGrpSpPr>
        <p:grpSpPr>
          <a:xfrm>
            <a:off x="-240704" y="263950"/>
            <a:ext cx="5345060" cy="734108"/>
            <a:chOff x="-240704" y="246620"/>
            <a:chExt cx="3456384" cy="73410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FDEF7A33-F9C0-F14E-3466-1C976C8FAE56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5" name="文本占位符 3">
              <a:extLst>
                <a:ext uri="{FF2B5EF4-FFF2-40B4-BE49-F238E27FC236}">
                  <a16:creationId xmlns:a16="http://schemas.microsoft.com/office/drawing/2014/main" id="{608B5633-5810-7E05-8BF0-FC427B9CAE42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中国整车出口（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2024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</a:t>
              </a: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A2287A4C-506A-22A6-5158-0B9D7E8668C1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B3A1334-4CDB-50CA-9CEB-C28EDB868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A191EAE-1DC3-A6A8-8217-EBAB13C56A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7D6C66-914F-E00E-3B32-5131C4D75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771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E8542-A927-948C-9640-468F57F3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2D9ED2-C5F6-236A-D5F8-757B94CDB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BFC4B52-B0B5-6707-154F-2FD522067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788" y="1392200"/>
            <a:ext cx="3334294" cy="279208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70038F9-07B4-6B4E-79EC-D38AF0B80F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19" y="2022218"/>
            <a:ext cx="8259758" cy="406991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BD6274C-C664-AEB2-47B0-D7DE747A4C60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A50B666-B49D-D806-0283-EF4CB020233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EA4F6DA2-69EB-4942-84CD-9668959025BB}"/>
              </a:ext>
            </a:extLst>
          </p:cNvPr>
          <p:cNvGrpSpPr/>
          <p:nvPr/>
        </p:nvGrpSpPr>
        <p:grpSpPr>
          <a:xfrm>
            <a:off x="-240704" y="263950"/>
            <a:ext cx="5345060" cy="734108"/>
            <a:chOff x="-240704" y="246620"/>
            <a:chExt cx="3456384" cy="73410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F2F1FE44-7738-1AB4-E2A4-428463809DB9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5" name="文本占位符 3">
              <a:extLst>
                <a:ext uri="{FF2B5EF4-FFF2-40B4-BE49-F238E27FC236}">
                  <a16:creationId xmlns:a16="http://schemas.microsoft.com/office/drawing/2014/main" id="{9D9C72DA-D70E-E37C-0643-119AC9B66A4C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中国整车出口（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2024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5769D30-6632-C289-2307-FDDD18BE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366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387B4-4E8D-388B-549E-6F3997961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66ACCD9D-E88B-23C1-C31A-9BCDFA5E9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91" y="1897198"/>
            <a:ext cx="4641987" cy="443898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045C80-937D-E1BE-4023-BB6A64F6DF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509" y="1804678"/>
            <a:ext cx="6291084" cy="424282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7E03EA3-6100-2A02-5A09-5FEF5D8D4D9A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87698B-976A-4763-D2EF-4CBF9EC216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ACC2011A-091F-699C-4C47-DBACACDFB7C1}"/>
              </a:ext>
            </a:extLst>
          </p:cNvPr>
          <p:cNvGrpSpPr/>
          <p:nvPr/>
        </p:nvGrpSpPr>
        <p:grpSpPr>
          <a:xfrm>
            <a:off x="-240704" y="263950"/>
            <a:ext cx="5345060" cy="734108"/>
            <a:chOff x="-240704" y="246620"/>
            <a:chExt cx="3456384" cy="734108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8D8B142E-6F5D-9ED0-4954-74BD81C3BA77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20" name="文本占位符 3">
              <a:extLst>
                <a:ext uri="{FF2B5EF4-FFF2-40B4-BE49-F238E27FC236}">
                  <a16:creationId xmlns:a16="http://schemas.microsoft.com/office/drawing/2014/main" id="{2E78D15B-3DB2-825A-CB31-CF6870286C06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中国整车出口（</a:t>
              </a: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2024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）</a:t>
              </a:r>
            </a:p>
          </p:txBody>
        </p:sp>
      </p:grpSp>
      <p:pic>
        <p:nvPicPr>
          <p:cNvPr id="7" name="图片 6">
            <a:extLst>
              <a:ext uri="{FF2B5EF4-FFF2-40B4-BE49-F238E27FC236}">
                <a16:creationId xmlns:a16="http://schemas.microsoft.com/office/drawing/2014/main" id="{71B26AF1-7F9A-2D7C-C42E-30805E2F21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8E271C-C8FD-95E9-68E4-0F8EFC3C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057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AF96A-1DAA-2EFE-4849-FCFCC0323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829564C-98E1-5EA4-0046-AC3FB893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八方股份与欧洲市场合作，成为了产业链中不可或缺的一部分。而整车出口则直接挑战成熟市场，只在亚洲拥有相当的份额。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145A1A-9A16-E21B-9383-1CFED27442E0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1169DE9-E6AE-F138-EE8A-65430B839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A80AC1-A42D-55AB-5257-3DBE821580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660A4619-DDBE-90B0-7D37-E4248E54CDE1}"/>
              </a:ext>
            </a:extLst>
          </p:cNvPr>
          <p:cNvGrpSpPr/>
          <p:nvPr/>
        </p:nvGrpSpPr>
        <p:grpSpPr>
          <a:xfrm>
            <a:off x="-240704" y="263950"/>
            <a:ext cx="3578890" cy="734108"/>
            <a:chOff x="-240704" y="246620"/>
            <a:chExt cx="3456384" cy="73410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1660F10F-7C52-A601-4BFA-BA8341CDC084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4" name="文本占位符 3">
              <a:extLst>
                <a:ext uri="{FF2B5EF4-FFF2-40B4-BE49-F238E27FC236}">
                  <a16:creationId xmlns:a16="http://schemas.microsoft.com/office/drawing/2014/main" id="{AFBCE1B0-186B-621D-7D1A-A5564521D427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八方股份年报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9C90A5-67B5-0048-97D8-FB0A65FB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080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32EA-8239-5769-4917-C830C213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8D88AC61-5855-2D54-8C2C-CCF1CCD20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289" y="1825625"/>
            <a:ext cx="7015421" cy="4351338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ACDDB61-4581-7975-2598-94A38C3C8EB6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A350EC-4BB8-2FEF-B257-49F5E33EB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46231D-C435-E807-76E1-2E68B7609CC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2D3BAC93-4D55-E58E-7B39-24215C63CDD8}"/>
              </a:ext>
            </a:extLst>
          </p:cNvPr>
          <p:cNvGrpSpPr/>
          <p:nvPr/>
        </p:nvGrpSpPr>
        <p:grpSpPr>
          <a:xfrm>
            <a:off x="-240704" y="263950"/>
            <a:ext cx="3578890" cy="734108"/>
            <a:chOff x="-240704" y="246620"/>
            <a:chExt cx="3456384" cy="734108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00A7A2EA-FC4B-A212-17F6-4D8864B303D6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20" name="文本占位符 3">
              <a:extLst>
                <a:ext uri="{FF2B5EF4-FFF2-40B4-BE49-F238E27FC236}">
                  <a16:creationId xmlns:a16="http://schemas.microsoft.com/office/drawing/2014/main" id="{D94D742B-A20C-63BE-E7C0-11982827B17F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八方股份年报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F3E92F-7500-7A03-6937-52B24DB5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789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5B9CAEDB-74FB-C7D9-F8C6-19EC578214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2577" y="1825625"/>
            <a:ext cx="7006541" cy="4351338"/>
          </a:xfrm>
        </p:spPr>
      </p:pic>
      <p:sp>
        <p:nvSpPr>
          <p:cNvPr id="6" name="文本占位符 3">
            <a:extLst>
              <a:ext uri="{FF2B5EF4-FFF2-40B4-BE49-F238E27FC236}">
                <a16:creationId xmlns:a16="http://schemas.microsoft.com/office/drawing/2014/main" id="{F174BCAA-13D7-BE97-29D4-D127EB7335F1}"/>
              </a:ext>
            </a:extLst>
          </p:cNvPr>
          <p:cNvSpPr txBox="1">
            <a:spLocks/>
          </p:cNvSpPr>
          <p:nvPr/>
        </p:nvSpPr>
        <p:spPr>
          <a:xfrm>
            <a:off x="130514" y="328049"/>
            <a:ext cx="2036944" cy="60590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行业分析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FC3A13F-2F09-1895-355B-4C1585384D93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D22222-3C60-21C7-822A-7200F24F45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9C80CE4-140A-ABFC-888B-FD0363844C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3E2C2314-043C-9A21-C2BC-7ECE43403423}"/>
              </a:ext>
            </a:extLst>
          </p:cNvPr>
          <p:cNvGrpSpPr/>
          <p:nvPr/>
        </p:nvGrpSpPr>
        <p:grpSpPr>
          <a:xfrm>
            <a:off x="-240704" y="263950"/>
            <a:ext cx="3578890" cy="734108"/>
            <a:chOff x="-240704" y="246620"/>
            <a:chExt cx="3456384" cy="734108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DD674C5-0F8F-004B-0035-F8C37CFC2736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4" name="文本占位符 3">
              <a:extLst>
                <a:ext uri="{FF2B5EF4-FFF2-40B4-BE49-F238E27FC236}">
                  <a16:creationId xmlns:a16="http://schemas.microsoft.com/office/drawing/2014/main" id="{C146597A-50E2-5E66-74B9-E4E9BBC44354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八方股份年报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B50E52-B927-9934-646A-131347F4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67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E1626-8A0F-71DE-7BB3-A4A74C51B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FEE7F60-0A12-B72B-1411-6E33F610D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873" y="1609597"/>
            <a:ext cx="6539186" cy="464953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3FF3E25-018D-F534-BB72-EAF42489EA53}"/>
              </a:ext>
            </a:extLst>
          </p:cNvPr>
          <p:cNvSpPr txBox="1"/>
          <p:nvPr/>
        </p:nvSpPr>
        <p:spPr>
          <a:xfrm>
            <a:off x="7094441" y="93345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t>境外存在高附加值，仍待开发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3A3BCB-50F7-B387-E8A0-511374986489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86C5627-EAAB-194D-E4C8-C0A7850A1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EBCED6D-44CB-84E6-2B44-39D450CD22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C24F0313-22FC-F103-36BD-B776C8F57C6E}"/>
              </a:ext>
            </a:extLst>
          </p:cNvPr>
          <p:cNvGrpSpPr/>
          <p:nvPr/>
        </p:nvGrpSpPr>
        <p:grpSpPr>
          <a:xfrm>
            <a:off x="-240704" y="263950"/>
            <a:ext cx="3578890" cy="734108"/>
            <a:chOff x="-240704" y="246620"/>
            <a:chExt cx="3456384" cy="73410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19641787-31B0-9C53-9889-15881D68E402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5" name="文本占位符 3">
              <a:extLst>
                <a:ext uri="{FF2B5EF4-FFF2-40B4-BE49-F238E27FC236}">
                  <a16:creationId xmlns:a16="http://schemas.microsoft.com/office/drawing/2014/main" id="{2AEEBB1E-8DC4-25DD-B47E-69074C16C4C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八方股份年报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7FA13C-EB8C-4B19-0084-7D74691E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529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A089-ED6A-5103-94A3-327379AB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556D19-EFC5-3004-4B0C-3D8471988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569"/>
            <a:ext cx="10515600" cy="5299656"/>
          </a:xfrm>
        </p:spPr>
        <p:txBody>
          <a:bodyPr>
            <a:normAutofit/>
          </a:bodyPr>
          <a:lstStyle/>
          <a:p>
            <a:r>
              <a:rPr lang="zh-CN" altLang="en-US" dirty="0"/>
              <a:t>增长驱动：公司</a:t>
            </a:r>
            <a:r>
              <a:rPr lang="en-US" altLang="zh-CN" dirty="0"/>
              <a:t>2022-2024</a:t>
            </a:r>
            <a:r>
              <a:rPr lang="zh-CN" altLang="en-US" dirty="0"/>
              <a:t>年的整体增长，很可能主要由境外市场和高毛利产品（如电池、套件等）所驱动。境外市场的高毛利率为公司的净利润增长提供了核心保障。</a:t>
            </a:r>
          </a:p>
          <a:p>
            <a:r>
              <a:rPr lang="zh-CN" altLang="en-US" dirty="0"/>
              <a:t>盈利模式：八方股份呈现一种 “内外有别”的盈利模式。</a:t>
            </a:r>
          </a:p>
          <a:p>
            <a:pPr lvl="1"/>
            <a:r>
              <a:rPr lang="zh-CN" altLang="en-US" dirty="0"/>
              <a:t>海外主攻利润：在海外，凭借技术、品牌或差异化产品获取高额利润。</a:t>
            </a:r>
          </a:p>
          <a:p>
            <a:pPr lvl="1"/>
            <a:r>
              <a:rPr lang="zh-CN" altLang="en-US" dirty="0"/>
              <a:t>国内可能主攻份额：在国内，可能通过更具竞争力的价格来维持或扩大市场份额，导致毛利率较低。</a:t>
            </a:r>
          </a:p>
          <a:p>
            <a:r>
              <a:rPr lang="zh-CN" altLang="en-US" dirty="0"/>
              <a:t>风险与机遇：</a:t>
            </a:r>
          </a:p>
          <a:p>
            <a:pPr lvl="1"/>
            <a:r>
              <a:rPr lang="zh-CN" altLang="en-US" dirty="0"/>
              <a:t>风险：公司业绩对海外市场的依赖性较高，需要警惕国际贸易环境、汇率、地缘政治等因素的风险。同时，国内市场的低盈利能力是一个短板。</a:t>
            </a:r>
          </a:p>
          <a:p>
            <a:pPr lvl="1"/>
            <a:r>
              <a:rPr lang="zh-CN" altLang="en-US" dirty="0"/>
              <a:t>机遇：如果公司能成功将海外的高毛利业务模式或产品引入国内，提升国内市场的盈利能力，将打开新的增长空间。同时，优化产品结构，继续提高高毛利产品的收入占比，是提升整体利润率的关键。</a:t>
            </a:r>
          </a:p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5F28EAF-A56D-5994-7CBA-5D030A3AEF93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6AF5ED-FE6F-C30C-CAC6-9D27160D0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FDD75F3-2D48-93C7-0359-DB1B8FDCE0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9340663-793E-711C-AEE8-BFDBE47F2E36}"/>
              </a:ext>
            </a:extLst>
          </p:cNvPr>
          <p:cNvGrpSpPr/>
          <p:nvPr/>
        </p:nvGrpSpPr>
        <p:grpSpPr>
          <a:xfrm>
            <a:off x="-240704" y="263950"/>
            <a:ext cx="3578890" cy="734108"/>
            <a:chOff x="-240704" y="246620"/>
            <a:chExt cx="3456384" cy="7341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1AAFA1B0-9614-3DB7-1C74-BAAD255ABDA1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2" name="文本占位符 3">
              <a:extLst>
                <a:ext uri="{FF2B5EF4-FFF2-40B4-BE49-F238E27FC236}">
                  <a16:creationId xmlns:a16="http://schemas.microsoft.com/office/drawing/2014/main" id="{E374789A-E0DE-F675-7B8B-C83BCF6F49CF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八方股份年报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FE0DEC-9C8C-F80C-2E04-DD2CF71D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038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6D335EA-79F3-F4F8-361C-CBE92E5657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629177"/>
          <a:ext cx="10515600" cy="46299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466568592"/>
                    </a:ext>
                  </a:extLst>
                </a:gridCol>
                <a:gridCol w="2920286">
                  <a:extLst>
                    <a:ext uri="{9D8B030D-6E8A-4147-A177-3AD203B41FA5}">
                      <a16:colId xmlns:a16="http://schemas.microsoft.com/office/drawing/2014/main" val="1627823568"/>
                    </a:ext>
                  </a:extLst>
                </a:gridCol>
                <a:gridCol w="4090114">
                  <a:extLst>
                    <a:ext uri="{9D8B030D-6E8A-4147-A177-3AD203B41FA5}">
                      <a16:colId xmlns:a16="http://schemas.microsoft.com/office/drawing/2014/main" val="3886634796"/>
                    </a:ext>
                  </a:extLst>
                </a:gridCol>
              </a:tblGrid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项目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2024</a:t>
                      </a:r>
                      <a:r>
                        <a:rPr lang="zh-CN" sz="2000" kern="100">
                          <a:effectLst/>
                        </a:rPr>
                        <a:t>年数据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说明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2389022024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境外销售收入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25,452.49</a:t>
                      </a:r>
                      <a:r>
                        <a:rPr lang="zh-CN" sz="2000" kern="100">
                          <a:effectLst/>
                        </a:rPr>
                        <a:t>万元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同比增长</a:t>
                      </a:r>
                      <a:r>
                        <a:rPr lang="en-US" sz="2000" kern="100">
                          <a:effectLst/>
                        </a:rPr>
                        <a:t>7.76%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18832973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境外毛利率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48.41%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高于境内毛利率（</a:t>
                      </a:r>
                      <a:r>
                        <a:rPr lang="en-US" sz="2000" kern="100">
                          <a:effectLst/>
                        </a:rPr>
                        <a:t>11.27%</a:t>
                      </a:r>
                      <a:r>
                        <a:rPr lang="zh-CN" sz="2000" kern="100">
                          <a:effectLst/>
                        </a:rPr>
                        <a:t>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770730222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汇兑损益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119.88</a:t>
                      </a:r>
                      <a:r>
                        <a:rPr lang="zh-CN" sz="2000" kern="100">
                          <a:effectLst/>
                        </a:rPr>
                        <a:t>万元（损失）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因人民币兑美元汇率波动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666140716"/>
                  </a:ext>
                </a:extLst>
              </a:tr>
              <a:tr h="925991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前五大客户销售占比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77.31%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客户集中度高，包括多家欧洲品牌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21991387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E742B4F9-DD39-BC59-1456-DE3835F59A4F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67C6ABF-D1CA-94E9-F198-94B98FAFF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8AFDD08-A45F-7784-D4C0-4415137AB1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7E5DD01-A78D-4CF2-091F-7559697F87CB}"/>
              </a:ext>
            </a:extLst>
          </p:cNvPr>
          <p:cNvGrpSpPr/>
          <p:nvPr/>
        </p:nvGrpSpPr>
        <p:grpSpPr>
          <a:xfrm>
            <a:off x="-240704" y="263950"/>
            <a:ext cx="3040271" cy="734108"/>
            <a:chOff x="-240704" y="246620"/>
            <a:chExt cx="3456384" cy="734108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C7BE5FF-4688-74C0-4A8A-BEA593371089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12" name="文本占位符 3">
              <a:extLst>
                <a:ext uri="{FF2B5EF4-FFF2-40B4-BE49-F238E27FC236}">
                  <a16:creationId xmlns:a16="http://schemas.microsoft.com/office/drawing/2014/main" id="{2B308DC1-0352-E2D3-CC2B-6A3E68E592B0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安乃达年报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913764-E2CB-4ABF-E830-49AE9970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985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BB85B-D613-437E-2D61-D45BD0E8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165947-D1AB-4A7E-B7A8-ABC8D6BDA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作为新上市公司，安乃达的</a:t>
            </a:r>
            <a:r>
              <a:rPr lang="en-US" altLang="zh-CN" dirty="0"/>
              <a:t>IPO</a:t>
            </a:r>
            <a:r>
              <a:rPr lang="zh-CN" altLang="en-US" dirty="0"/>
              <a:t>募资为其扩产和研发提供了资金支持（借助资本市场力量积极扩张）。其机遇在于，如果能借助新增产能，成功提升高毛利的中置电机和减速轮毂电机的销售占比，将显著改善其盈利能力和估值水平。然而，这也伴随着挑战：公司目前客户集中度较高（前五大客户销售占比曾超</a:t>
            </a:r>
            <a:r>
              <a:rPr lang="en-US" altLang="zh-CN" dirty="0"/>
              <a:t>70%</a:t>
            </a:r>
            <a:r>
              <a:rPr lang="zh-CN" altLang="en-US" dirty="0"/>
              <a:t>），且未来大规模扩产后，如果市场需求或销售渠道开拓不及预期，将面临产能消化风险。此外，固定资产大幅增加后，能否保持目前的低费用率也存在疑问。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1D5FAF-93CB-5A2A-774F-FF8CE6493BA8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9706E7-628C-8B51-DA03-55F917BE7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90D656A-2B0E-15F9-3348-AAF4A8D8D1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C68CB2C7-C745-2D13-80B1-679D4822A10A}"/>
              </a:ext>
            </a:extLst>
          </p:cNvPr>
          <p:cNvGrpSpPr/>
          <p:nvPr/>
        </p:nvGrpSpPr>
        <p:grpSpPr>
          <a:xfrm>
            <a:off x="-240704" y="263950"/>
            <a:ext cx="3040271" cy="734108"/>
            <a:chOff x="-240704" y="246620"/>
            <a:chExt cx="3456384" cy="734108"/>
          </a:xfrm>
        </p:grpSpPr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68CC71F8-550C-DA91-48A0-3F821A9E08C8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22" name="文本占位符 3">
              <a:extLst>
                <a:ext uri="{FF2B5EF4-FFF2-40B4-BE49-F238E27FC236}">
                  <a16:creationId xmlns:a16="http://schemas.microsoft.com/office/drawing/2014/main" id="{8C01FC73-633C-6FEC-76F2-FE0DF4D7080C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安乃达年报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0963F6D-C7F5-0B62-D042-694F6612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266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6DAB4-F61F-C573-8CAF-3F201ABC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0FEDFE5-D87E-CAA4-84F2-C88C5BC91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3145"/>
            <a:ext cx="10515600" cy="48274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明确战略重心：全力优化产品结构</a:t>
            </a:r>
          </a:p>
          <a:p>
            <a:pPr lvl="1"/>
            <a:r>
              <a:rPr lang="zh-CN" altLang="en-US" dirty="0"/>
              <a:t>这是安乃达提升估值和盈利能力的最关键一步。必须将资源向高毛利的电踏车电机（特别是中置电机） 倾斜。</a:t>
            </a:r>
          </a:p>
          <a:p>
            <a:pPr marL="0" indent="0">
              <a:buNone/>
            </a:pPr>
            <a:r>
              <a:rPr lang="zh-CN" altLang="en-US" dirty="0"/>
              <a:t>审慎管理产能，防范消化风险</a:t>
            </a:r>
          </a:p>
          <a:p>
            <a:pPr lvl="1"/>
            <a:r>
              <a:rPr lang="en-US" altLang="zh-CN" dirty="0"/>
              <a:t>IPO</a:t>
            </a:r>
            <a:r>
              <a:rPr lang="zh-CN" altLang="en-US" dirty="0"/>
              <a:t>募投项目的新增产能不应盲目释放，而应与市场开拓进度紧密挂钩。</a:t>
            </a:r>
          </a:p>
          <a:p>
            <a:pPr lvl="1"/>
            <a:r>
              <a:rPr lang="zh-CN" altLang="en-US" dirty="0"/>
              <a:t>考虑采取“柔性生产线”策略，使产能能在低毛利和高毛利产品之间灵活切换，以应对市场波动。</a:t>
            </a:r>
          </a:p>
          <a:p>
            <a:pPr marL="0" indent="0">
              <a:buNone/>
            </a:pPr>
            <a:r>
              <a:rPr lang="zh-CN" altLang="en-US" dirty="0"/>
              <a:t>积极管理资本市场预期</a:t>
            </a:r>
          </a:p>
          <a:p>
            <a:pPr lvl="1"/>
            <a:r>
              <a:rPr lang="zh-CN" altLang="en-US" dirty="0"/>
              <a:t>作为新股，透明度至关重要。应通过定期报告和投资者交流活动，清晰传达产品结构升级的战略进展。</a:t>
            </a:r>
          </a:p>
          <a:p>
            <a:pPr lvl="1"/>
            <a:r>
              <a:rPr lang="zh-CN" altLang="en-US" dirty="0"/>
              <a:t>对于限售股解禁可能带来的股价波动，可考虑通过引入战略投资者、管理层释放信心信号（如自愿延长锁定期）等方式进行缓冲，维护市场稳定。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CB19D49-58D7-8E4A-2DE9-E9EC5AA3A9B1}"/>
              </a:ext>
            </a:extLst>
          </p:cNvPr>
          <p:cNvGrpSpPr/>
          <p:nvPr/>
        </p:nvGrpSpPr>
        <p:grpSpPr>
          <a:xfrm>
            <a:off x="-240704" y="263950"/>
            <a:ext cx="3040271" cy="734108"/>
            <a:chOff x="-240704" y="246620"/>
            <a:chExt cx="3456384" cy="73410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EB0C8663-1306-CE24-4F57-0BA9A6BD241C}"/>
                </a:ext>
              </a:extLst>
            </p:cNvPr>
            <p:cNvSpPr/>
            <p:nvPr/>
          </p:nvSpPr>
          <p:spPr>
            <a:xfrm>
              <a:off x="-240704" y="246620"/>
              <a:ext cx="3456384" cy="734108"/>
            </a:xfrm>
            <a:prstGeom prst="roundRect">
              <a:avLst/>
            </a:prstGeom>
            <a:solidFill>
              <a:srgbClr val="0326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微软雅黑 Light"/>
                <a:cs typeface="+mn-cs"/>
              </a:endParaRPr>
            </a:p>
          </p:txBody>
        </p:sp>
        <p:sp>
          <p:nvSpPr>
            <p:cNvPr id="6" name="文本占位符 3">
              <a:extLst>
                <a:ext uri="{FF2B5EF4-FFF2-40B4-BE49-F238E27FC236}">
                  <a16:creationId xmlns:a16="http://schemas.microsoft.com/office/drawing/2014/main" id="{A97CA3F3-8E60-CA3D-5508-8EDB66743443}"/>
                </a:ext>
              </a:extLst>
            </p:cNvPr>
            <p:cNvSpPr txBox="1">
              <a:spLocks/>
            </p:cNvSpPr>
            <p:nvPr/>
          </p:nvSpPr>
          <p:spPr>
            <a:xfrm>
              <a:off x="263352" y="310719"/>
              <a:ext cx="2765853" cy="605909"/>
            </a:xfrm>
            <a:prstGeom prst="roundRect">
              <a:avLst>
                <a:gd name="adj" fmla="val 50000"/>
              </a:avLst>
            </a:prstGeom>
          </p:spPr>
          <p:txBody>
            <a:bodyPr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zh-CN" altLang="en-US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安乃达年报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C1DDC654-009D-E089-BBF2-C1995AF62291}"/>
              </a:ext>
            </a:extLst>
          </p:cNvPr>
          <p:cNvSpPr/>
          <p:nvPr/>
        </p:nvSpPr>
        <p:spPr>
          <a:xfrm>
            <a:off x="375805" y="6444044"/>
            <a:ext cx="3199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0" cap="none" spc="30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/>
                <a:cs typeface="Arial" panose="020B0604020202020204" pitchFamily="34" charset="0"/>
              </a:rPr>
              <a:t>博学而笃志  切问而近思 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Segoe UI Light"/>
              <a:ea typeface="微软雅黑 Light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87F923-F6A4-B79D-63AF-F87B5657F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4261" y="60213"/>
            <a:ext cx="6438095" cy="645079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E641092-C2B2-D6E7-D38E-B2F4E52175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1639" y="131058"/>
            <a:ext cx="1815412" cy="71436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846F2C3-7EC6-1650-9CF9-52788146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96F4D-B48C-44B4-ADC7-E04DD70E53F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39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</TotalTime>
  <Words>1995</Words>
  <Application>Microsoft Office PowerPoint</Application>
  <PresentationFormat>宽屏</PresentationFormat>
  <Paragraphs>174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Segoe UI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燕平 龚</dc:creator>
  <cp:lastModifiedBy>燕平 龚</cp:lastModifiedBy>
  <cp:revision>1</cp:revision>
  <dcterms:created xsi:type="dcterms:W3CDTF">2025-11-28T07:00:57Z</dcterms:created>
  <dcterms:modified xsi:type="dcterms:W3CDTF">2025-11-28T16:07:27Z</dcterms:modified>
</cp:coreProperties>
</file>