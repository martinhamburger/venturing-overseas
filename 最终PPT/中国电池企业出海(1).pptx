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13.svg" ContentType="image/svg+xml"/>
  <Override PartName="/ppt/media/image1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7" r:id="rId3"/>
    <p:sldId id="364" r:id="rId4"/>
    <p:sldId id="369" r:id="rId5"/>
    <p:sldId id="366" r:id="rId6"/>
    <p:sldId id="386" r:id="rId7"/>
    <p:sldId id="387" r:id="rId8"/>
    <p:sldId id="389" r:id="rId9"/>
    <p:sldId id="391" r:id="rId10"/>
    <p:sldId id="376" r:id="rId11"/>
    <p:sldId id="395" r:id="rId12"/>
    <p:sldId id="382" r:id="rId13"/>
    <p:sldId id="371" r:id="rId14"/>
    <p:sldId id="39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75" y="540"/>
      </p:cViewPr>
      <p:guideLst>
        <p:guide orient="horz" pos="225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SIIC\Desktop\&#22270;&#29255;%201_20251104235605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216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4400"/>
              <a:t>需求结构占比</a:t>
            </a:r>
            <a:endParaRPr sz="44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需求结构占比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动力型</c:v>
                </c:pt>
                <c:pt idx="1">
                  <c:v>储能型</c:v>
                </c:pt>
                <c:pt idx="2">
                  <c:v>消费型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0.718</c:v>
                </c:pt>
                <c:pt idx="1">
                  <c:v>0.197</c:v>
                </c:pt>
                <c:pt idx="2">
                  <c:v>0.085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1b579e5-cc7d-442e-9221-8eeb641a4ed8}"/>
      </c:ext>
    </c:extLst>
  </c:chart>
  <c:spPr>
    <a:noFill/>
    <a:ln>
      <a:noFill/>
    </a:ln>
    <a:effectLst/>
  </c:spPr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'[图片 1_20251104235605.xlsx]Sheet1'!$C$2</c:f>
              <c:strCache>
                <c:ptCount val="1"/>
                <c:pt idx="0">
                  <c:v>2025年1-8月
装机量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'[图片 1_20251104235605.xlsx]Sheet1'!$B$3:$B$12</c:f>
              <c:strCache>
                <c:ptCount val="10"/>
                <c:pt idx="0">
                  <c:v>宁德时代</c:v>
                </c:pt>
                <c:pt idx="1">
                  <c:v>比亚迪</c:v>
                </c:pt>
                <c:pt idx="2">
                  <c:v>LG新能源</c:v>
                </c:pt>
                <c:pt idx="3">
                  <c:v>中创新航</c:v>
                </c:pt>
                <c:pt idx="4">
                  <c:v>SK ON</c:v>
                </c:pt>
                <c:pt idx="5">
                  <c:v>松下</c:v>
                </c:pt>
                <c:pt idx="6">
                  <c:v>国轩高科</c:v>
                </c:pt>
                <c:pt idx="7">
                  <c:v>三星SDI</c:v>
                </c:pt>
                <c:pt idx="8">
                  <c:v>亿纬锂能</c:v>
                </c:pt>
                <c:pt idx="9">
                  <c:v>蜂巢能源</c:v>
                </c:pt>
              </c:strCache>
            </c:strRef>
          </c:cat>
          <c:val>
            <c:numRef>
              <c:f>'[图片 1_20251104235605.xlsx]Sheet1'!$C$3:$C$12</c:f>
              <c:numCache>
                <c:formatCode>0.0_ </c:formatCode>
                <c:ptCount val="10"/>
                <c:pt idx="0">
                  <c:v>254.5</c:v>
                </c:pt>
                <c:pt idx="1">
                  <c:v>124.8</c:v>
                </c:pt>
                <c:pt idx="2">
                  <c:v>67.4</c:v>
                </c:pt>
                <c:pt idx="3">
                  <c:v>32.1</c:v>
                </c:pt>
                <c:pt idx="4">
                  <c:v>29.2</c:v>
                </c:pt>
                <c:pt idx="5">
                  <c:v>25.8</c:v>
                </c:pt>
                <c:pt idx="6">
                  <c:v>25.1</c:v>
                </c:pt>
                <c:pt idx="7">
                  <c:v>20</c:v>
                </c:pt>
                <c:pt idx="8">
                  <c:v>19.9</c:v>
                </c:pt>
                <c:pt idx="9">
                  <c:v>17.5</c:v>
                </c:pt>
              </c:numCache>
            </c:numRef>
          </c:val>
        </c:ser>
        <c:ser>
          <c:idx val="1"/>
          <c:order val="1"/>
          <c:tx>
            <c:strRef>
              <c:f>'[图片 1_20251104235605.xlsx]Sheet1'!$D$2</c:f>
              <c:strCache>
                <c:ptCount val="1"/>
                <c:pt idx="0">
                  <c:v>2024年1-8月
装机量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'[图片 1_20251104235605.xlsx]Sheet1'!$B$3:$B$12</c:f>
              <c:strCache>
                <c:ptCount val="10"/>
                <c:pt idx="0">
                  <c:v>宁德时代</c:v>
                </c:pt>
                <c:pt idx="1">
                  <c:v>比亚迪</c:v>
                </c:pt>
                <c:pt idx="2">
                  <c:v>LG新能源</c:v>
                </c:pt>
                <c:pt idx="3">
                  <c:v>中创新航</c:v>
                </c:pt>
                <c:pt idx="4">
                  <c:v>SK ON</c:v>
                </c:pt>
                <c:pt idx="5">
                  <c:v>松下</c:v>
                </c:pt>
                <c:pt idx="6">
                  <c:v>国轩高科</c:v>
                </c:pt>
                <c:pt idx="7">
                  <c:v>三星SDI</c:v>
                </c:pt>
                <c:pt idx="8">
                  <c:v>亿纬锂能</c:v>
                </c:pt>
                <c:pt idx="9">
                  <c:v>蜂巢能源</c:v>
                </c:pt>
              </c:strCache>
            </c:strRef>
          </c:cat>
          <c:val>
            <c:numRef>
              <c:f>'[图片 1_20251104235605.xlsx]Sheet1'!$D$3:$D$12</c:f>
              <c:numCache>
                <c:formatCode>0.0_ </c:formatCode>
                <c:ptCount val="10"/>
                <c:pt idx="0">
                  <c:v>193</c:v>
                </c:pt>
                <c:pt idx="1">
                  <c:v>83</c:v>
                </c:pt>
                <c:pt idx="2">
                  <c:v>59.5</c:v>
                </c:pt>
                <c:pt idx="3">
                  <c:v>24.3</c:v>
                </c:pt>
                <c:pt idx="4">
                  <c:v>24.3</c:v>
                </c:pt>
                <c:pt idx="5">
                  <c:v>22.2</c:v>
                </c:pt>
                <c:pt idx="6">
                  <c:v>14.6</c:v>
                </c:pt>
                <c:pt idx="7">
                  <c:v>22</c:v>
                </c:pt>
                <c:pt idx="8">
                  <c:v>10.8</c:v>
                </c:pt>
                <c:pt idx="9">
                  <c:v>8.8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05947c5-f5ed-4a8a-8f03-dc752ef3d288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7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1" name="文本框 20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23" name="矩形: 圆角 22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25" name="椭圆 24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27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67" name="文本占位符 65"/>
          <p:cNvSpPr>
            <a:spLocks noGrp="1"/>
          </p:cNvSpPr>
          <p:nvPr userDrawn="1"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97285" cy="68580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5606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长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23" name="图片占位符 22"/>
          <p:cNvSpPr>
            <a:spLocks noGrp="1"/>
          </p:cNvSpPr>
          <p:nvPr>
            <p:ph type="pic" sz="quarter" idx="13"/>
          </p:nvPr>
        </p:nvSpPr>
        <p:spPr>
          <a:xfrm>
            <a:off x="660400" y="1130300"/>
            <a:ext cx="10858500" cy="2817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9" name="文本框 128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67" name="矩形: 圆角 66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组合 67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69" name="椭圆 68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1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57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838200" y="1301750"/>
            <a:ext cx="5243513" cy="46704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84" name="文本框 8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85" name="矩形: 圆角 8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7" name="椭圆 86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9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9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36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9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0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2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3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4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5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6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7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8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9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8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4698494" y="3681942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668338" y="1123950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85" name="矩形: 圆角 8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7" name="椭圆 86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9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9" name="文本占位符 65"/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661988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9"/>
          <p:cNvSpPr>
            <a:spLocks noGrp="1"/>
          </p:cNvSpPr>
          <p:nvPr>
            <p:ph type="pic" sz="quarter" idx="14"/>
          </p:nvPr>
        </p:nvSpPr>
        <p:spPr>
          <a:xfrm>
            <a:off x="4330561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999134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120" name="矩形: 圆角 11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1" name="组合 120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122" name="椭圆 121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3" name="组合 122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124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7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8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9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0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1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2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3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64" name="文本占位符 65"/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66040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6040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15188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615188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952392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4"/>
          <p:cNvSpPr>
            <a:spLocks noGrp="1"/>
          </p:cNvSpPr>
          <p:nvPr>
            <p:ph type="pic" sz="quarter" idx="14"/>
          </p:nvPr>
        </p:nvSpPr>
        <p:spPr>
          <a:xfrm>
            <a:off x="6422971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6422971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4"/>
          <p:cNvSpPr>
            <a:spLocks noGrp="1"/>
          </p:cNvSpPr>
          <p:nvPr>
            <p:ph type="pic" sz="quarter" idx="16"/>
          </p:nvPr>
        </p:nvSpPr>
        <p:spPr>
          <a:xfrm>
            <a:off x="952392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81" name="矩形: 圆角 80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3" name="椭圆 82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5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5" name="文本占位符 65"/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399002" y="1086761"/>
            <a:ext cx="4957524" cy="4606485"/>
            <a:chOff x="703035" y="1086761"/>
            <a:chExt cx="4957524" cy="4606485"/>
          </a:xfrm>
        </p:grpSpPr>
        <p:sp>
          <p:nvSpPr>
            <p:cNvPr id="7" name="任意多边形: 形状 6"/>
            <p:cNvSpPr/>
            <p:nvPr/>
          </p:nvSpPr>
          <p:spPr>
            <a:xfrm rot="10015880">
              <a:off x="3385211" y="1086761"/>
              <a:ext cx="2275348" cy="4564647"/>
            </a:xfrm>
            <a:custGeom>
              <a:avLst/>
              <a:gdLst>
                <a:gd name="connsiteX0" fmla="*/ 2209501 w 2209501"/>
                <a:gd name="connsiteY0" fmla="*/ 0 h 4432548"/>
                <a:gd name="connsiteX1" fmla="*/ 2209501 w 2209501"/>
                <a:gd name="connsiteY1" fmla="*/ 4432548 h 4432548"/>
                <a:gd name="connsiteX2" fmla="*/ 1989997 w 2209501"/>
                <a:gd name="connsiteY2" fmla="*/ 4421464 h 4432548"/>
                <a:gd name="connsiteX3" fmla="*/ 0 w 2209501"/>
                <a:gd name="connsiteY3" fmla="*/ 2216274 h 4432548"/>
                <a:gd name="connsiteX4" fmla="*/ 1989997 w 2209501"/>
                <a:gd name="connsiteY4" fmla="*/ 11085 h 4432548"/>
                <a:gd name="connsiteX0-1" fmla="*/ 2209501 w 2211099"/>
                <a:gd name="connsiteY0-2" fmla="*/ 0 h 4432548"/>
                <a:gd name="connsiteX1-3" fmla="*/ 2211099 w 2211099"/>
                <a:gd name="connsiteY1-4" fmla="*/ 2248887 h 4432548"/>
                <a:gd name="connsiteX2-5" fmla="*/ 2209501 w 2211099"/>
                <a:gd name="connsiteY2-6" fmla="*/ 4432548 h 4432548"/>
                <a:gd name="connsiteX3-7" fmla="*/ 1989997 w 2211099"/>
                <a:gd name="connsiteY3-8" fmla="*/ 4421464 h 4432548"/>
                <a:gd name="connsiteX4-9" fmla="*/ 0 w 2211099"/>
                <a:gd name="connsiteY4-10" fmla="*/ 2216274 h 4432548"/>
                <a:gd name="connsiteX5" fmla="*/ 1989997 w 2211099"/>
                <a:gd name="connsiteY5" fmla="*/ 11085 h 4432548"/>
                <a:gd name="connsiteX6" fmla="*/ 2209501 w 2211099"/>
                <a:gd name="connsiteY6" fmla="*/ 0 h 4432548"/>
                <a:gd name="connsiteX0-11" fmla="*/ 2211099 w 2302539"/>
                <a:gd name="connsiteY0-12" fmla="*/ 2248887 h 4432548"/>
                <a:gd name="connsiteX1-13" fmla="*/ 2209501 w 2302539"/>
                <a:gd name="connsiteY1-14" fmla="*/ 4432548 h 4432548"/>
                <a:gd name="connsiteX2-15" fmla="*/ 1989997 w 2302539"/>
                <a:gd name="connsiteY2-16" fmla="*/ 4421464 h 4432548"/>
                <a:gd name="connsiteX3-17" fmla="*/ 0 w 2302539"/>
                <a:gd name="connsiteY3-18" fmla="*/ 2216274 h 4432548"/>
                <a:gd name="connsiteX4-19" fmla="*/ 1989997 w 2302539"/>
                <a:gd name="connsiteY4-20" fmla="*/ 11085 h 4432548"/>
                <a:gd name="connsiteX5-21" fmla="*/ 2209501 w 2302539"/>
                <a:gd name="connsiteY5-22" fmla="*/ 0 h 4432548"/>
                <a:gd name="connsiteX6-23" fmla="*/ 2302539 w 2302539"/>
                <a:gd name="connsiteY6-24" fmla="*/ 2340327 h 4432548"/>
                <a:gd name="connsiteX0-25" fmla="*/ 2211099 w 2211099"/>
                <a:gd name="connsiteY0-26" fmla="*/ 2248887 h 4432548"/>
                <a:gd name="connsiteX1-27" fmla="*/ 2209501 w 2211099"/>
                <a:gd name="connsiteY1-28" fmla="*/ 4432548 h 4432548"/>
                <a:gd name="connsiteX2-29" fmla="*/ 1989997 w 2211099"/>
                <a:gd name="connsiteY2-30" fmla="*/ 4421464 h 4432548"/>
                <a:gd name="connsiteX3-31" fmla="*/ 0 w 2211099"/>
                <a:gd name="connsiteY3-32" fmla="*/ 2216274 h 4432548"/>
                <a:gd name="connsiteX4-33" fmla="*/ 1989997 w 2211099"/>
                <a:gd name="connsiteY4-34" fmla="*/ 11085 h 4432548"/>
                <a:gd name="connsiteX5-35" fmla="*/ 2209501 w 2211099"/>
                <a:gd name="connsiteY5-36" fmla="*/ 0 h 4432548"/>
                <a:gd name="connsiteX0-37" fmla="*/ 2209501 w 2209501"/>
                <a:gd name="connsiteY0-38" fmla="*/ 4432548 h 4432548"/>
                <a:gd name="connsiteX1-39" fmla="*/ 1989997 w 2209501"/>
                <a:gd name="connsiteY1-40" fmla="*/ 4421464 h 4432548"/>
                <a:gd name="connsiteX2-41" fmla="*/ 0 w 2209501"/>
                <a:gd name="connsiteY2-42" fmla="*/ 2216274 h 4432548"/>
                <a:gd name="connsiteX3-43" fmla="*/ 1989997 w 2209501"/>
                <a:gd name="connsiteY3-44" fmla="*/ 11085 h 4432548"/>
                <a:gd name="connsiteX4-45" fmla="*/ 2209501 w 2209501"/>
                <a:gd name="connsiteY4-46" fmla="*/ 0 h 44325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09501" h="4432548">
                  <a:moveTo>
                    <a:pt x="2209501" y="4432548"/>
                  </a:moveTo>
                  <a:lnTo>
                    <a:pt x="1989997" y="4421464"/>
                  </a:lnTo>
                  <a:cubicBezTo>
                    <a:pt x="872246" y="4307950"/>
                    <a:pt x="0" y="3363974"/>
                    <a:pt x="0" y="2216274"/>
                  </a:cubicBezTo>
                  <a:cubicBezTo>
                    <a:pt x="0" y="1068575"/>
                    <a:pt x="872246" y="124599"/>
                    <a:pt x="1989997" y="11085"/>
                  </a:cubicBezTo>
                  <a:lnTo>
                    <a:pt x="220950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03035" y="1374365"/>
              <a:ext cx="4837299" cy="4318881"/>
              <a:chOff x="703035" y="1374365"/>
              <a:chExt cx="4837299" cy="4318881"/>
            </a:xfrm>
          </p:grpSpPr>
          <p:sp>
            <p:nvSpPr>
              <p:cNvPr id="10" name="任意多边形: 形状 9"/>
              <p:cNvSpPr/>
              <p:nvPr/>
            </p:nvSpPr>
            <p:spPr>
              <a:xfrm>
                <a:off x="1336624" y="1528777"/>
                <a:ext cx="4164314" cy="4164469"/>
              </a:xfrm>
              <a:custGeom>
                <a:avLst/>
                <a:gdLst>
                  <a:gd name="connsiteX0" fmla="*/ 1310015 w 2619936"/>
                  <a:gd name="connsiteY0" fmla="*/ 0 h 2620034"/>
                  <a:gd name="connsiteX1" fmla="*/ 1310015 w 2619936"/>
                  <a:gd name="connsiteY1" fmla="*/ 1311964 h 2620034"/>
                  <a:gd name="connsiteX2" fmla="*/ 2619936 w 2619936"/>
                  <a:gd name="connsiteY2" fmla="*/ 1311964 h 2620034"/>
                  <a:gd name="connsiteX3" fmla="*/ 2613271 w 2619936"/>
                  <a:gd name="connsiteY3" fmla="*/ 1443959 h 2620034"/>
                  <a:gd name="connsiteX4" fmla="*/ 1310017 w 2619936"/>
                  <a:gd name="connsiteY4" fmla="*/ 2620034 h 2620034"/>
                  <a:gd name="connsiteX5" fmla="*/ 0 w 2619936"/>
                  <a:gd name="connsiteY5" fmla="*/ 1310017 h 2620034"/>
                  <a:gd name="connsiteX6" fmla="*/ 1176076 w 2619936"/>
                  <a:gd name="connsiteY6" fmla="*/ 6764 h 2620034"/>
                  <a:gd name="connsiteX0-1" fmla="*/ 1310015 w 2619936"/>
                  <a:gd name="connsiteY0-2" fmla="*/ 1311964 h 2620034"/>
                  <a:gd name="connsiteX1-3" fmla="*/ 2619936 w 2619936"/>
                  <a:gd name="connsiteY1-4" fmla="*/ 1311964 h 2620034"/>
                  <a:gd name="connsiteX2-5" fmla="*/ 2613271 w 2619936"/>
                  <a:gd name="connsiteY2-6" fmla="*/ 1443959 h 2620034"/>
                  <a:gd name="connsiteX3-7" fmla="*/ 1310017 w 2619936"/>
                  <a:gd name="connsiteY3-8" fmla="*/ 2620034 h 2620034"/>
                  <a:gd name="connsiteX4-9" fmla="*/ 0 w 2619936"/>
                  <a:gd name="connsiteY4-10" fmla="*/ 1310017 h 2620034"/>
                  <a:gd name="connsiteX5-11" fmla="*/ 1176076 w 2619936"/>
                  <a:gd name="connsiteY5-12" fmla="*/ 6764 h 2620034"/>
                  <a:gd name="connsiteX6-13" fmla="*/ 1310015 w 2619936"/>
                  <a:gd name="connsiteY6-14" fmla="*/ 0 h 2620034"/>
                  <a:gd name="connsiteX7" fmla="*/ 1401455 w 2619936"/>
                  <a:gd name="connsiteY7" fmla="*/ 1403404 h 2620034"/>
                  <a:gd name="connsiteX0-15" fmla="*/ 1310015 w 2619936"/>
                  <a:gd name="connsiteY0-16" fmla="*/ 1311964 h 2620034"/>
                  <a:gd name="connsiteX1-17" fmla="*/ 2619936 w 2619936"/>
                  <a:gd name="connsiteY1-18" fmla="*/ 1311964 h 2620034"/>
                  <a:gd name="connsiteX2-19" fmla="*/ 2613271 w 2619936"/>
                  <a:gd name="connsiteY2-20" fmla="*/ 1443959 h 2620034"/>
                  <a:gd name="connsiteX3-21" fmla="*/ 1310017 w 2619936"/>
                  <a:gd name="connsiteY3-22" fmla="*/ 2620034 h 2620034"/>
                  <a:gd name="connsiteX4-23" fmla="*/ 0 w 2619936"/>
                  <a:gd name="connsiteY4-24" fmla="*/ 1310017 h 2620034"/>
                  <a:gd name="connsiteX5-25" fmla="*/ 1176076 w 2619936"/>
                  <a:gd name="connsiteY5-26" fmla="*/ 6764 h 2620034"/>
                  <a:gd name="connsiteX6-27" fmla="*/ 1310015 w 2619936"/>
                  <a:gd name="connsiteY6-28" fmla="*/ 0 h 2620034"/>
                  <a:gd name="connsiteX0-29" fmla="*/ 2619936 w 2619936"/>
                  <a:gd name="connsiteY0-30" fmla="*/ 1311964 h 2620034"/>
                  <a:gd name="connsiteX1-31" fmla="*/ 2613271 w 2619936"/>
                  <a:gd name="connsiteY1-32" fmla="*/ 1443959 h 2620034"/>
                  <a:gd name="connsiteX2-33" fmla="*/ 1310017 w 2619936"/>
                  <a:gd name="connsiteY2-34" fmla="*/ 2620034 h 2620034"/>
                  <a:gd name="connsiteX3-35" fmla="*/ 0 w 2619936"/>
                  <a:gd name="connsiteY3-36" fmla="*/ 1310017 h 2620034"/>
                  <a:gd name="connsiteX4-37" fmla="*/ 1176076 w 2619936"/>
                  <a:gd name="connsiteY4-38" fmla="*/ 6764 h 2620034"/>
                  <a:gd name="connsiteX5-39" fmla="*/ 1310015 w 2619936"/>
                  <a:gd name="connsiteY5-40" fmla="*/ 0 h 262003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</a:cxnLst>
                <a:rect l="l" t="t" r="r" b="b"/>
                <a:pathLst>
                  <a:path w="2619936" h="2620034">
                    <a:moveTo>
                      <a:pt x="2619936" y="1311964"/>
                    </a:moveTo>
                    <a:lnTo>
                      <a:pt x="2613271" y="1443959"/>
                    </a:lnTo>
                    <a:cubicBezTo>
                      <a:pt x="2546185" y="2104542"/>
                      <a:pt x="1988300" y="2620034"/>
                      <a:pt x="1310017" y="2620034"/>
                    </a:cubicBezTo>
                    <a:cubicBezTo>
                      <a:pt x="586515" y="2620034"/>
                      <a:pt x="0" y="2033519"/>
                      <a:pt x="0" y="1310017"/>
                    </a:cubicBezTo>
                    <a:cubicBezTo>
                      <a:pt x="0" y="631734"/>
                      <a:pt x="515492" y="73850"/>
                      <a:pt x="1176076" y="6764"/>
                    </a:cubicBezTo>
                    <a:lnTo>
                      <a:pt x="1310015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801074" y="1374365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703035" y="2791613"/>
                <a:ext cx="2303860" cy="2763395"/>
                <a:chOff x="667909" y="2831346"/>
                <a:chExt cx="2303860" cy="2763395"/>
              </a:xfrm>
            </p:grpSpPr>
            <p:sp>
              <p:nvSpPr>
                <p:cNvPr id="14" name="任意多边形: 形状 13"/>
                <p:cNvSpPr/>
                <p:nvPr/>
              </p:nvSpPr>
              <p:spPr>
                <a:xfrm rot="18225743">
                  <a:off x="682165" y="2817090"/>
                  <a:ext cx="2275348" cy="2303860"/>
                </a:xfrm>
                <a:custGeom>
                  <a:avLst/>
                  <a:gdLst>
                    <a:gd name="connsiteX0" fmla="*/ 2422212 w 2422212"/>
                    <a:gd name="connsiteY0" fmla="*/ 2452564 h 2452564"/>
                    <a:gd name="connsiteX1" fmla="*/ 1086 w 2422212"/>
                    <a:gd name="connsiteY1" fmla="*/ 2452564 h 2452564"/>
                    <a:gd name="connsiteX2" fmla="*/ 0 w 2422212"/>
                    <a:gd name="connsiteY2" fmla="*/ 2429638 h 2452564"/>
                    <a:gd name="connsiteX3" fmla="*/ 2181576 w 2422212"/>
                    <a:gd name="connsiteY3" fmla="*/ 12152 h 2452564"/>
                    <a:gd name="connsiteX4" fmla="*/ 2422212 w 2422212"/>
                    <a:gd name="connsiteY4" fmla="*/ 0 h 2452564"/>
                    <a:gd name="connsiteX0-1" fmla="*/ 2422212 w 2513652"/>
                    <a:gd name="connsiteY0-2" fmla="*/ 2452564 h 2544004"/>
                    <a:gd name="connsiteX1-3" fmla="*/ 1086 w 2513652"/>
                    <a:gd name="connsiteY1-4" fmla="*/ 2452564 h 2544004"/>
                    <a:gd name="connsiteX2-5" fmla="*/ 0 w 2513652"/>
                    <a:gd name="connsiteY2-6" fmla="*/ 2429638 h 2544004"/>
                    <a:gd name="connsiteX3-7" fmla="*/ 2181576 w 2513652"/>
                    <a:gd name="connsiteY3-8" fmla="*/ 12152 h 2544004"/>
                    <a:gd name="connsiteX4-9" fmla="*/ 2422212 w 2513652"/>
                    <a:gd name="connsiteY4-10" fmla="*/ 0 h 2544004"/>
                    <a:gd name="connsiteX5" fmla="*/ 2513652 w 2513652"/>
                    <a:gd name="connsiteY5" fmla="*/ 2544004 h 2544004"/>
                    <a:gd name="connsiteX0-11" fmla="*/ 1086 w 2513652"/>
                    <a:gd name="connsiteY0-12" fmla="*/ 2452564 h 2544004"/>
                    <a:gd name="connsiteX1-13" fmla="*/ 0 w 2513652"/>
                    <a:gd name="connsiteY1-14" fmla="*/ 2429638 h 2544004"/>
                    <a:gd name="connsiteX2-15" fmla="*/ 2181576 w 2513652"/>
                    <a:gd name="connsiteY2-16" fmla="*/ 12152 h 2544004"/>
                    <a:gd name="connsiteX3-17" fmla="*/ 2422212 w 2513652"/>
                    <a:gd name="connsiteY3-18" fmla="*/ 0 h 2544004"/>
                    <a:gd name="connsiteX4-19" fmla="*/ 2513652 w 2513652"/>
                    <a:gd name="connsiteY4-20" fmla="*/ 2544004 h 2544004"/>
                    <a:gd name="connsiteX0-21" fmla="*/ 1086 w 2422212"/>
                    <a:gd name="connsiteY0-22" fmla="*/ 2452564 h 2452564"/>
                    <a:gd name="connsiteX1-23" fmla="*/ 0 w 2422212"/>
                    <a:gd name="connsiteY1-24" fmla="*/ 2429638 h 2452564"/>
                    <a:gd name="connsiteX2-25" fmla="*/ 2181576 w 2422212"/>
                    <a:gd name="connsiteY2-26" fmla="*/ 12152 h 2452564"/>
                    <a:gd name="connsiteX3-27" fmla="*/ 2422212 w 2422212"/>
                    <a:gd name="connsiteY3-28" fmla="*/ 0 h 245256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422212" h="2452564">
                      <a:moveTo>
                        <a:pt x="1086" y="2452564"/>
                      </a:moveTo>
                      <a:lnTo>
                        <a:pt x="0" y="2429638"/>
                      </a:lnTo>
                      <a:cubicBezTo>
                        <a:pt x="0" y="1171448"/>
                        <a:pt x="956218" y="136595"/>
                        <a:pt x="2181576" y="12152"/>
                      </a:cubicBezTo>
                      <a:lnTo>
                        <a:pt x="2422212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椭圆 14"/>
                <p:cNvSpPr/>
                <p:nvPr/>
              </p:nvSpPr>
              <p:spPr>
                <a:xfrm>
                  <a:off x="2079475" y="5497213"/>
                  <a:ext cx="97528" cy="9752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3" name="椭圆 12"/>
              <p:cNvSpPr/>
              <p:nvPr/>
            </p:nvSpPr>
            <p:spPr>
              <a:xfrm>
                <a:off x="5442806" y="3611011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1239984" y="1740365"/>
            <a:ext cx="3731695" cy="373169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79" name="矩形: 圆角 7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0" name="组合 79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1" name="椭圆 80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3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3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: 圆角 5"/>
          <p:cNvSpPr/>
          <p:nvPr userDrawn="1"/>
        </p:nvSpPr>
        <p:spPr>
          <a:xfrm>
            <a:off x="689270" y="1262131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 userDrawn="1"/>
        </p:nvSpPr>
        <p:spPr>
          <a:xfrm>
            <a:off x="689270" y="3726269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819151" y="1376166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6"/>
          <p:cNvSpPr>
            <a:spLocks noGrp="1"/>
          </p:cNvSpPr>
          <p:nvPr>
            <p:ph type="pic" sz="quarter" idx="14"/>
          </p:nvPr>
        </p:nvSpPr>
        <p:spPr>
          <a:xfrm flipH="1">
            <a:off x="9344050" y="3851644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81" name="矩形: 圆角 80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3" name="椭圆 82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5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5" name="文本占位符 65"/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9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175646" y="1134201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4601109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8026573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746818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/>
          <p:cNvSpPr/>
          <p:nvPr userDrawn="1"/>
        </p:nvSpPr>
        <p:spPr>
          <a:xfrm>
            <a:off x="7241893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/>
          <p:cNvSpPr/>
          <p:nvPr userDrawn="1"/>
        </p:nvSpPr>
        <p:spPr>
          <a:xfrm>
            <a:off x="10597745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1315435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4745356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5"/>
          </p:nvPr>
        </p:nvSpPr>
        <p:spPr>
          <a:xfrm>
            <a:off x="8175278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80" name="矩形: 圆角 7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组合 80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2" name="椭圆 81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4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4" name="文本占位符 65"/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3" name="泪滴形 22"/>
          <p:cNvSpPr/>
          <p:nvPr userDrawn="1"/>
        </p:nvSpPr>
        <p:spPr>
          <a:xfrm flipH="1" flipV="1">
            <a:off x="6231956" y="1325419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泪滴形 23"/>
          <p:cNvSpPr/>
          <p:nvPr userDrawn="1"/>
        </p:nvSpPr>
        <p:spPr>
          <a:xfrm flipV="1">
            <a:off x="3836026" y="1325419"/>
            <a:ext cx="2284691" cy="2284691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泪滴形 20"/>
          <p:cNvSpPr/>
          <p:nvPr userDrawn="1"/>
        </p:nvSpPr>
        <p:spPr>
          <a:xfrm flipH="1">
            <a:off x="6231956" y="3712424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泪滴形 18"/>
          <p:cNvSpPr/>
          <p:nvPr userDrawn="1"/>
        </p:nvSpPr>
        <p:spPr>
          <a:xfrm>
            <a:off x="3836024" y="3712424"/>
            <a:ext cx="2284693" cy="2284693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20" name="图片占位符 16"/>
          <p:cNvSpPr>
            <a:spLocks noGrp="1"/>
          </p:cNvSpPr>
          <p:nvPr>
            <p:ph type="pic" sz="quarter" idx="13"/>
          </p:nvPr>
        </p:nvSpPr>
        <p:spPr>
          <a:xfrm flipH="1">
            <a:off x="3921679" y="3817073"/>
            <a:ext cx="2082882" cy="208366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6337011" y="38170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16"/>
          <p:cNvSpPr>
            <a:spLocks noGrp="1"/>
          </p:cNvSpPr>
          <p:nvPr>
            <p:ph type="pic" sz="quarter" idx="15"/>
          </p:nvPr>
        </p:nvSpPr>
        <p:spPr>
          <a:xfrm flipH="1">
            <a:off x="3921681" y="1428875"/>
            <a:ext cx="2082880" cy="208366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16"/>
          <p:cNvSpPr>
            <a:spLocks noGrp="1"/>
          </p:cNvSpPr>
          <p:nvPr>
            <p:ph type="pic" sz="quarter" idx="16"/>
          </p:nvPr>
        </p:nvSpPr>
        <p:spPr>
          <a:xfrm>
            <a:off x="6337011" y="14288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2" name="文本框 41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89" name="矩形: 圆角 8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91" name="椭圆 90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93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33" name="文本占位符 65"/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手机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4712208" y="1425576"/>
            <a:ext cx="2761487" cy="5432425"/>
          </a:xfrm>
          <a:custGeom>
            <a:avLst/>
            <a:gdLst>
              <a:gd name="connsiteX0" fmla="*/ 226557 w 2727960"/>
              <a:gd name="connsiteY0" fmla="*/ 0 h 5432425"/>
              <a:gd name="connsiteX1" fmla="*/ 2501403 w 2727960"/>
              <a:gd name="connsiteY1" fmla="*/ 0 h 5432425"/>
              <a:gd name="connsiteX2" fmla="*/ 2727960 w 2727960"/>
              <a:gd name="connsiteY2" fmla="*/ 226557 h 5432425"/>
              <a:gd name="connsiteX3" fmla="*/ 2727960 w 2727960"/>
              <a:gd name="connsiteY3" fmla="*/ 5432425 h 5432425"/>
              <a:gd name="connsiteX4" fmla="*/ 0 w 2727960"/>
              <a:gd name="connsiteY4" fmla="*/ 5432425 h 5432425"/>
              <a:gd name="connsiteX5" fmla="*/ 0 w 2727960"/>
              <a:gd name="connsiteY5" fmla="*/ 226557 h 5432425"/>
              <a:gd name="connsiteX6" fmla="*/ 226557 w 2727960"/>
              <a:gd name="connsiteY6" fmla="*/ 0 h 543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7960" h="5432425">
                <a:moveTo>
                  <a:pt x="226557" y="0"/>
                </a:moveTo>
                <a:lnTo>
                  <a:pt x="2501403" y="0"/>
                </a:lnTo>
                <a:cubicBezTo>
                  <a:pt x="2626527" y="0"/>
                  <a:pt x="2727960" y="101433"/>
                  <a:pt x="2727960" y="226557"/>
                </a:cubicBezTo>
                <a:lnTo>
                  <a:pt x="2727960" y="5432425"/>
                </a:lnTo>
                <a:lnTo>
                  <a:pt x="0" y="5432425"/>
                </a:lnTo>
                <a:lnTo>
                  <a:pt x="0" y="226557"/>
                </a:lnTo>
                <a:cubicBezTo>
                  <a:pt x="0" y="101433"/>
                  <a:pt x="101433" y="0"/>
                  <a:pt x="2265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57"/>
          <a:stretch>
            <a:fillRect/>
          </a:stretch>
        </p:blipFill>
        <p:spPr>
          <a:xfrm>
            <a:off x="4023982" y="970876"/>
            <a:ext cx="4144035" cy="5887124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5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5" name="矩形: 圆角 7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6" name="组合 75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77" name="椭圆 76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8" name="组合 77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9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19" name="文本占位符 65"/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电脑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5" name="椭圆 64"/>
          <p:cNvSpPr/>
          <p:nvPr userDrawn="1"/>
        </p:nvSpPr>
        <p:spPr>
          <a:xfrm>
            <a:off x="6958403" y="5702153"/>
            <a:ext cx="2640760" cy="529481"/>
          </a:xfrm>
          <a:prstGeom prst="ellipse">
            <a:avLst/>
          </a:prstGeom>
          <a:solidFill>
            <a:schemeClr val="bg2">
              <a:lumMod val="50000"/>
              <a:alpha val="32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469" y="1494982"/>
            <a:ext cx="5799137" cy="4525085"/>
          </a:xfrm>
          <a:prstGeom prst="rect">
            <a:avLst/>
          </a:prstGeom>
        </p:spPr>
      </p:pic>
      <p:sp>
        <p:nvSpPr>
          <p:cNvPr id="23" name="图片占位符 22"/>
          <p:cNvSpPr>
            <a:spLocks noGrp="1"/>
          </p:cNvSpPr>
          <p:nvPr>
            <p:ph type="pic" sz="quarter" idx="10"/>
          </p:nvPr>
        </p:nvSpPr>
        <p:spPr>
          <a:xfrm>
            <a:off x="5575656" y="1711325"/>
            <a:ext cx="5324475" cy="30146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4" name="文本框 2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70" name="矩形: 圆角 6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" name="组合 70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72" name="椭圆 71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4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14" name="文本占位符 65"/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音乐播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7989570" y="2431013"/>
            <a:ext cx="2595932" cy="259593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11" name="椭圆 10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13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53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  <p:sp>
        <p:nvSpPr>
          <p:cNvPr id="54" name="文本框 5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grpSp>
        <p:nvGrpSpPr>
          <p:cNvPr id="55" name="组合 54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56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7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8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9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0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1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2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3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4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5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6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7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8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9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Up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8" Type="http://schemas.openxmlformats.org/officeDocument/2006/relationships/slideLayout" Target="../slideLayouts/slideLayout4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microsoft.com/office/2007/relationships/hdphoto" Target="../media/image6.wdp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0" Type="http://schemas.openxmlformats.org/officeDocument/2006/relationships/slideLayout" Target="../slideLayouts/slideLayout4.xml"/><Relationship Id="rId2" Type="http://schemas.microsoft.com/office/2007/relationships/hdphoto" Target="../media/image6.wdp"/><Relationship Id="rId19" Type="http://schemas.openxmlformats.org/officeDocument/2006/relationships/image" Target="../media/image11.jpeg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6" Type="http://schemas.openxmlformats.org/officeDocument/2006/relationships/slideLayout" Target="../slideLayouts/slideLayout4.xml"/><Relationship Id="rId35" Type="http://schemas.openxmlformats.org/officeDocument/2006/relationships/tags" Target="../tags/tag80.xml"/><Relationship Id="rId34" Type="http://schemas.openxmlformats.org/officeDocument/2006/relationships/tags" Target="../tags/tag79.xml"/><Relationship Id="rId33" Type="http://schemas.openxmlformats.org/officeDocument/2006/relationships/tags" Target="../tags/tag78.xml"/><Relationship Id="rId32" Type="http://schemas.openxmlformats.org/officeDocument/2006/relationships/tags" Target="../tags/tag77.xml"/><Relationship Id="rId31" Type="http://schemas.openxmlformats.org/officeDocument/2006/relationships/tags" Target="../tags/tag76.xml"/><Relationship Id="rId30" Type="http://schemas.openxmlformats.org/officeDocument/2006/relationships/tags" Target="../tags/tag75.xml"/><Relationship Id="rId3" Type="http://schemas.openxmlformats.org/officeDocument/2006/relationships/tags" Target="../tags/tag48.xml"/><Relationship Id="rId29" Type="http://schemas.openxmlformats.org/officeDocument/2006/relationships/tags" Target="../tags/tag74.xml"/><Relationship Id="rId28" Type="http://schemas.openxmlformats.org/officeDocument/2006/relationships/tags" Target="../tags/tag73.xml"/><Relationship Id="rId27" Type="http://schemas.openxmlformats.org/officeDocument/2006/relationships/tags" Target="../tags/tag72.xml"/><Relationship Id="rId26" Type="http://schemas.openxmlformats.org/officeDocument/2006/relationships/tags" Target="../tags/tag71.xml"/><Relationship Id="rId25" Type="http://schemas.openxmlformats.org/officeDocument/2006/relationships/tags" Target="../tags/tag70.xml"/><Relationship Id="rId24" Type="http://schemas.openxmlformats.org/officeDocument/2006/relationships/tags" Target="../tags/tag69.xml"/><Relationship Id="rId23" Type="http://schemas.openxmlformats.org/officeDocument/2006/relationships/tags" Target="../tags/tag68.xml"/><Relationship Id="rId22" Type="http://schemas.openxmlformats.org/officeDocument/2006/relationships/tags" Target="../tags/tag67.xml"/><Relationship Id="rId21" Type="http://schemas.openxmlformats.org/officeDocument/2006/relationships/tags" Target="../tags/tag66.xml"/><Relationship Id="rId20" Type="http://schemas.openxmlformats.org/officeDocument/2006/relationships/tags" Target="../tags/tag65.xml"/><Relationship Id="rId2" Type="http://schemas.microsoft.com/office/2007/relationships/hdphoto" Target="../media/image6.wdp"/><Relationship Id="rId19" Type="http://schemas.openxmlformats.org/officeDocument/2006/relationships/tags" Target="../tags/tag64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1" Type="http://schemas.openxmlformats.org/officeDocument/2006/relationships/slideLayout" Target="../slideLayouts/slideLayout4.xml"/><Relationship Id="rId30" Type="http://schemas.openxmlformats.org/officeDocument/2006/relationships/tags" Target="../tags/tag104.xml"/><Relationship Id="rId3" Type="http://schemas.openxmlformats.org/officeDocument/2006/relationships/tags" Target="../tags/tag81.xml"/><Relationship Id="rId29" Type="http://schemas.openxmlformats.org/officeDocument/2006/relationships/tags" Target="../tags/tag103.xml"/><Relationship Id="rId28" Type="http://schemas.openxmlformats.org/officeDocument/2006/relationships/tags" Target="../tags/tag102.xml"/><Relationship Id="rId27" Type="http://schemas.openxmlformats.org/officeDocument/2006/relationships/tags" Target="../tags/tag101.xml"/><Relationship Id="rId26" Type="http://schemas.openxmlformats.org/officeDocument/2006/relationships/tags" Target="../tags/tag100.xml"/><Relationship Id="rId25" Type="http://schemas.openxmlformats.org/officeDocument/2006/relationships/image" Target="../media/image15.svg"/><Relationship Id="rId24" Type="http://schemas.openxmlformats.org/officeDocument/2006/relationships/image" Target="../media/image14.png"/><Relationship Id="rId23" Type="http://schemas.openxmlformats.org/officeDocument/2006/relationships/tags" Target="../tags/tag99.xml"/><Relationship Id="rId22" Type="http://schemas.openxmlformats.org/officeDocument/2006/relationships/image" Target="../media/image13.svg"/><Relationship Id="rId21" Type="http://schemas.openxmlformats.org/officeDocument/2006/relationships/image" Target="../media/image12.png"/><Relationship Id="rId20" Type="http://schemas.openxmlformats.org/officeDocument/2006/relationships/tags" Target="../tags/tag98.xml"/><Relationship Id="rId2" Type="http://schemas.microsoft.com/office/2007/relationships/hdphoto" Target="../media/image6.wdp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4026477"/>
          </a:xfrm>
        </p:spPr>
      </p:pic>
      <p:cxnSp>
        <p:nvCxnSpPr>
          <p:cNvPr id="4" name="直接连接符 3"/>
          <p:cNvCxnSpPr/>
          <p:nvPr/>
        </p:nvCxnSpPr>
        <p:spPr>
          <a:xfrm>
            <a:off x="0" y="4056185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/>
          <p:cNvSpPr/>
          <p:nvPr/>
        </p:nvSpPr>
        <p:spPr>
          <a:xfrm>
            <a:off x="4224759" y="3429000"/>
            <a:ext cx="3742482" cy="982721"/>
          </a:xfrm>
          <a:prstGeom prst="roundRect">
            <a:avLst>
              <a:gd name="adj" fmla="val 50000"/>
            </a:avLst>
          </a:prstGeom>
          <a:solidFill>
            <a:srgbClr val="0326A0"/>
          </a:solidFill>
          <a:ln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74046" y="3458695"/>
            <a:ext cx="3239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PART 01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7893127" y="4056186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40055" y="4725035"/>
            <a:ext cx="107797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>
                <a:sym typeface="+mn-ea"/>
              </a:rPr>
              <a:t>中国电池企业出海战略与全球布局分析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等腰三角形 10"/>
          <p:cNvSpPr/>
          <p:nvPr/>
        </p:nvSpPr>
        <p:spPr>
          <a:xfrm>
            <a:off x="5922380" y="6572723"/>
            <a:ext cx="347240" cy="299345"/>
          </a:xfrm>
          <a:prstGeom prst="triangle">
            <a:avLst/>
          </a:prstGeom>
          <a:solidFill>
            <a:srgbClr val="032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428" y="1556229"/>
            <a:ext cx="6438095" cy="64507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622824" y="1279113"/>
            <a:ext cx="10850991" cy="3348255"/>
          </a:xfrm>
          <a:prstGeom prst="roundRect">
            <a:avLst>
              <a:gd name="adj" fmla="val 2751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622824" y="4760400"/>
            <a:ext cx="2619304" cy="1517750"/>
          </a:xfrm>
          <a:prstGeom prst="roundRect">
            <a:avLst>
              <a:gd name="adj" fmla="val 482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395010" y="4765162"/>
            <a:ext cx="2619304" cy="1517750"/>
          </a:xfrm>
          <a:prstGeom prst="roundRect">
            <a:avLst>
              <a:gd name="adj" fmla="val 482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939383" y="4765162"/>
            <a:ext cx="2531835" cy="1517750"/>
          </a:xfrm>
          <a:prstGeom prst="roundRect">
            <a:avLst>
              <a:gd name="adj" fmla="val 482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5021" y="1417202"/>
            <a:ext cx="2291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摘 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864066" y="2073454"/>
            <a:ext cx="373697" cy="0"/>
          </a:xfrm>
          <a:prstGeom prst="line">
            <a:avLst/>
          </a:prstGeom>
          <a:ln w="381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042268" y="2080364"/>
            <a:ext cx="10012101" cy="2249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在全球贸易格局重塑与新能源汽车产业蓬勃发展的双重背景下，中国电池企业的国际化扩张已成为不可逆转的趋势。本研究通过系统分析中国电池行业出海的宏观数据、企业案例与挑战应对，揭示了当前中国企业在全球电池产业链中的竞争地位与战略布局。尽管面临贸易保护主义抬头、地缘政治风险加剧等外部挑战，中国电池企业凭借技术积累、规模优势和灵活的战略应对，已在动力电池领域建立起全球领先地位。未来，中国电池企业的出海路径将更加多元化，通过深化本地化运营、加强技术创新与标准制定、优化全球资源布局等方式，持续提升国际竞争力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7606" y="4739660"/>
            <a:ext cx="26711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srgbClr val="034C9C">
                    <a:alpha val="1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01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034C9C">
                  <a:alpha val="1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18185" y="5229860"/>
            <a:ext cx="2357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中国电池企业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167196" y="4765162"/>
            <a:ext cx="2619304" cy="1517750"/>
          </a:xfrm>
          <a:prstGeom prst="roundRect">
            <a:avLst>
              <a:gd name="adj" fmla="val 482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88467" y="4739660"/>
            <a:ext cx="27022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srgbClr val="034C9C">
                    <a:alpha val="1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02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034C9C">
                  <a:alpha val="1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566159" y="5229581"/>
            <a:ext cx="229178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出海战略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67196" y="4784772"/>
            <a:ext cx="26193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srgbClr val="034C9C">
                    <a:alpha val="1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03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034C9C">
                  <a:alpha val="1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20326" y="5229581"/>
            <a:ext cx="229178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全球布局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00038" y="4739660"/>
            <a:ext cx="27022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srgbClr val="034C9C">
                    <a:alpha val="1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04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034C9C">
                  <a:alpha val="1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77730" y="5229581"/>
            <a:ext cx="2291788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动力电池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635827" y="6413266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/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" name="文本占位符 3"/>
            <p:cNvSpPr txBox="1"/>
            <p:nvPr/>
          </p:nvSpPr>
          <p:spPr>
            <a:xfrm>
              <a:off x="191096" y="310755"/>
              <a:ext cx="3011805" cy="605790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全球电池行业现状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55790" y="1423670"/>
            <a:ext cx="220916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sz="2400" b="1" dirty="0">
                <a:solidFill>
                  <a:srgbClr val="0326A0"/>
                </a:solidFill>
                <a:latin typeface="微软雅黑" panose="020B0503020204020204" charset="-122"/>
                <a:ea typeface="微软雅黑" panose="020B0503020204020204" charset="-122"/>
              </a:rPr>
              <a:t>行业主要方向</a:t>
            </a:r>
            <a:endParaRPr lang="zh-CN" sz="1200" b="1" dirty="0">
              <a:solidFill>
                <a:srgbClr val="0326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7034689" y="2318070"/>
            <a:ext cx="679602" cy="0"/>
          </a:xfrm>
          <a:prstGeom prst="line">
            <a:avLst/>
          </a:prstGeom>
          <a:noFill/>
          <a:ln w="19050" cap="flat" cmpd="sng" algn="ctr">
            <a:solidFill>
              <a:srgbClr val="0326A0"/>
            </a:solidFill>
            <a:prstDash val="solid"/>
            <a:miter lim="800000"/>
          </a:ln>
          <a:effectLst/>
        </p:spPr>
      </p:cxnSp>
      <p:sp>
        <p:nvSpPr>
          <p:cNvPr id="22" name="文本框 21"/>
          <p:cNvSpPr txBox="1"/>
          <p:nvPr/>
        </p:nvSpPr>
        <p:spPr>
          <a:xfrm>
            <a:off x="7031990" y="2420620"/>
            <a:ext cx="5000625" cy="396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当前全球电池行业正处于高速发展期，市场需求呈现多元化、规模化增长态势。全球电池需求主要由动力电池，储能电池和消费电池构成。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8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其中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，动力电池占据绝对主导地位，根据研究数据，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2025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年动力型电池需求占比高达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71.8%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，主要受益于全球新能源汽车渗透率的快速提升；储能电池则以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19.7%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的占比位居第二，在可再生能源并网、电网调峰等场景的应用日益广泛；消费电子类电池占比相对较小（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8.5%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），但依然保持稳定增长。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80000"/>
              </a:lnSpc>
            </a:pPr>
            <a:endParaRPr lang="zh-CN" altLang="en-US" sz="1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aphicFrame>
        <p:nvGraphicFramePr>
          <p:cNvPr id="5" name="内容占位符 4"/>
          <p:cNvGraphicFramePr/>
          <p:nvPr>
            <p:ph idx="1"/>
          </p:nvPr>
        </p:nvGraphicFramePr>
        <p:xfrm>
          <a:off x="479425" y="1385570"/>
          <a:ext cx="5812790" cy="3829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952625" y="5156835"/>
            <a:ext cx="286575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13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2025</a:t>
            </a: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年全球电池需求结构占比</a:t>
            </a:r>
            <a:endParaRPr lang="zh-CN" altLang="en-US" sz="12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（数据取自前瞻产业研究院）</a:t>
            </a:r>
            <a:endParaRPr lang="zh-CN" altLang="en-US" sz="12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图片 9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/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" name="文本占位符 3"/>
            <p:cNvSpPr txBox="1"/>
            <p:nvPr/>
          </p:nvSpPr>
          <p:spPr>
            <a:xfrm>
              <a:off x="103967" y="332944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全球电池行业现状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1124585"/>
            <a:ext cx="3878580" cy="895985"/>
          </a:xfrm>
        </p:spPr>
        <p:txBody>
          <a:bodyPr/>
          <a:p>
            <a:r>
              <a:rPr lang="zh-CN" sz="2400" b="1" dirty="0">
                <a:solidFill>
                  <a:srgbClr val="0326A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全球锂电池市场规模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11225" y="1844675"/>
            <a:ext cx="8224520" cy="43510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85155" y="6195695"/>
            <a:ext cx="665099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14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2017-2025</a:t>
            </a: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年全球电池需求量（取自彭博新能源财经）</a:t>
            </a:r>
            <a:endParaRPr lang="zh-CN" altLang="en-US" sz="12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https://about.bnef.com/insights/clean-transport/electric-vehicle-outlook/#overview</a:t>
            </a:r>
            <a:endParaRPr lang="en-US" altLang="zh-CN" sz="12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055370" y="1769745"/>
            <a:ext cx="8289925" cy="4643755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/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" name="文本占位符 3"/>
            <p:cNvSpPr txBox="1"/>
            <p:nvPr/>
          </p:nvSpPr>
          <p:spPr>
            <a:xfrm>
              <a:off x="103967" y="332944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全球电池行业现状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1124585"/>
            <a:ext cx="3878580" cy="895985"/>
          </a:xfrm>
        </p:spPr>
        <p:txBody>
          <a:bodyPr>
            <a:normAutofit/>
          </a:bodyPr>
          <a:p>
            <a:r>
              <a:rPr lang="zh-CN" sz="2400" b="1" dirty="0">
                <a:solidFill>
                  <a:srgbClr val="0326A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全球锂电池价格趋势</a:t>
            </a:r>
            <a:endParaRPr lang="zh-CN" sz="2400" b="1" dirty="0">
              <a:solidFill>
                <a:srgbClr val="0326A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80535" y="6092825"/>
            <a:ext cx="754380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15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2013-2024</a:t>
            </a: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年间全球锂电池组平均价格（取自彭博新能源财经）</a:t>
            </a:r>
            <a:endParaRPr lang="zh-CN" altLang="en-US" sz="12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https://about.bnef.com/insights/commodities/lithium-ion-battery-pack-prices-see-largest-drop-since-2017-falling-to-115-per-kilowatt-hour-bloombergnef/</a:t>
            </a:r>
            <a:endParaRPr lang="en-US" altLang="zh-CN" sz="12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091055"/>
            <a:ext cx="5784850" cy="329501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/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" name="文本占位符 3"/>
            <p:cNvSpPr txBox="1"/>
            <p:nvPr/>
          </p:nvSpPr>
          <p:spPr>
            <a:xfrm>
              <a:off x="191096" y="310755"/>
              <a:ext cx="3011805" cy="605790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国内企业出海情况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1220" y="1557020"/>
            <a:ext cx="220916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sz="2400" b="1" dirty="0">
                <a:solidFill>
                  <a:srgbClr val="0326A0"/>
                </a:solidFill>
                <a:latin typeface="微软雅黑" panose="020B0503020204020204" charset="-122"/>
                <a:ea typeface="微软雅黑" panose="020B0503020204020204" charset="-122"/>
              </a:rPr>
              <a:t>中国宏观趋势</a:t>
            </a:r>
            <a:endParaRPr lang="zh-CN" altLang="en-US" sz="1200" b="1" dirty="0">
              <a:solidFill>
                <a:srgbClr val="0326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871379" y="2132650"/>
            <a:ext cx="679602" cy="0"/>
          </a:xfrm>
          <a:prstGeom prst="line">
            <a:avLst/>
          </a:prstGeom>
          <a:noFill/>
          <a:ln w="19050" cap="flat" cmpd="sng" algn="ctr">
            <a:solidFill>
              <a:srgbClr val="0326A0"/>
            </a:solidFill>
            <a:prstDash val="solid"/>
            <a:miter lim="800000"/>
          </a:ln>
          <a:effectLst/>
        </p:spPr>
      </p:cxnSp>
      <p:sp>
        <p:nvSpPr>
          <p:cNvPr id="22" name="文本框 21"/>
          <p:cNvSpPr txBox="1"/>
          <p:nvPr/>
        </p:nvSpPr>
        <p:spPr>
          <a:xfrm>
            <a:off x="871220" y="2298065"/>
            <a:ext cx="5000625" cy="3189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中国电池企业的国际化进程呈现出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"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规模扩张与结构调整并存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"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的阶段性特征。从宏观数据看，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2020-2024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年中国锂电池出口额呈现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"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高速增长后首次下滑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"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的曲线：出口额从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2020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年的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159.4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亿元飙升至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2023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年的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650.1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亿元，年均复合增长率高达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59.2%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，但在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2024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年出现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5.97%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的回调，降至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611.3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亿元。虽然在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2025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年第三季度的数据上可以看到，出口额已经回到了持续增长的态势，这一变化依旧反映出中国电池出海正经历从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"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量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"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的扩张到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"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质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"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的提升的转型。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83985" y="5487670"/>
            <a:ext cx="574040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16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2020-2024</a:t>
            </a: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年我国锂离子蓄电池出口量（数据取自中国海关统计数据查询平台）</a:t>
            </a:r>
            <a:endParaRPr lang="zh-CN" altLang="en-US" sz="12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http://stats.customs.gov.cn/</a:t>
            </a:r>
            <a:endParaRPr lang="en-US" altLang="zh-CN" sz="12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表 6"/>
          <p:cNvGraphicFramePr/>
          <p:nvPr/>
        </p:nvGraphicFramePr>
        <p:xfrm>
          <a:off x="2135505" y="1845310"/>
          <a:ext cx="7790180" cy="4211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97" name="图片 9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/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" name="文本占位符 3"/>
            <p:cNvSpPr txBox="1"/>
            <p:nvPr/>
          </p:nvSpPr>
          <p:spPr>
            <a:xfrm>
              <a:off x="103967" y="332944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国内企业出海现状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1124585"/>
            <a:ext cx="3878580" cy="895985"/>
          </a:xfrm>
        </p:spPr>
        <p:txBody>
          <a:bodyPr/>
          <a:p>
            <a:r>
              <a:rPr lang="zh-CN" sz="2400" b="1" dirty="0">
                <a:solidFill>
                  <a:srgbClr val="0326A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全球市场份额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456045" y="6165215"/>
            <a:ext cx="543052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17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2025</a:t>
            </a: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1-8</a:t>
            </a: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月全球电池装机占比（数据取自中国化学与物理电源行业协会）</a:t>
            </a:r>
            <a:endParaRPr lang="zh-CN" altLang="en-US" sz="12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https://mp.weixin.qq.com/s/eU1uZOqwWaD4p2fxlRN0Zg</a:t>
            </a:r>
            <a:endParaRPr lang="en-US" altLang="zh-CN" sz="12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115" y="2020570"/>
            <a:ext cx="6812280" cy="387985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/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" name="文本占位符 3"/>
            <p:cNvSpPr txBox="1"/>
            <p:nvPr/>
          </p:nvSpPr>
          <p:spPr>
            <a:xfrm>
              <a:off x="103967" y="332944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国内企业出海现状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1124585"/>
            <a:ext cx="6430010" cy="895985"/>
          </a:xfrm>
        </p:spPr>
        <p:txBody>
          <a:bodyPr/>
          <a:p>
            <a:r>
              <a:rPr lang="zh-CN" sz="2400" b="1" dirty="0">
                <a:solidFill>
                  <a:srgbClr val="0326A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目标市场布局（主要布局区域：欧洲，北美）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821045" y="6021705"/>
            <a:ext cx="665353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18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2025</a:t>
            </a: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1-9</a:t>
            </a:r>
            <a:r>
              <a:rPr lang="zh-CN" altLang="en-US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月中国锂电池出口前十大目的地（数据取自中国化学与物理电源行业协会）</a:t>
            </a:r>
            <a:endParaRPr lang="zh-CN" altLang="en-US" sz="12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2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https://mp.weixin.qq.com/s/eU1uZOqwWaD4p2fxlRN0Zg</a:t>
            </a:r>
            <a:endParaRPr lang="en-US" altLang="zh-CN" sz="12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752442" y="979303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技术授权与合作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724275" y="1457325"/>
            <a:ext cx="449453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如宁德时代与福特的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技术换市场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模式，在不涉及股权的情况下输出电池技术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271905" y="2293620"/>
            <a:ext cx="34391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海外直接投资建厂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278890" y="2797175"/>
            <a:ext cx="332867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如宁德时代德国工厂，通过本地化生产，规避贸易壁垒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459949" y="3883356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传统贸易出口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7752392" y="2293738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产业链协同出海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7752080" y="2818765"/>
            <a:ext cx="399669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电池企业与材料、设备供应商共同赴海外布局，形成完整产业生态圈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9050020" y="3915410"/>
            <a:ext cx="3205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参与国际标准制定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6" name="组合 15"/>
          <p:cNvGrpSpPr/>
          <p:nvPr>
            <p:custDataLst>
              <p:tags r:id="rId11"/>
            </p:custDataLst>
          </p:nvPr>
        </p:nvGrpSpPr>
        <p:grpSpPr>
          <a:xfrm>
            <a:off x="2925164" y="4897100"/>
            <a:ext cx="1015232" cy="3545855"/>
            <a:chOff x="2925164" y="4897100"/>
            <a:chExt cx="1015232" cy="3545855"/>
          </a:xfrm>
        </p:grpSpPr>
        <p:grpSp>
          <p:nvGrpSpPr>
            <p:cNvPr id="17" name="组合 16"/>
            <p:cNvGrpSpPr/>
            <p:nvPr/>
          </p:nvGrpSpPr>
          <p:grpSpPr>
            <a:xfrm>
              <a:off x="2925164" y="4897100"/>
              <a:ext cx="899155" cy="3545855"/>
              <a:chOff x="2925164" y="4439900"/>
              <a:chExt cx="899155" cy="3545855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3374742" y="5227315"/>
                <a:ext cx="0" cy="275844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椭圆 19"/>
              <p:cNvSpPr/>
              <p:nvPr>
                <p:custDataLst>
                  <p:tags r:id="rId12"/>
                </p:custDataLst>
              </p:nvPr>
            </p:nvSpPr>
            <p:spPr>
              <a:xfrm>
                <a:off x="2925164" y="4439900"/>
                <a:ext cx="899155" cy="899155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18" name="文本框 17"/>
            <p:cNvSpPr txBox="1"/>
            <p:nvPr>
              <p:custDataLst>
                <p:tags r:id="rId13"/>
              </p:custDataLst>
            </p:nvPr>
          </p:nvSpPr>
          <p:spPr>
            <a:xfrm>
              <a:off x="3074343" y="5101062"/>
              <a:ext cx="8660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01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4"/>
            </p:custDataLst>
          </p:nvPr>
        </p:nvGrpSpPr>
        <p:grpSpPr>
          <a:xfrm>
            <a:off x="4302851" y="3501501"/>
            <a:ext cx="980487" cy="4617715"/>
            <a:chOff x="4285793" y="3501501"/>
            <a:chExt cx="980487" cy="4617715"/>
          </a:xfrm>
        </p:grpSpPr>
        <p:grpSp>
          <p:nvGrpSpPr>
            <p:cNvPr id="22" name="组合 21"/>
            <p:cNvGrpSpPr/>
            <p:nvPr/>
          </p:nvGrpSpPr>
          <p:grpSpPr>
            <a:xfrm>
              <a:off x="4285793" y="3501501"/>
              <a:ext cx="899155" cy="4617715"/>
              <a:chOff x="4099564" y="3368040"/>
              <a:chExt cx="899155" cy="4617715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4549142" y="4267195"/>
                <a:ext cx="0" cy="3718560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椭圆 26"/>
              <p:cNvSpPr/>
              <p:nvPr>
                <p:custDataLst>
                  <p:tags r:id="rId15"/>
                </p:custDataLst>
              </p:nvPr>
            </p:nvSpPr>
            <p:spPr>
              <a:xfrm>
                <a:off x="4099564" y="3368040"/>
                <a:ext cx="899155" cy="89915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23" name="文本框 22"/>
            <p:cNvSpPr txBox="1"/>
            <p:nvPr>
              <p:custDataLst>
                <p:tags r:id="rId16"/>
              </p:custDataLst>
            </p:nvPr>
          </p:nvSpPr>
          <p:spPr>
            <a:xfrm>
              <a:off x="4400227" y="3689468"/>
              <a:ext cx="8660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02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17"/>
            </p:custDataLst>
          </p:nvPr>
        </p:nvGrpSpPr>
        <p:grpSpPr>
          <a:xfrm>
            <a:off x="5645793" y="2517388"/>
            <a:ext cx="980160" cy="5925567"/>
            <a:chOff x="5646422" y="2517388"/>
            <a:chExt cx="980160" cy="5925567"/>
          </a:xfrm>
        </p:grpSpPr>
        <p:grpSp>
          <p:nvGrpSpPr>
            <p:cNvPr id="29" name="组合 28"/>
            <p:cNvGrpSpPr/>
            <p:nvPr/>
          </p:nvGrpSpPr>
          <p:grpSpPr>
            <a:xfrm>
              <a:off x="5646422" y="2517388"/>
              <a:ext cx="899155" cy="5925567"/>
              <a:chOff x="5646422" y="2517388"/>
              <a:chExt cx="899155" cy="5925567"/>
            </a:xfrm>
          </p:grpSpPr>
          <p:cxnSp>
            <p:nvCxnSpPr>
              <p:cNvPr id="32" name="直接连接符 31"/>
              <p:cNvCxnSpPr>
                <a:stCxn id="33" idx="4"/>
              </p:cNvCxnSpPr>
              <p:nvPr/>
            </p:nvCxnSpPr>
            <p:spPr>
              <a:xfrm>
                <a:off x="6096000" y="3416543"/>
                <a:ext cx="2" cy="502641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椭圆 32"/>
              <p:cNvSpPr/>
              <p:nvPr>
                <p:custDataLst>
                  <p:tags r:id="rId18"/>
                </p:custDataLst>
              </p:nvPr>
            </p:nvSpPr>
            <p:spPr>
              <a:xfrm>
                <a:off x="5646422" y="2517388"/>
                <a:ext cx="899155" cy="899155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31" name="文本框 30"/>
            <p:cNvSpPr txBox="1"/>
            <p:nvPr>
              <p:custDataLst>
                <p:tags r:id="rId19"/>
              </p:custDataLst>
            </p:nvPr>
          </p:nvSpPr>
          <p:spPr>
            <a:xfrm>
              <a:off x="5760529" y="2705356"/>
              <a:ext cx="8660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03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20"/>
            </p:custDataLst>
          </p:nvPr>
        </p:nvGrpSpPr>
        <p:grpSpPr>
          <a:xfrm>
            <a:off x="6988408" y="3501501"/>
            <a:ext cx="1016817" cy="4617715"/>
            <a:chOff x="7007051" y="3501501"/>
            <a:chExt cx="1016817" cy="4617715"/>
          </a:xfrm>
        </p:grpSpPr>
        <p:grpSp>
          <p:nvGrpSpPr>
            <p:cNvPr id="35" name="组合 34"/>
            <p:cNvGrpSpPr/>
            <p:nvPr/>
          </p:nvGrpSpPr>
          <p:grpSpPr>
            <a:xfrm>
              <a:off x="7007051" y="3501501"/>
              <a:ext cx="899155" cy="4617715"/>
              <a:chOff x="7193284" y="3368040"/>
              <a:chExt cx="899155" cy="4617715"/>
            </a:xfrm>
          </p:grpSpPr>
          <p:cxnSp>
            <p:nvCxnSpPr>
              <p:cNvPr id="37" name="直接连接符 36"/>
              <p:cNvCxnSpPr/>
              <p:nvPr/>
            </p:nvCxnSpPr>
            <p:spPr>
              <a:xfrm>
                <a:off x="7642862" y="4267195"/>
                <a:ext cx="0" cy="3718560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椭圆 37"/>
              <p:cNvSpPr/>
              <p:nvPr>
                <p:custDataLst>
                  <p:tags r:id="rId21"/>
                </p:custDataLst>
              </p:nvPr>
            </p:nvSpPr>
            <p:spPr>
              <a:xfrm>
                <a:off x="7193284" y="3368040"/>
                <a:ext cx="899155" cy="89915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36" name="文本框 35"/>
            <p:cNvSpPr txBox="1"/>
            <p:nvPr>
              <p:custDataLst>
                <p:tags r:id="rId22"/>
              </p:custDataLst>
            </p:nvPr>
          </p:nvSpPr>
          <p:spPr>
            <a:xfrm>
              <a:off x="7157815" y="3704221"/>
              <a:ext cx="8660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04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23"/>
            </p:custDataLst>
          </p:nvPr>
        </p:nvGrpSpPr>
        <p:grpSpPr>
          <a:xfrm>
            <a:off x="8367681" y="4897100"/>
            <a:ext cx="978401" cy="3545855"/>
            <a:chOff x="8367681" y="4897100"/>
            <a:chExt cx="978401" cy="3545855"/>
          </a:xfrm>
        </p:grpSpPr>
        <p:grpSp>
          <p:nvGrpSpPr>
            <p:cNvPr id="40" name="组合 39"/>
            <p:cNvGrpSpPr/>
            <p:nvPr/>
          </p:nvGrpSpPr>
          <p:grpSpPr>
            <a:xfrm>
              <a:off x="8367681" y="4897100"/>
              <a:ext cx="899155" cy="3545855"/>
              <a:chOff x="8740144" y="4439900"/>
              <a:chExt cx="899155" cy="3545855"/>
            </a:xfrm>
          </p:grpSpPr>
          <p:cxnSp>
            <p:nvCxnSpPr>
              <p:cNvPr id="42" name="直接连接符 41"/>
              <p:cNvCxnSpPr/>
              <p:nvPr/>
            </p:nvCxnSpPr>
            <p:spPr>
              <a:xfrm>
                <a:off x="9189722" y="5227315"/>
                <a:ext cx="0" cy="275844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椭圆 42"/>
              <p:cNvSpPr/>
              <p:nvPr>
                <p:custDataLst>
                  <p:tags r:id="rId24"/>
                </p:custDataLst>
              </p:nvPr>
            </p:nvSpPr>
            <p:spPr>
              <a:xfrm>
                <a:off x="8740144" y="4439900"/>
                <a:ext cx="899155" cy="899155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41" name="文本框 40"/>
            <p:cNvSpPr txBox="1"/>
            <p:nvPr>
              <p:custDataLst>
                <p:tags r:id="rId25"/>
              </p:custDataLst>
            </p:nvPr>
          </p:nvSpPr>
          <p:spPr>
            <a:xfrm>
              <a:off x="8480029" y="5091138"/>
              <a:ext cx="8660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05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4" name="文本框 43"/>
          <p:cNvSpPr txBox="1"/>
          <p:nvPr>
            <p:custDataLst>
              <p:tags r:id="rId26"/>
            </p:custDataLst>
          </p:nvPr>
        </p:nvSpPr>
        <p:spPr>
          <a:xfrm>
            <a:off x="9216390" y="4405630"/>
            <a:ext cx="303911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通过加入行业组织等方式提升话语权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5" name="文本框 44"/>
          <p:cNvSpPr txBox="1"/>
          <p:nvPr>
            <p:custDataLst>
              <p:tags r:id="rId27"/>
            </p:custDataLst>
          </p:nvPr>
        </p:nvSpPr>
        <p:spPr>
          <a:xfrm>
            <a:off x="263525" y="4292600"/>
            <a:ext cx="2860675" cy="1109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直接向海外供应电池产品，目前仍有相当比重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96559" y="309485"/>
            <a:ext cx="3456384" cy="734108"/>
            <a:chOff x="-240704" y="246620"/>
            <a:chExt cx="3456384" cy="734108"/>
          </a:xfrm>
        </p:grpSpPr>
        <p:sp>
          <p:nvSpPr>
            <p:cNvPr id="6" name="矩形: 圆角 1"/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7" name="文本占位符 3"/>
            <p:cNvSpPr txBox="1"/>
            <p:nvPr/>
          </p:nvSpPr>
          <p:spPr>
            <a:xfrm>
              <a:off x="191096" y="310755"/>
              <a:ext cx="3011805" cy="605790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国内企业出海情况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356909" y="246620"/>
            <a:ext cx="4881880" cy="734108"/>
            <a:chOff x="-356909" y="246620"/>
            <a:chExt cx="4881880" cy="734108"/>
          </a:xfrm>
        </p:grpSpPr>
        <p:sp>
          <p:nvSpPr>
            <p:cNvPr id="2" name="矩形: 圆角 1"/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" name="文本占位符 3"/>
            <p:cNvSpPr txBox="1"/>
            <p:nvPr/>
          </p:nvSpPr>
          <p:spPr>
            <a:xfrm>
              <a:off x="-356909" y="310755"/>
              <a:ext cx="4881880" cy="605790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企业分析（宁德时代）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8" name="矩形: 圆角 7"/>
          <p:cNvSpPr/>
          <p:nvPr>
            <p:custDataLst>
              <p:tags r:id="rId3"/>
            </p:custDataLst>
          </p:nvPr>
        </p:nvSpPr>
        <p:spPr>
          <a:xfrm>
            <a:off x="710107" y="2296707"/>
            <a:ext cx="5277413" cy="3264185"/>
          </a:xfrm>
          <a:prstGeom prst="roundRect">
            <a:avLst>
              <a:gd name="adj" fmla="val 2566"/>
            </a:avLst>
          </a:prstGeom>
          <a:noFill/>
          <a:ln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9" name="矩形: 圆角 8"/>
          <p:cNvSpPr/>
          <p:nvPr>
            <p:custDataLst>
              <p:tags r:id="rId4"/>
            </p:custDataLst>
          </p:nvPr>
        </p:nvSpPr>
        <p:spPr>
          <a:xfrm>
            <a:off x="6291195" y="2296708"/>
            <a:ext cx="5277413" cy="3264184"/>
          </a:xfrm>
          <a:prstGeom prst="roundRect">
            <a:avLst>
              <a:gd name="adj" fmla="val 228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503680" y="2490470"/>
            <a:ext cx="4034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与马士基达成战略合作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1001525" y="3068926"/>
            <a:ext cx="4717463" cy="1691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宁德时代通过与马士基合作构建一体化供应链，显著提升物流效率，加强供应链韧性，并拓展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“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电池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绿色物流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新商业模式。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7172325" y="2490470"/>
            <a:ext cx="30511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宁德时代印尼项目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5" name="矩形 14"/>
          <p:cNvSpPr/>
          <p:nvPr>
            <p:custDataLst>
              <p:tags r:id="rId8"/>
            </p:custDataLst>
          </p:nvPr>
        </p:nvSpPr>
        <p:spPr>
          <a:xfrm>
            <a:off x="6515278" y="3068926"/>
            <a:ext cx="4717463" cy="2491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该项目整合了从矿产开采冶炼到电池制造，再到回收的完整产业链。采用先进的定向循环技术实现超低能耗，并达成高价值电池材料再生。并且，项目创造了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1.2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万个本地就业岗位，获得印尼政府税收减免和政策支持，奠定了政治基础。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240704" y="246620"/>
            <a:ext cx="3456940" cy="734108"/>
            <a:chOff x="-240704" y="246620"/>
            <a:chExt cx="3456940" cy="734108"/>
          </a:xfrm>
        </p:grpSpPr>
        <p:sp>
          <p:nvSpPr>
            <p:cNvPr id="2" name="矩形: 圆角 1"/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" name="文本占位符 3"/>
            <p:cNvSpPr txBox="1"/>
            <p:nvPr/>
          </p:nvSpPr>
          <p:spPr>
            <a:xfrm>
              <a:off x="263486" y="310755"/>
              <a:ext cx="2952750" cy="605790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潜在挑战：政策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8" name="Round Same Side Corner Rectangle 67"/>
          <p:cNvSpPr/>
          <p:nvPr>
            <p:custDataLst>
              <p:tags r:id="rId3"/>
            </p:custDataLst>
          </p:nvPr>
        </p:nvSpPr>
        <p:spPr>
          <a:xfrm rot="10800000" flipH="1">
            <a:off x="7196329" y="1357633"/>
            <a:ext cx="66537" cy="685392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0326A0"/>
          </a:solidFill>
          <a:ln w="25400" cap="flat" cmpd="sng" algn="ctr">
            <a:solidFill>
              <a:srgbClr val="0326A0"/>
            </a:solidFill>
            <a:prstDash val="solid"/>
          </a:ln>
          <a:effectLst/>
        </p:spPr>
        <p:txBody>
          <a:bodyPr lIns="109709" tIns="54855" rIns="109709" bIns="54855" rtlCol="0" anchor="ctr"/>
          <a:lstStyle/>
          <a:p>
            <a:pPr algn="ctr" defTabSz="1219200">
              <a:defRPr/>
            </a:pPr>
            <a:endParaRPr lang="bg-BG" sz="2400" kern="0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9" name="Round Same Side Corner Rectangle 68"/>
          <p:cNvSpPr/>
          <p:nvPr>
            <p:custDataLst>
              <p:tags r:id="rId4"/>
            </p:custDataLst>
          </p:nvPr>
        </p:nvSpPr>
        <p:spPr>
          <a:xfrm rot="10800000" flipH="1">
            <a:off x="7194142" y="2399353"/>
            <a:ext cx="66537" cy="685392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0326A0"/>
          </a:solidFill>
          <a:ln w="25400" cap="flat" cmpd="sng" algn="ctr">
            <a:solidFill>
              <a:srgbClr val="0326A0"/>
            </a:solidFill>
            <a:prstDash val="solid"/>
          </a:ln>
          <a:effectLst/>
        </p:spPr>
        <p:txBody>
          <a:bodyPr lIns="109709" tIns="54855" rIns="109709" bIns="54855" rtlCol="0" anchor="ctr"/>
          <a:lstStyle/>
          <a:p>
            <a:pPr algn="ctr" defTabSz="1219200">
              <a:defRPr/>
            </a:pPr>
            <a:endParaRPr lang="bg-BG" sz="2400" kern="0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Round Same Side Corner Rectangle 69"/>
          <p:cNvSpPr/>
          <p:nvPr>
            <p:custDataLst>
              <p:tags r:id="rId5"/>
            </p:custDataLst>
          </p:nvPr>
        </p:nvSpPr>
        <p:spPr>
          <a:xfrm rot="10800000" flipH="1">
            <a:off x="7196329" y="3346196"/>
            <a:ext cx="66537" cy="685392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0326A0"/>
          </a:solidFill>
          <a:ln w="25400" cap="flat" cmpd="sng" algn="ctr">
            <a:solidFill>
              <a:srgbClr val="0326A0"/>
            </a:solidFill>
            <a:prstDash val="solid"/>
          </a:ln>
          <a:effectLst/>
        </p:spPr>
        <p:txBody>
          <a:bodyPr lIns="109709" tIns="54855" rIns="109709" bIns="54855" rtlCol="0" anchor="ctr"/>
          <a:lstStyle/>
          <a:p>
            <a:pPr algn="ctr" defTabSz="1219200">
              <a:defRPr/>
            </a:pPr>
            <a:endParaRPr lang="bg-BG" sz="2400" kern="0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11" name="组合 10"/>
          <p:cNvGrpSpPr/>
          <p:nvPr>
            <p:custDataLst>
              <p:tags r:id="rId6"/>
            </p:custDataLst>
          </p:nvPr>
        </p:nvGrpSpPr>
        <p:grpSpPr>
          <a:xfrm>
            <a:off x="7379396" y="1340768"/>
            <a:ext cx="3841872" cy="583564"/>
            <a:chOff x="5228513" y="1109269"/>
            <a:chExt cx="2881404" cy="437673"/>
          </a:xfrm>
        </p:grpSpPr>
        <p:sp>
          <p:nvSpPr>
            <p:cNvPr id="12" name="TextBox 20"/>
            <p:cNvSpPr txBox="1"/>
            <p:nvPr>
              <p:custDataLst>
                <p:tags r:id="rId7"/>
              </p:custDataLst>
            </p:nvPr>
          </p:nvSpPr>
          <p:spPr>
            <a:xfrm>
              <a:off x="5238037" y="1327867"/>
              <a:ext cx="2871880" cy="219075"/>
            </a:xfrm>
            <a:prstGeom prst="rect">
              <a:avLst/>
            </a:prstGeom>
            <a:noFill/>
          </p:spPr>
          <p:txBody>
            <a:bodyPr wrap="square" lIns="45720" tIns="22860" rIns="45720" bIns="22860" rtlCol="0">
              <a:spAutoFit/>
            </a:bodyPr>
            <a:lstStyle/>
            <a:p>
              <a:pPr algn="just" defTabSz="1219200">
                <a:lnSpc>
                  <a:spcPct val="120000"/>
                </a:lnSpc>
              </a:pPr>
              <a:r>
                <a:rPr lang="zh-CN" altLang="en-US" sz="1335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</a:rPr>
                <a:t>以环保和循环经济为核心，严格要求全产业链</a:t>
              </a:r>
              <a:endParaRPr lang="zh-CN" altLang="en-US" sz="1335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Rectangle 71"/>
            <p:cNvSpPr/>
            <p:nvPr>
              <p:custDataLst>
                <p:tags r:id="rId8"/>
              </p:custDataLst>
            </p:nvPr>
          </p:nvSpPr>
          <p:spPr>
            <a:xfrm>
              <a:off x="5228513" y="1109269"/>
              <a:ext cx="1440180" cy="218599"/>
            </a:xfrm>
            <a:prstGeom prst="rect">
              <a:avLst/>
            </a:prstGeom>
          </p:spPr>
          <p:txBody>
            <a:bodyPr wrap="none" lIns="45720" tIns="22860" rIns="45720" bIns="22860">
              <a:spAutoFit/>
            </a:bodyPr>
            <a:lstStyle/>
            <a:p>
              <a:pPr defTabSz="1219200"/>
              <a:r>
                <a:rPr lang="zh-CN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</a:rPr>
                <a:t>欧盟《新电池法规》</a:t>
              </a:r>
              <a:endPara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7379395" y="2353980"/>
            <a:ext cx="3829173" cy="797557"/>
            <a:chOff x="5228512" y="1869180"/>
            <a:chExt cx="2871880" cy="598168"/>
          </a:xfrm>
        </p:grpSpPr>
        <p:sp>
          <p:nvSpPr>
            <p:cNvPr id="15" name="TextBox 22"/>
            <p:cNvSpPr txBox="1"/>
            <p:nvPr>
              <p:custDataLst>
                <p:tags r:id="rId10"/>
              </p:custDataLst>
            </p:nvPr>
          </p:nvSpPr>
          <p:spPr>
            <a:xfrm>
              <a:off x="5228512" y="2063012"/>
              <a:ext cx="2871880" cy="404336"/>
            </a:xfrm>
            <a:prstGeom prst="rect">
              <a:avLst/>
            </a:prstGeom>
            <a:noFill/>
          </p:spPr>
          <p:txBody>
            <a:bodyPr wrap="square" lIns="45720" tIns="22860" rIns="45720" bIns="22860" rtlCol="0">
              <a:spAutoFit/>
            </a:bodyPr>
            <a:lstStyle/>
            <a:p>
              <a:pPr algn="just" defTabSz="1219200">
                <a:lnSpc>
                  <a:spcPct val="120000"/>
                </a:lnSpc>
              </a:pPr>
              <a:r>
                <a:rPr lang="zh-CN" altLang="en-US" sz="1335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</a:rPr>
                <a:t>以补贴等形式进行选择性的经济激励，强调供应链本土化和就业</a:t>
              </a:r>
              <a:endParaRPr lang="en-US" altLang="zh-CN" sz="1335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Rectangle 73"/>
            <p:cNvSpPr/>
            <p:nvPr>
              <p:custDataLst>
                <p:tags r:id="rId11"/>
              </p:custDataLst>
            </p:nvPr>
          </p:nvSpPr>
          <p:spPr>
            <a:xfrm>
              <a:off x="5228513" y="1869180"/>
              <a:ext cx="1592580" cy="218599"/>
            </a:xfrm>
            <a:prstGeom prst="rect">
              <a:avLst/>
            </a:prstGeom>
          </p:spPr>
          <p:txBody>
            <a:bodyPr wrap="none" lIns="45720" tIns="22860" rIns="45720" bIns="22860">
              <a:spAutoFit/>
            </a:bodyPr>
            <a:lstStyle/>
            <a:p>
              <a:pPr defTabSz="1219200"/>
              <a:r>
                <a:rPr lang="zh-CN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</a:rPr>
                <a:t>美国《通胀削减法案》</a:t>
              </a:r>
              <a:endPara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7379395" y="3367198"/>
            <a:ext cx="3829173" cy="550544"/>
            <a:chOff x="5228512" y="2629091"/>
            <a:chExt cx="2871880" cy="412908"/>
          </a:xfrm>
        </p:grpSpPr>
        <p:sp>
          <p:nvSpPr>
            <p:cNvPr id="18" name="TextBox 24"/>
            <p:cNvSpPr txBox="1"/>
            <p:nvPr>
              <p:custDataLst>
                <p:tags r:id="rId13"/>
              </p:custDataLst>
            </p:nvPr>
          </p:nvSpPr>
          <p:spPr>
            <a:xfrm>
              <a:off x="5228512" y="2822924"/>
              <a:ext cx="2871880" cy="219075"/>
            </a:xfrm>
            <a:prstGeom prst="rect">
              <a:avLst/>
            </a:prstGeom>
            <a:noFill/>
          </p:spPr>
          <p:txBody>
            <a:bodyPr wrap="square" lIns="45720" tIns="22860" rIns="45720" bIns="22860" rtlCol="0">
              <a:spAutoFit/>
            </a:bodyPr>
            <a:lstStyle/>
            <a:p>
              <a:pPr algn="just" defTabSz="1219200">
                <a:lnSpc>
                  <a:spcPct val="120000"/>
                </a:lnSpc>
              </a:pPr>
              <a:r>
                <a:rPr lang="zh-CN" altLang="en-US" sz="1335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</a:rPr>
                <a:t>聚焦技术突破，提高本国企业全球竞争力</a:t>
              </a:r>
              <a:endParaRPr lang="en-US" altLang="zh-CN" sz="1335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Rectangle 75"/>
            <p:cNvSpPr/>
            <p:nvPr>
              <p:custDataLst>
                <p:tags r:id="rId14"/>
              </p:custDataLst>
            </p:nvPr>
          </p:nvSpPr>
          <p:spPr>
            <a:xfrm>
              <a:off x="5228513" y="2629091"/>
              <a:ext cx="2049780" cy="218599"/>
            </a:xfrm>
            <a:prstGeom prst="rect">
              <a:avLst/>
            </a:prstGeom>
          </p:spPr>
          <p:txBody>
            <a:bodyPr wrap="none" lIns="45720" tIns="22860" rIns="45720" bIns="22860">
              <a:spAutoFit/>
            </a:bodyPr>
            <a:lstStyle/>
            <a:p>
              <a:pPr defTabSz="1219200"/>
              <a:r>
                <a:rPr lang="zh-CN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</a:rPr>
                <a:t>韩国《能源技术开发路线图》</a:t>
              </a:r>
              <a:endPara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0" name="Round Same Side Corner Rectangle 76"/>
          <p:cNvSpPr/>
          <p:nvPr>
            <p:custDataLst>
              <p:tags r:id="rId15"/>
            </p:custDataLst>
          </p:nvPr>
        </p:nvSpPr>
        <p:spPr>
          <a:xfrm rot="10800000" flipH="1">
            <a:off x="7194142" y="4306846"/>
            <a:ext cx="66537" cy="685392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0326A0"/>
          </a:solidFill>
          <a:ln w="25400" cap="flat" cmpd="sng" algn="ctr">
            <a:solidFill>
              <a:srgbClr val="0326A0"/>
            </a:solidFill>
            <a:prstDash val="solid"/>
          </a:ln>
          <a:effectLst/>
        </p:spPr>
        <p:txBody>
          <a:bodyPr lIns="109709" tIns="54855" rIns="109709" bIns="54855" rtlCol="0" anchor="ctr"/>
          <a:lstStyle/>
          <a:p>
            <a:pPr algn="ctr" defTabSz="1219200">
              <a:defRPr/>
            </a:pPr>
            <a:endParaRPr lang="bg-BG" sz="2400" kern="0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22" name="组合 21"/>
          <p:cNvGrpSpPr/>
          <p:nvPr>
            <p:custDataLst>
              <p:tags r:id="rId16"/>
            </p:custDataLst>
          </p:nvPr>
        </p:nvGrpSpPr>
        <p:grpSpPr>
          <a:xfrm>
            <a:off x="7379395" y="4261477"/>
            <a:ext cx="3829173" cy="550544"/>
            <a:chOff x="5228512" y="3299800"/>
            <a:chExt cx="2871880" cy="412908"/>
          </a:xfrm>
        </p:grpSpPr>
        <p:sp>
          <p:nvSpPr>
            <p:cNvPr id="23" name="TextBox 28"/>
            <p:cNvSpPr txBox="1"/>
            <p:nvPr>
              <p:custDataLst>
                <p:tags r:id="rId17"/>
              </p:custDataLst>
            </p:nvPr>
          </p:nvSpPr>
          <p:spPr>
            <a:xfrm>
              <a:off x="5228512" y="3493633"/>
              <a:ext cx="2871880" cy="219075"/>
            </a:xfrm>
            <a:prstGeom prst="rect">
              <a:avLst/>
            </a:prstGeom>
            <a:noFill/>
          </p:spPr>
          <p:txBody>
            <a:bodyPr wrap="square" lIns="45720" tIns="22860" rIns="45720" bIns="22860" rtlCol="0">
              <a:spAutoFit/>
            </a:bodyPr>
            <a:lstStyle/>
            <a:p>
              <a:pPr algn="just" defTabSz="1219200">
                <a:lnSpc>
                  <a:spcPct val="120000"/>
                </a:lnSpc>
              </a:pPr>
              <a:r>
                <a:rPr lang="zh-CN" altLang="en-US" sz="1335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</a:rPr>
                <a:t>依托矿产优势，侧重从矿物到价值链中游环节</a:t>
              </a:r>
              <a:endParaRPr lang="en-US" altLang="zh-CN" sz="1335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Rectangle 79"/>
            <p:cNvSpPr/>
            <p:nvPr>
              <p:custDataLst>
                <p:tags r:id="rId18"/>
              </p:custDataLst>
            </p:nvPr>
          </p:nvSpPr>
          <p:spPr>
            <a:xfrm>
              <a:off x="5228513" y="3299800"/>
              <a:ext cx="1897380" cy="218599"/>
            </a:xfrm>
            <a:prstGeom prst="rect">
              <a:avLst/>
            </a:prstGeom>
          </p:spPr>
          <p:txBody>
            <a:bodyPr wrap="none" lIns="45720" tIns="22860" rIns="45720" bIns="22860">
              <a:spAutoFit/>
            </a:bodyPr>
            <a:lstStyle/>
            <a:p>
              <a:pPr defTabSz="1219200"/>
              <a:r>
                <a:rPr lang="zh-CN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</a:rPr>
                <a:t>澳大利亚《国家电池战略》</a:t>
              </a:r>
              <a:endPara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7921" y="1357633"/>
            <a:ext cx="6188590" cy="43769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/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" name="文本占位符 3"/>
            <p:cNvSpPr txBox="1"/>
            <p:nvPr/>
          </p:nvSpPr>
          <p:spPr>
            <a:xfrm>
              <a:off x="263486" y="310755"/>
              <a:ext cx="2902585" cy="605790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潜在挑战：其他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8" name="组合 7"/>
          <p:cNvGrpSpPr/>
          <p:nvPr>
            <p:custDataLst>
              <p:tags r:id="rId3"/>
            </p:custDataLst>
          </p:nvPr>
        </p:nvGrpSpPr>
        <p:grpSpPr>
          <a:xfrm>
            <a:off x="3944779" y="1735679"/>
            <a:ext cx="4518699" cy="4518699"/>
            <a:chOff x="3837771" y="1344730"/>
            <a:chExt cx="4518699" cy="4518699"/>
          </a:xfrm>
        </p:grpSpPr>
        <p:sp>
          <p:nvSpPr>
            <p:cNvPr id="9" name="矩形: 圆角 8"/>
            <p:cNvSpPr/>
            <p:nvPr>
              <p:custDataLst>
                <p:tags r:id="rId4"/>
              </p:custDataLst>
            </p:nvPr>
          </p:nvSpPr>
          <p:spPr>
            <a:xfrm rot="2700000">
              <a:off x="5585714" y="1344731"/>
              <a:ext cx="1022813" cy="45186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10" name="矩形: 圆角 9"/>
            <p:cNvSpPr/>
            <p:nvPr>
              <p:custDataLst>
                <p:tags r:id="rId5"/>
              </p:custDataLst>
            </p:nvPr>
          </p:nvSpPr>
          <p:spPr>
            <a:xfrm rot="18900000" flipV="1">
              <a:off x="5585714" y="1344730"/>
              <a:ext cx="1022813" cy="4518699"/>
            </a:xfrm>
            <a:prstGeom prst="roundRect">
              <a:avLst>
                <a:gd name="adj" fmla="val 50000"/>
              </a:avLst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6"/>
            </p:custDataLst>
          </p:nvPr>
        </p:nvGrpSpPr>
        <p:grpSpPr>
          <a:xfrm>
            <a:off x="767408" y="1700808"/>
            <a:ext cx="4003040" cy="2288043"/>
            <a:chOff x="660400" y="1309859"/>
            <a:chExt cx="4003040" cy="2288043"/>
          </a:xfrm>
        </p:grpSpPr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660400" y="1309859"/>
              <a:ext cx="4003040" cy="52197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海外市场高成本与长周期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8"/>
              </p:custDataLst>
            </p:nvPr>
          </p:nvSpPr>
          <p:spPr>
            <a:xfrm>
              <a:off x="660400" y="2029452"/>
              <a:ext cx="3415668" cy="156845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在欧洲建厂的资本支出比中国高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30-40%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，人力成本和能源价格更是远高于国内。而且欧洲客户认证周期更是漫长。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4" name="直接连接符 13"/>
            <p:cNvCxnSpPr/>
            <p:nvPr>
              <p:custDataLst>
                <p:tags r:id="rId9"/>
              </p:custDataLst>
            </p:nvPr>
          </p:nvCxnSpPr>
          <p:spPr>
            <a:xfrm>
              <a:off x="682977" y="1930967"/>
              <a:ext cx="513537" cy="0"/>
            </a:xfrm>
            <a:prstGeom prst="line">
              <a:avLst/>
            </a:prstGeom>
            <a:ln w="38100">
              <a:solidFill>
                <a:srgbClr val="0326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>
            <p:custDataLst>
              <p:tags r:id="rId10"/>
            </p:custDataLst>
          </p:nvPr>
        </p:nvGrpSpPr>
        <p:grpSpPr>
          <a:xfrm>
            <a:off x="767408" y="4269619"/>
            <a:ext cx="3415668" cy="1918473"/>
            <a:chOff x="660400" y="1309859"/>
            <a:chExt cx="3415668" cy="1918473"/>
          </a:xfrm>
        </p:grpSpPr>
        <p:sp>
          <p:nvSpPr>
            <p:cNvPr id="16" name="文本框 15"/>
            <p:cNvSpPr txBox="1"/>
            <p:nvPr>
              <p:custDataLst>
                <p:tags r:id="rId11"/>
              </p:custDataLst>
            </p:nvPr>
          </p:nvSpPr>
          <p:spPr>
            <a:xfrm>
              <a:off x="660400" y="1309859"/>
              <a:ext cx="2225040" cy="52197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地缘政治风险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2"/>
              </p:custDataLst>
            </p:nvPr>
          </p:nvSpPr>
          <p:spPr>
            <a:xfrm>
              <a:off x="660400" y="2029452"/>
              <a:ext cx="3415668" cy="119888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中美战略竞争日益加剧，美国将相关部件纳入出口管制，联合盟友限制对华技术转移</a:t>
              </a:r>
              <a:r>
                <a:rPr kumimoji="0" 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等。</a:t>
              </a:r>
              <a:endParaRPr kumimoji="0" 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8" name="直接连接符 17"/>
            <p:cNvCxnSpPr/>
            <p:nvPr>
              <p:custDataLst>
                <p:tags r:id="rId13"/>
              </p:custDataLst>
            </p:nvPr>
          </p:nvCxnSpPr>
          <p:spPr>
            <a:xfrm>
              <a:off x="682977" y="1930967"/>
              <a:ext cx="513537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>
            <p:custDataLst>
              <p:tags r:id="rId14"/>
            </p:custDataLst>
          </p:nvPr>
        </p:nvGrpSpPr>
        <p:grpSpPr>
          <a:xfrm>
            <a:off x="8257847" y="1700808"/>
            <a:ext cx="3647440" cy="2288043"/>
            <a:chOff x="660400" y="1309859"/>
            <a:chExt cx="3647440" cy="2288043"/>
          </a:xfrm>
        </p:grpSpPr>
        <p:sp>
          <p:nvSpPr>
            <p:cNvPr id="20" name="文本框 19"/>
            <p:cNvSpPr txBox="1"/>
            <p:nvPr>
              <p:custDataLst>
                <p:tags r:id="rId15"/>
              </p:custDataLst>
            </p:nvPr>
          </p:nvSpPr>
          <p:spPr>
            <a:xfrm>
              <a:off x="660400" y="1309859"/>
              <a:ext cx="3647440" cy="52197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技术与标准竞争白热化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6"/>
              </p:custDataLst>
            </p:nvPr>
          </p:nvSpPr>
          <p:spPr>
            <a:xfrm>
              <a:off x="660400" y="2029452"/>
              <a:ext cx="3415668" cy="156845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日韩企业正加速下一代技术研发；欧盟推出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"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电池创新联盟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"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；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美国能源部将电池列为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"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关键突破技术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"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给予专项资助。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22" name="直接连接符 21"/>
            <p:cNvCxnSpPr/>
            <p:nvPr>
              <p:custDataLst>
                <p:tags r:id="rId17"/>
              </p:custDataLst>
            </p:nvPr>
          </p:nvCxnSpPr>
          <p:spPr>
            <a:xfrm>
              <a:off x="682977" y="1930967"/>
              <a:ext cx="513537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>
            <p:custDataLst>
              <p:tags r:id="rId18"/>
            </p:custDataLst>
          </p:nvPr>
        </p:nvGrpSpPr>
        <p:grpSpPr>
          <a:xfrm>
            <a:off x="8257847" y="4269619"/>
            <a:ext cx="3415668" cy="1918473"/>
            <a:chOff x="660400" y="1309859"/>
            <a:chExt cx="3415668" cy="1918473"/>
          </a:xfrm>
        </p:grpSpPr>
        <p:sp>
          <p:nvSpPr>
            <p:cNvPr id="24" name="文本框 23"/>
            <p:cNvSpPr txBox="1"/>
            <p:nvPr>
              <p:custDataLst>
                <p:tags r:id="rId19"/>
              </p:custDataLst>
            </p:nvPr>
          </p:nvSpPr>
          <p:spPr>
            <a:xfrm>
              <a:off x="660400" y="1309859"/>
              <a:ext cx="1513840" cy="52197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文化冲突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20"/>
              </p:custDataLst>
            </p:nvPr>
          </p:nvSpPr>
          <p:spPr>
            <a:xfrm>
              <a:off x="660400" y="2029452"/>
              <a:ext cx="3415668" cy="119888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海外运营面临管理文化冲突、技术人才短缺等难题，需要达到全球化和本地化的平衡。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28" name="直接连接符 27"/>
            <p:cNvCxnSpPr/>
            <p:nvPr>
              <p:custDataLst>
                <p:tags r:id="rId21"/>
              </p:custDataLst>
            </p:nvPr>
          </p:nvCxnSpPr>
          <p:spPr>
            <a:xfrm>
              <a:off x="682977" y="1930967"/>
              <a:ext cx="513537" cy="0"/>
            </a:xfrm>
            <a:prstGeom prst="line">
              <a:avLst/>
            </a:prstGeom>
            <a:ln w="38100">
              <a:solidFill>
                <a:srgbClr val="0326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>
            <p:custDataLst>
              <p:tags r:id="rId22"/>
            </p:custDataLst>
          </p:nvPr>
        </p:nvGrpSpPr>
        <p:grpSpPr>
          <a:xfrm>
            <a:off x="4529908" y="2163981"/>
            <a:ext cx="868428" cy="1067921"/>
            <a:chOff x="4422900" y="1773032"/>
            <a:chExt cx="868428" cy="1067921"/>
          </a:xfrm>
        </p:grpSpPr>
        <p:sp>
          <p:nvSpPr>
            <p:cNvPr id="31" name="椭圆 30"/>
            <p:cNvSpPr/>
            <p:nvPr>
              <p:custDataLst>
                <p:tags r:id="rId23"/>
              </p:custDataLst>
            </p:nvPr>
          </p:nvSpPr>
          <p:spPr>
            <a:xfrm flipH="1">
              <a:off x="4422900" y="1931077"/>
              <a:ext cx="868428" cy="8684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326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24"/>
              </p:custDataLst>
            </p:nvPr>
          </p:nvSpPr>
          <p:spPr>
            <a:xfrm>
              <a:off x="4546260" y="1773032"/>
              <a:ext cx="719327" cy="1067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326A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S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326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25"/>
            </p:custDataLst>
          </p:nvPr>
        </p:nvGrpSpPr>
        <p:grpSpPr>
          <a:xfrm>
            <a:off x="7007682" y="2111244"/>
            <a:ext cx="868428" cy="1079210"/>
            <a:chOff x="6900674" y="1720295"/>
            <a:chExt cx="868428" cy="1079210"/>
          </a:xfrm>
        </p:grpSpPr>
        <p:sp>
          <p:nvSpPr>
            <p:cNvPr id="34" name="椭圆 33"/>
            <p:cNvSpPr/>
            <p:nvPr>
              <p:custDataLst>
                <p:tags r:id="rId26"/>
              </p:custDataLst>
            </p:nvPr>
          </p:nvSpPr>
          <p:spPr>
            <a:xfrm flipH="1">
              <a:off x="6900674" y="1931077"/>
              <a:ext cx="868428" cy="8684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27"/>
              </p:custDataLst>
            </p:nvPr>
          </p:nvSpPr>
          <p:spPr>
            <a:xfrm>
              <a:off x="6961824" y="1720295"/>
              <a:ext cx="719327" cy="1067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FFA40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w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A40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28"/>
            </p:custDataLst>
          </p:nvPr>
        </p:nvGrpSpPr>
        <p:grpSpPr>
          <a:xfrm>
            <a:off x="4529908" y="4591999"/>
            <a:ext cx="868428" cy="1067921"/>
            <a:chOff x="4422900" y="4201050"/>
            <a:chExt cx="868428" cy="1067921"/>
          </a:xfrm>
        </p:grpSpPr>
        <p:sp>
          <p:nvSpPr>
            <p:cNvPr id="37" name="椭圆 36"/>
            <p:cNvSpPr/>
            <p:nvPr>
              <p:custDataLst>
                <p:tags r:id="rId29"/>
              </p:custDataLst>
            </p:nvPr>
          </p:nvSpPr>
          <p:spPr>
            <a:xfrm flipH="1">
              <a:off x="4422900" y="4400543"/>
              <a:ext cx="868428" cy="8684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30"/>
              </p:custDataLst>
            </p:nvPr>
          </p:nvSpPr>
          <p:spPr>
            <a:xfrm>
              <a:off x="4542281" y="4201050"/>
              <a:ext cx="719327" cy="1067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FFA40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o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A40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31"/>
            </p:custDataLst>
          </p:nvPr>
        </p:nvGrpSpPr>
        <p:grpSpPr>
          <a:xfrm>
            <a:off x="7007682" y="4680456"/>
            <a:ext cx="868428" cy="1067921"/>
            <a:chOff x="6900674" y="4289507"/>
            <a:chExt cx="868428" cy="1067921"/>
          </a:xfrm>
        </p:grpSpPr>
        <p:sp>
          <p:nvSpPr>
            <p:cNvPr id="40" name="椭圆 39"/>
            <p:cNvSpPr/>
            <p:nvPr>
              <p:custDataLst>
                <p:tags r:id="rId32"/>
              </p:custDataLst>
            </p:nvPr>
          </p:nvSpPr>
          <p:spPr>
            <a:xfrm flipH="1">
              <a:off x="6900674" y="4400543"/>
              <a:ext cx="868428" cy="8684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326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33"/>
              </p:custDataLst>
            </p:nvPr>
          </p:nvSpPr>
          <p:spPr>
            <a:xfrm>
              <a:off x="6996418" y="4289507"/>
              <a:ext cx="719327" cy="1067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326A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T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326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42" name="椭圆 41"/>
          <p:cNvSpPr/>
          <p:nvPr>
            <p:custDataLst>
              <p:tags r:id="rId34"/>
            </p:custDataLst>
          </p:nvPr>
        </p:nvSpPr>
        <p:spPr>
          <a:xfrm>
            <a:off x="5387762" y="3182420"/>
            <a:ext cx="1627713" cy="1627713"/>
          </a:xfrm>
          <a:prstGeom prst="ellipse">
            <a:avLst/>
          </a:prstGeom>
          <a:pattFill prst="dkUpDiag">
            <a:fgClr>
              <a:schemeClr val="bg1"/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43" name="small-sharp-pencil_16463"/>
          <p:cNvSpPr>
            <a:spLocks noChangeAspect="1"/>
          </p:cNvSpPr>
          <p:nvPr>
            <p:custDataLst>
              <p:tags r:id="rId35"/>
            </p:custDataLst>
          </p:nvPr>
        </p:nvSpPr>
        <p:spPr bwMode="auto">
          <a:xfrm>
            <a:off x="5839748" y="3590401"/>
            <a:ext cx="790224" cy="804464"/>
          </a:xfrm>
          <a:custGeom>
            <a:avLst/>
            <a:gdLst>
              <a:gd name="connsiteX0" fmla="*/ 295041 w 590280"/>
              <a:gd name="connsiteY0" fmla="*/ 572408 h 600916"/>
              <a:gd name="connsiteX1" fmla="*/ 350237 w 590280"/>
              <a:gd name="connsiteY1" fmla="*/ 573002 h 600916"/>
              <a:gd name="connsiteX2" fmla="*/ 403447 w 590280"/>
              <a:gd name="connsiteY2" fmla="*/ 574190 h 600916"/>
              <a:gd name="connsiteX3" fmla="*/ 497956 w 590280"/>
              <a:gd name="connsiteY3" fmla="*/ 578545 h 600916"/>
              <a:gd name="connsiteX4" fmla="*/ 590280 w 590280"/>
              <a:gd name="connsiteY4" fmla="*/ 586662 h 600916"/>
              <a:gd name="connsiteX5" fmla="*/ 497956 w 590280"/>
              <a:gd name="connsiteY5" fmla="*/ 594779 h 600916"/>
              <a:gd name="connsiteX6" fmla="*/ 403447 w 590280"/>
              <a:gd name="connsiteY6" fmla="*/ 599134 h 600916"/>
              <a:gd name="connsiteX7" fmla="*/ 350237 w 590280"/>
              <a:gd name="connsiteY7" fmla="*/ 600322 h 600916"/>
              <a:gd name="connsiteX8" fmla="*/ 295041 w 590280"/>
              <a:gd name="connsiteY8" fmla="*/ 600916 h 600916"/>
              <a:gd name="connsiteX9" fmla="*/ 240043 w 590280"/>
              <a:gd name="connsiteY9" fmla="*/ 600322 h 600916"/>
              <a:gd name="connsiteX10" fmla="*/ 186634 w 590280"/>
              <a:gd name="connsiteY10" fmla="*/ 599134 h 600916"/>
              <a:gd name="connsiteX11" fmla="*/ 92126 w 590280"/>
              <a:gd name="connsiteY11" fmla="*/ 594779 h 600916"/>
              <a:gd name="connsiteX12" fmla="*/ 0 w 590280"/>
              <a:gd name="connsiteY12" fmla="*/ 586662 h 600916"/>
              <a:gd name="connsiteX13" fmla="*/ 92126 w 590280"/>
              <a:gd name="connsiteY13" fmla="*/ 578545 h 600916"/>
              <a:gd name="connsiteX14" fmla="*/ 186634 w 590280"/>
              <a:gd name="connsiteY14" fmla="*/ 574190 h 600916"/>
              <a:gd name="connsiteX15" fmla="*/ 240043 w 590280"/>
              <a:gd name="connsiteY15" fmla="*/ 573002 h 600916"/>
              <a:gd name="connsiteX16" fmla="*/ 295041 w 590280"/>
              <a:gd name="connsiteY16" fmla="*/ 572408 h 600916"/>
              <a:gd name="connsiteX17" fmla="*/ 535091 w 590280"/>
              <a:gd name="connsiteY17" fmla="*/ 487517 h 600916"/>
              <a:gd name="connsiteX18" fmla="*/ 584352 w 590280"/>
              <a:gd name="connsiteY18" fmla="*/ 580734 h 600916"/>
              <a:gd name="connsiteX19" fmla="*/ 490994 w 590280"/>
              <a:gd name="connsiteY19" fmla="*/ 531547 h 600916"/>
              <a:gd name="connsiteX20" fmla="*/ 243214 w 590280"/>
              <a:gd name="connsiteY20" fmla="*/ 67371 h 600916"/>
              <a:gd name="connsiteX21" fmla="*/ 446918 w 590280"/>
              <a:gd name="connsiteY21" fmla="*/ 270623 h 600916"/>
              <a:gd name="connsiteX22" fmla="*/ 522960 w 590280"/>
              <a:gd name="connsiteY22" fmla="*/ 459003 h 600916"/>
              <a:gd name="connsiteX23" fmla="*/ 462405 w 590280"/>
              <a:gd name="connsiteY23" fmla="*/ 519483 h 600916"/>
              <a:gd name="connsiteX24" fmla="*/ 273789 w 590280"/>
              <a:gd name="connsiteY24" fmla="*/ 443536 h 600916"/>
              <a:gd name="connsiteX25" fmla="*/ 70283 w 590280"/>
              <a:gd name="connsiteY25" fmla="*/ 240085 h 600916"/>
              <a:gd name="connsiteX26" fmla="*/ 125633 w 590280"/>
              <a:gd name="connsiteY26" fmla="*/ 437 h 600916"/>
              <a:gd name="connsiteX27" fmla="*/ 222987 w 590280"/>
              <a:gd name="connsiteY27" fmla="*/ 46960 h 600916"/>
              <a:gd name="connsiteX28" fmla="*/ 49825 w 590280"/>
              <a:gd name="connsiteY28" fmla="*/ 219863 h 600916"/>
              <a:gd name="connsiteX29" fmla="*/ 34534 w 590280"/>
              <a:gd name="connsiteY29" fmla="*/ 31692 h 600916"/>
              <a:gd name="connsiteX30" fmla="*/ 125633 w 590280"/>
              <a:gd name="connsiteY30" fmla="*/ 437 h 60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90280" h="600916">
                <a:moveTo>
                  <a:pt x="295041" y="572408"/>
                </a:moveTo>
                <a:cubicBezTo>
                  <a:pt x="313506" y="572606"/>
                  <a:pt x="331970" y="572804"/>
                  <a:pt x="350237" y="573002"/>
                </a:cubicBezTo>
                <a:cubicBezTo>
                  <a:pt x="368305" y="573002"/>
                  <a:pt x="386174" y="573794"/>
                  <a:pt x="403447" y="574190"/>
                </a:cubicBezTo>
                <a:cubicBezTo>
                  <a:pt x="437995" y="575180"/>
                  <a:pt x="470358" y="576764"/>
                  <a:pt x="497956" y="578545"/>
                </a:cubicBezTo>
                <a:cubicBezTo>
                  <a:pt x="553350" y="581911"/>
                  <a:pt x="590280" y="586662"/>
                  <a:pt x="590280" y="586662"/>
                </a:cubicBezTo>
                <a:cubicBezTo>
                  <a:pt x="590280" y="586662"/>
                  <a:pt x="553350" y="591414"/>
                  <a:pt x="497956" y="594779"/>
                </a:cubicBezTo>
                <a:cubicBezTo>
                  <a:pt x="470358" y="596561"/>
                  <a:pt x="437995" y="598145"/>
                  <a:pt x="403447" y="599134"/>
                </a:cubicBezTo>
                <a:cubicBezTo>
                  <a:pt x="386174" y="599530"/>
                  <a:pt x="368305" y="600322"/>
                  <a:pt x="350237" y="600322"/>
                </a:cubicBezTo>
                <a:cubicBezTo>
                  <a:pt x="331970" y="600520"/>
                  <a:pt x="313506" y="600718"/>
                  <a:pt x="295041" y="600916"/>
                </a:cubicBezTo>
                <a:cubicBezTo>
                  <a:pt x="276576" y="600718"/>
                  <a:pt x="258111" y="600520"/>
                  <a:pt x="240043" y="600322"/>
                </a:cubicBezTo>
                <a:cubicBezTo>
                  <a:pt x="221777" y="600322"/>
                  <a:pt x="203908" y="599530"/>
                  <a:pt x="186634" y="599134"/>
                </a:cubicBezTo>
                <a:cubicBezTo>
                  <a:pt x="152087" y="598145"/>
                  <a:pt x="119922" y="596561"/>
                  <a:pt x="92126" y="594779"/>
                </a:cubicBezTo>
                <a:cubicBezTo>
                  <a:pt x="36731" y="591414"/>
                  <a:pt x="0" y="586662"/>
                  <a:pt x="0" y="586662"/>
                </a:cubicBezTo>
                <a:cubicBezTo>
                  <a:pt x="0" y="586662"/>
                  <a:pt x="36731" y="581911"/>
                  <a:pt x="92126" y="578545"/>
                </a:cubicBezTo>
                <a:cubicBezTo>
                  <a:pt x="119724" y="576764"/>
                  <a:pt x="152087" y="575180"/>
                  <a:pt x="186634" y="574190"/>
                </a:cubicBezTo>
                <a:cubicBezTo>
                  <a:pt x="203908" y="573794"/>
                  <a:pt x="221777" y="573002"/>
                  <a:pt x="240043" y="573002"/>
                </a:cubicBezTo>
                <a:cubicBezTo>
                  <a:pt x="258111" y="572804"/>
                  <a:pt x="276576" y="572606"/>
                  <a:pt x="295041" y="572408"/>
                </a:cubicBezTo>
                <a:close/>
                <a:moveTo>
                  <a:pt x="535091" y="487517"/>
                </a:moveTo>
                <a:lnTo>
                  <a:pt x="584352" y="580734"/>
                </a:lnTo>
                <a:lnTo>
                  <a:pt x="490994" y="531547"/>
                </a:lnTo>
                <a:close/>
                <a:moveTo>
                  <a:pt x="243214" y="67371"/>
                </a:moveTo>
                <a:lnTo>
                  <a:pt x="446918" y="270623"/>
                </a:lnTo>
                <a:lnTo>
                  <a:pt x="522960" y="459003"/>
                </a:lnTo>
                <a:lnTo>
                  <a:pt x="462405" y="519483"/>
                </a:lnTo>
                <a:lnTo>
                  <a:pt x="273789" y="443536"/>
                </a:lnTo>
                <a:lnTo>
                  <a:pt x="70283" y="240085"/>
                </a:lnTo>
                <a:close/>
                <a:moveTo>
                  <a:pt x="125633" y="437"/>
                </a:moveTo>
                <a:cubicBezTo>
                  <a:pt x="159739" y="3189"/>
                  <a:pt x="194888" y="18903"/>
                  <a:pt x="222987" y="46960"/>
                </a:cubicBezTo>
                <a:lnTo>
                  <a:pt x="49825" y="219863"/>
                </a:lnTo>
                <a:cubicBezTo>
                  <a:pt x="-6373" y="163749"/>
                  <a:pt x="-13125" y="79478"/>
                  <a:pt x="34534" y="31692"/>
                </a:cubicBezTo>
                <a:cubicBezTo>
                  <a:pt x="58463" y="7898"/>
                  <a:pt x="91527" y="-2314"/>
                  <a:pt x="125633" y="437"/>
                </a:cubicBezTo>
                <a:close/>
              </a:path>
            </a:pathLst>
          </a:custGeom>
          <a:solidFill>
            <a:srgbClr val="0326A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/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" name="文本占位符 3"/>
            <p:cNvSpPr txBox="1"/>
            <p:nvPr/>
          </p:nvSpPr>
          <p:spPr>
            <a:xfrm>
              <a:off x="-60999" y="310755"/>
              <a:ext cx="3090545" cy="605790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未来展望与建议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8" name="矩形: 圆角 7"/>
          <p:cNvSpPr/>
          <p:nvPr>
            <p:custDataLst>
              <p:tags r:id="rId3"/>
            </p:custDataLst>
          </p:nvPr>
        </p:nvSpPr>
        <p:spPr>
          <a:xfrm>
            <a:off x="1248513" y="1850302"/>
            <a:ext cx="628424" cy="628424"/>
          </a:xfrm>
          <a:prstGeom prst="roundRect">
            <a:avLst/>
          </a:prstGeom>
          <a:solidFill>
            <a:srgbClr val="032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2080219" y="1641294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深化全球化布局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2080219" y="2144939"/>
            <a:ext cx="4179489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将全球化布局向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区域化生产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本地化服务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深化。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: 圆角 10"/>
          <p:cNvSpPr/>
          <p:nvPr>
            <p:custDataLst>
              <p:tags r:id="rId6"/>
            </p:custDataLst>
          </p:nvPr>
        </p:nvSpPr>
        <p:spPr>
          <a:xfrm>
            <a:off x="1248513" y="3468711"/>
            <a:ext cx="628424" cy="628424"/>
          </a:xfrm>
          <a:prstGeom prst="roundRect">
            <a:avLst/>
          </a:prstGeom>
          <a:solidFill>
            <a:srgbClr val="032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2080219" y="3259703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技术路线多元化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2080219" y="3763348"/>
            <a:ext cx="4179489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中国企业需加强技术储备，通过高研发投入和开放式创新确保竞争力。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: 圆角 13"/>
          <p:cNvSpPr/>
          <p:nvPr>
            <p:custDataLst>
              <p:tags r:id="rId9"/>
            </p:custDataLst>
          </p:nvPr>
        </p:nvSpPr>
        <p:spPr>
          <a:xfrm>
            <a:off x="1248513" y="5087120"/>
            <a:ext cx="628424" cy="628424"/>
          </a:xfrm>
          <a:prstGeom prst="roundRect">
            <a:avLst/>
          </a:prstGeom>
          <a:solidFill>
            <a:srgbClr val="032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2080219" y="4878112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商业模式创新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2080219" y="5381757"/>
            <a:ext cx="4179489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因传统电池销售模式利润下滑，企业转向新业态</a:t>
            </a:r>
            <a:r>
              <a:rPr kumimoji="0" 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以拓展服务端价值。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矩形: 圆角 16"/>
          <p:cNvSpPr/>
          <p:nvPr>
            <p:custDataLst>
              <p:tags r:id="rId12"/>
            </p:custDataLst>
          </p:nvPr>
        </p:nvSpPr>
        <p:spPr>
          <a:xfrm>
            <a:off x="6845445" y="1850302"/>
            <a:ext cx="628424" cy="62842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7677151" y="1641294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产业链协同出海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矩形: 圆角 18"/>
          <p:cNvSpPr/>
          <p:nvPr>
            <p:custDataLst>
              <p:tags r:id="rId14"/>
            </p:custDataLst>
          </p:nvPr>
        </p:nvSpPr>
        <p:spPr>
          <a:xfrm>
            <a:off x="6845445" y="3468711"/>
            <a:ext cx="628424" cy="62842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7677150" y="3259455"/>
            <a:ext cx="31426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主动应对国际规则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" name="矩形: 圆角 20"/>
          <p:cNvSpPr/>
          <p:nvPr>
            <p:custDataLst>
              <p:tags r:id="rId16"/>
            </p:custDataLst>
          </p:nvPr>
        </p:nvSpPr>
        <p:spPr>
          <a:xfrm>
            <a:off x="6845445" y="5087120"/>
            <a:ext cx="628424" cy="62842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7677151" y="4878112"/>
            <a:ext cx="27620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开拓新兴市场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school-presentation_73437"/>
          <p:cNvSpPr>
            <a:spLocks noChangeAspect="1"/>
          </p:cNvSpPr>
          <p:nvPr>
            <p:custDataLst>
              <p:tags r:id="rId18"/>
            </p:custDataLst>
          </p:nvPr>
        </p:nvSpPr>
        <p:spPr bwMode="auto">
          <a:xfrm>
            <a:off x="6978326" y="3598440"/>
            <a:ext cx="362662" cy="368966"/>
          </a:xfrm>
          <a:custGeom>
            <a:avLst/>
            <a:gdLst>
              <a:gd name="T0" fmla="*/ 1387 w 2543"/>
              <a:gd name="T1" fmla="*/ 1042 h 2591"/>
              <a:gd name="T2" fmla="*/ 1406 w 2543"/>
              <a:gd name="T3" fmla="*/ 962 h 2591"/>
              <a:gd name="T4" fmla="*/ 1484 w 2543"/>
              <a:gd name="T5" fmla="*/ 978 h 2591"/>
              <a:gd name="T6" fmla="*/ 2367 w 2543"/>
              <a:gd name="T7" fmla="*/ 2324 h 2591"/>
              <a:gd name="T8" fmla="*/ 2315 w 2543"/>
              <a:gd name="T9" fmla="*/ 2378 h 2591"/>
              <a:gd name="T10" fmla="*/ 2236 w 2543"/>
              <a:gd name="T11" fmla="*/ 2361 h 2591"/>
              <a:gd name="T12" fmla="*/ 2543 w 2543"/>
              <a:gd name="T13" fmla="*/ 262 h 2591"/>
              <a:gd name="T14" fmla="*/ 2409 w 2543"/>
              <a:gd name="T15" fmla="*/ 329 h 2591"/>
              <a:gd name="T16" fmla="*/ 2370 w 2543"/>
              <a:gd name="T17" fmla="*/ 2058 h 2591"/>
              <a:gd name="T18" fmla="*/ 1935 w 2543"/>
              <a:gd name="T19" fmla="*/ 1301 h 2591"/>
              <a:gd name="T20" fmla="*/ 1935 w 2543"/>
              <a:gd name="T21" fmla="*/ 1168 h 2591"/>
              <a:gd name="T22" fmla="*/ 1595 w 2543"/>
              <a:gd name="T23" fmla="*/ 904 h 2591"/>
              <a:gd name="T24" fmla="*/ 1333 w 2543"/>
              <a:gd name="T25" fmla="*/ 851 h 2591"/>
              <a:gd name="T26" fmla="*/ 1275 w 2543"/>
              <a:gd name="T27" fmla="*/ 1114 h 2591"/>
              <a:gd name="T28" fmla="*/ 584 w 2543"/>
              <a:gd name="T29" fmla="*/ 1168 h 2591"/>
              <a:gd name="T30" fmla="*/ 584 w 2543"/>
              <a:gd name="T31" fmla="*/ 1301 h 2591"/>
              <a:gd name="T32" fmla="*/ 1887 w 2543"/>
              <a:gd name="T33" fmla="*/ 2064 h 2591"/>
              <a:gd name="T34" fmla="*/ 1338 w 2543"/>
              <a:gd name="T35" fmla="*/ 2216 h 2591"/>
              <a:gd name="T36" fmla="*/ 1271 w 2543"/>
              <a:gd name="T37" fmla="*/ 2591 h 2591"/>
              <a:gd name="T38" fmla="*/ 1205 w 2543"/>
              <a:gd name="T39" fmla="*/ 2216 h 2591"/>
              <a:gd name="T40" fmla="*/ 200 w 2543"/>
              <a:gd name="T41" fmla="*/ 2064 h 2591"/>
              <a:gd name="T42" fmla="*/ 134 w 2543"/>
              <a:gd name="T43" fmla="*/ 329 h 2591"/>
              <a:gd name="T44" fmla="*/ 0 w 2543"/>
              <a:gd name="T45" fmla="*/ 262 h 2591"/>
              <a:gd name="T46" fmla="*/ 67 w 2543"/>
              <a:gd name="T47" fmla="*/ 0 h 2591"/>
              <a:gd name="T48" fmla="*/ 2543 w 2543"/>
              <a:gd name="T49" fmla="*/ 67 h 2591"/>
              <a:gd name="T50" fmla="*/ 1271 w 2543"/>
              <a:gd name="T51" fmla="*/ 2458 h 2591"/>
              <a:gd name="T52" fmla="*/ 1271 w 2543"/>
              <a:gd name="T53" fmla="*/ 2338 h 2591"/>
              <a:gd name="T54" fmla="*/ 2002 w 2543"/>
              <a:gd name="T55" fmla="*/ 692 h 2591"/>
              <a:gd name="T56" fmla="*/ 584 w 2543"/>
              <a:gd name="T57" fmla="*/ 625 h 2591"/>
              <a:gd name="T58" fmla="*/ 584 w 2543"/>
              <a:gd name="T59" fmla="*/ 758 h 2591"/>
              <a:gd name="T60" fmla="*/ 2002 w 2543"/>
              <a:gd name="T61" fmla="*/ 692 h 2591"/>
              <a:gd name="T62" fmla="*/ 134 w 2543"/>
              <a:gd name="T63" fmla="*/ 133 h 2591"/>
              <a:gd name="T64" fmla="*/ 200 w 2543"/>
              <a:gd name="T65" fmla="*/ 196 h 2591"/>
              <a:gd name="T66" fmla="*/ 2409 w 2543"/>
              <a:gd name="T67" fmla="*/ 196 h 25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43" h="2591">
                <a:moveTo>
                  <a:pt x="2236" y="2361"/>
                </a:moveTo>
                <a:lnTo>
                  <a:pt x="1387" y="1042"/>
                </a:lnTo>
                <a:cubicBezTo>
                  <a:pt x="1370" y="1016"/>
                  <a:pt x="1378" y="981"/>
                  <a:pt x="1404" y="964"/>
                </a:cubicBezTo>
                <a:lnTo>
                  <a:pt x="1406" y="962"/>
                </a:lnTo>
                <a:cubicBezTo>
                  <a:pt x="1415" y="956"/>
                  <a:pt x="1426" y="953"/>
                  <a:pt x="1437" y="953"/>
                </a:cubicBezTo>
                <a:cubicBezTo>
                  <a:pt x="1456" y="953"/>
                  <a:pt x="1474" y="963"/>
                  <a:pt x="1484" y="978"/>
                </a:cubicBezTo>
                <a:lnTo>
                  <a:pt x="2359" y="2281"/>
                </a:lnTo>
                <a:cubicBezTo>
                  <a:pt x="2367" y="2293"/>
                  <a:pt x="2370" y="2309"/>
                  <a:pt x="2367" y="2324"/>
                </a:cubicBezTo>
                <a:cubicBezTo>
                  <a:pt x="2364" y="2339"/>
                  <a:pt x="2355" y="2351"/>
                  <a:pt x="2343" y="2360"/>
                </a:cubicBezTo>
                <a:lnTo>
                  <a:pt x="2315" y="2378"/>
                </a:lnTo>
                <a:cubicBezTo>
                  <a:pt x="2306" y="2384"/>
                  <a:pt x="2295" y="2387"/>
                  <a:pt x="2284" y="2387"/>
                </a:cubicBezTo>
                <a:cubicBezTo>
                  <a:pt x="2265" y="2387"/>
                  <a:pt x="2247" y="2378"/>
                  <a:pt x="2236" y="2361"/>
                </a:cubicBezTo>
                <a:close/>
                <a:moveTo>
                  <a:pt x="2543" y="67"/>
                </a:moveTo>
                <a:lnTo>
                  <a:pt x="2543" y="262"/>
                </a:lnTo>
                <a:cubicBezTo>
                  <a:pt x="2543" y="299"/>
                  <a:pt x="2513" y="329"/>
                  <a:pt x="2476" y="329"/>
                </a:cubicBezTo>
                <a:lnTo>
                  <a:pt x="2409" y="329"/>
                </a:lnTo>
                <a:lnTo>
                  <a:pt x="2409" y="1998"/>
                </a:lnTo>
                <a:cubicBezTo>
                  <a:pt x="2409" y="2025"/>
                  <a:pt x="2393" y="2048"/>
                  <a:pt x="2370" y="2058"/>
                </a:cubicBezTo>
                <a:lnTo>
                  <a:pt x="1862" y="1301"/>
                </a:lnTo>
                <a:lnTo>
                  <a:pt x="1935" y="1301"/>
                </a:lnTo>
                <a:cubicBezTo>
                  <a:pt x="1972" y="1301"/>
                  <a:pt x="2002" y="1271"/>
                  <a:pt x="2002" y="1234"/>
                </a:cubicBezTo>
                <a:cubicBezTo>
                  <a:pt x="2002" y="1198"/>
                  <a:pt x="1972" y="1168"/>
                  <a:pt x="1935" y="1168"/>
                </a:cubicBezTo>
                <a:lnTo>
                  <a:pt x="1772" y="1168"/>
                </a:lnTo>
                <a:lnTo>
                  <a:pt x="1595" y="904"/>
                </a:lnTo>
                <a:cubicBezTo>
                  <a:pt x="1560" y="851"/>
                  <a:pt x="1501" y="820"/>
                  <a:pt x="1437" y="820"/>
                </a:cubicBezTo>
                <a:cubicBezTo>
                  <a:pt x="1400" y="820"/>
                  <a:pt x="1364" y="831"/>
                  <a:pt x="1333" y="851"/>
                </a:cubicBezTo>
                <a:lnTo>
                  <a:pt x="1331" y="852"/>
                </a:lnTo>
                <a:cubicBezTo>
                  <a:pt x="1244" y="909"/>
                  <a:pt x="1219" y="1027"/>
                  <a:pt x="1275" y="1114"/>
                </a:cubicBezTo>
                <a:lnTo>
                  <a:pt x="1310" y="1168"/>
                </a:lnTo>
                <a:lnTo>
                  <a:pt x="584" y="1168"/>
                </a:lnTo>
                <a:cubicBezTo>
                  <a:pt x="547" y="1168"/>
                  <a:pt x="517" y="1198"/>
                  <a:pt x="517" y="1234"/>
                </a:cubicBezTo>
                <a:cubicBezTo>
                  <a:pt x="517" y="1271"/>
                  <a:pt x="547" y="1301"/>
                  <a:pt x="584" y="1301"/>
                </a:cubicBezTo>
                <a:lnTo>
                  <a:pt x="1395" y="1301"/>
                </a:lnTo>
                <a:lnTo>
                  <a:pt x="1887" y="2064"/>
                </a:lnTo>
                <a:lnTo>
                  <a:pt x="1338" y="2064"/>
                </a:lnTo>
                <a:lnTo>
                  <a:pt x="1338" y="2216"/>
                </a:lnTo>
                <a:cubicBezTo>
                  <a:pt x="1412" y="2244"/>
                  <a:pt x="1465" y="2314"/>
                  <a:pt x="1465" y="2398"/>
                </a:cubicBezTo>
                <a:cubicBezTo>
                  <a:pt x="1465" y="2504"/>
                  <a:pt x="1378" y="2591"/>
                  <a:pt x="1271" y="2591"/>
                </a:cubicBezTo>
                <a:cubicBezTo>
                  <a:pt x="1165" y="2591"/>
                  <a:pt x="1078" y="2504"/>
                  <a:pt x="1078" y="2398"/>
                </a:cubicBezTo>
                <a:cubicBezTo>
                  <a:pt x="1078" y="2314"/>
                  <a:pt x="1131" y="2244"/>
                  <a:pt x="1205" y="2216"/>
                </a:cubicBezTo>
                <a:lnTo>
                  <a:pt x="1205" y="2064"/>
                </a:lnTo>
                <a:lnTo>
                  <a:pt x="200" y="2064"/>
                </a:lnTo>
                <a:cubicBezTo>
                  <a:pt x="164" y="2064"/>
                  <a:pt x="134" y="2034"/>
                  <a:pt x="134" y="1998"/>
                </a:cubicBezTo>
                <a:lnTo>
                  <a:pt x="134" y="329"/>
                </a:lnTo>
                <a:lnTo>
                  <a:pt x="67" y="329"/>
                </a:lnTo>
                <a:cubicBezTo>
                  <a:pt x="30" y="329"/>
                  <a:pt x="0" y="299"/>
                  <a:pt x="0" y="262"/>
                </a:cubicBezTo>
                <a:lnTo>
                  <a:pt x="0" y="67"/>
                </a:lnTo>
                <a:cubicBezTo>
                  <a:pt x="0" y="30"/>
                  <a:pt x="30" y="0"/>
                  <a:pt x="67" y="0"/>
                </a:cubicBezTo>
                <a:lnTo>
                  <a:pt x="2476" y="0"/>
                </a:lnTo>
                <a:cubicBezTo>
                  <a:pt x="2513" y="0"/>
                  <a:pt x="2543" y="30"/>
                  <a:pt x="2543" y="67"/>
                </a:cubicBezTo>
                <a:close/>
                <a:moveTo>
                  <a:pt x="1211" y="2398"/>
                </a:moveTo>
                <a:cubicBezTo>
                  <a:pt x="1211" y="2431"/>
                  <a:pt x="1238" y="2458"/>
                  <a:pt x="1271" y="2458"/>
                </a:cubicBezTo>
                <a:cubicBezTo>
                  <a:pt x="1305" y="2458"/>
                  <a:pt x="1331" y="2431"/>
                  <a:pt x="1331" y="2398"/>
                </a:cubicBezTo>
                <a:cubicBezTo>
                  <a:pt x="1331" y="2364"/>
                  <a:pt x="1305" y="2338"/>
                  <a:pt x="1271" y="2338"/>
                </a:cubicBezTo>
                <a:cubicBezTo>
                  <a:pt x="1238" y="2338"/>
                  <a:pt x="1211" y="2364"/>
                  <a:pt x="1211" y="2398"/>
                </a:cubicBezTo>
                <a:close/>
                <a:moveTo>
                  <a:pt x="2002" y="692"/>
                </a:moveTo>
                <a:cubicBezTo>
                  <a:pt x="2002" y="655"/>
                  <a:pt x="1972" y="625"/>
                  <a:pt x="1935" y="625"/>
                </a:cubicBezTo>
                <a:lnTo>
                  <a:pt x="584" y="625"/>
                </a:lnTo>
                <a:cubicBezTo>
                  <a:pt x="547" y="625"/>
                  <a:pt x="517" y="655"/>
                  <a:pt x="517" y="692"/>
                </a:cubicBezTo>
                <a:cubicBezTo>
                  <a:pt x="517" y="729"/>
                  <a:pt x="547" y="758"/>
                  <a:pt x="584" y="758"/>
                </a:cubicBezTo>
                <a:lnTo>
                  <a:pt x="1935" y="758"/>
                </a:lnTo>
                <a:cubicBezTo>
                  <a:pt x="1972" y="758"/>
                  <a:pt x="2002" y="729"/>
                  <a:pt x="2002" y="692"/>
                </a:cubicBezTo>
                <a:close/>
                <a:moveTo>
                  <a:pt x="2409" y="133"/>
                </a:moveTo>
                <a:lnTo>
                  <a:pt x="134" y="133"/>
                </a:lnTo>
                <a:lnTo>
                  <a:pt x="134" y="196"/>
                </a:lnTo>
                <a:lnTo>
                  <a:pt x="200" y="196"/>
                </a:lnTo>
                <a:lnTo>
                  <a:pt x="2343" y="196"/>
                </a:lnTo>
                <a:lnTo>
                  <a:pt x="2409" y="196"/>
                </a:lnTo>
                <a:lnTo>
                  <a:pt x="2409" y="1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4" name="writing_122117"/>
          <p:cNvSpPr>
            <a:spLocks noChangeAspect="1"/>
          </p:cNvSpPr>
          <p:nvPr>
            <p:custDataLst>
              <p:tags r:id="rId19"/>
            </p:custDataLst>
          </p:nvPr>
        </p:nvSpPr>
        <p:spPr bwMode="auto">
          <a:xfrm>
            <a:off x="1352267" y="3572785"/>
            <a:ext cx="420916" cy="420276"/>
          </a:xfrm>
          <a:custGeom>
            <a:avLst/>
            <a:gdLst>
              <a:gd name="connsiteX0" fmla="*/ 45797 w 605028"/>
              <a:gd name="connsiteY0" fmla="*/ 445126 h 604110"/>
              <a:gd name="connsiteX1" fmla="*/ 159266 w 605028"/>
              <a:gd name="connsiteY1" fmla="*/ 558313 h 604110"/>
              <a:gd name="connsiteX2" fmla="*/ 0 w 605028"/>
              <a:gd name="connsiteY2" fmla="*/ 604110 h 604110"/>
              <a:gd name="connsiteX3" fmla="*/ 460648 w 605028"/>
              <a:gd name="connsiteY3" fmla="*/ 330740 h 604110"/>
              <a:gd name="connsiteX4" fmla="*/ 504033 w 605028"/>
              <a:gd name="connsiteY4" fmla="*/ 374171 h 604110"/>
              <a:gd name="connsiteX5" fmla="*/ 441749 w 605028"/>
              <a:gd name="connsiteY5" fmla="*/ 436273 h 604110"/>
              <a:gd name="connsiteX6" fmla="*/ 470504 w 605028"/>
              <a:gd name="connsiteY6" fmla="*/ 464990 h 604110"/>
              <a:gd name="connsiteX7" fmla="*/ 532787 w 605028"/>
              <a:gd name="connsiteY7" fmla="*/ 402786 h 604110"/>
              <a:gd name="connsiteX8" fmla="*/ 605028 w 605028"/>
              <a:gd name="connsiteY8" fmla="*/ 474934 h 604110"/>
              <a:gd name="connsiteX9" fmla="*/ 475685 w 605028"/>
              <a:gd name="connsiteY9" fmla="*/ 604110 h 604110"/>
              <a:gd name="connsiteX10" fmla="*/ 331305 w 605028"/>
              <a:gd name="connsiteY10" fmla="*/ 459916 h 604110"/>
              <a:gd name="connsiteX11" fmla="*/ 354026 w 605028"/>
              <a:gd name="connsiteY11" fmla="*/ 121443 h 604110"/>
              <a:gd name="connsiteX12" fmla="*/ 483302 w 605028"/>
              <a:gd name="connsiteY12" fmla="*/ 250578 h 604110"/>
              <a:gd name="connsiteX13" fmla="*/ 195889 w 605028"/>
              <a:gd name="connsiteY13" fmla="*/ 537637 h 604110"/>
              <a:gd name="connsiteX14" fmla="*/ 66543 w 605028"/>
              <a:gd name="connsiteY14" fmla="*/ 408503 h 604110"/>
              <a:gd name="connsiteX15" fmla="*/ 475681 w 605028"/>
              <a:gd name="connsiteY15" fmla="*/ 0 h 604110"/>
              <a:gd name="connsiteX16" fmla="*/ 605028 w 605028"/>
              <a:gd name="connsiteY16" fmla="*/ 129134 h 604110"/>
              <a:gd name="connsiteX17" fmla="*/ 512093 w 605028"/>
              <a:gd name="connsiteY17" fmla="*/ 221857 h 604110"/>
              <a:gd name="connsiteX18" fmla="*/ 382817 w 605028"/>
              <a:gd name="connsiteY18" fmla="*/ 92864 h 604110"/>
              <a:gd name="connsiteX19" fmla="*/ 129376 w 605028"/>
              <a:gd name="connsiteY19" fmla="*/ 0 h 604110"/>
              <a:gd name="connsiteX20" fmla="*/ 201636 w 605028"/>
              <a:gd name="connsiteY20" fmla="*/ 72129 h 604110"/>
              <a:gd name="connsiteX21" fmla="*/ 139336 w 605028"/>
              <a:gd name="connsiteY21" fmla="*/ 134317 h 604110"/>
              <a:gd name="connsiteX22" fmla="*/ 168098 w 605028"/>
              <a:gd name="connsiteY22" fmla="*/ 162925 h 604110"/>
              <a:gd name="connsiteX23" fmla="*/ 230296 w 605028"/>
              <a:gd name="connsiteY23" fmla="*/ 100839 h 604110"/>
              <a:gd name="connsiteX24" fmla="*/ 273794 w 605028"/>
              <a:gd name="connsiteY24" fmla="*/ 144157 h 604110"/>
              <a:gd name="connsiteX25" fmla="*/ 144418 w 605028"/>
              <a:gd name="connsiteY25" fmla="*/ 273300 h 604110"/>
              <a:gd name="connsiteX26" fmla="*/ 0 w 605028"/>
              <a:gd name="connsiteY26" fmla="*/ 129143 h 6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5028" h="604110">
                <a:moveTo>
                  <a:pt x="45797" y="445126"/>
                </a:moveTo>
                <a:lnTo>
                  <a:pt x="159266" y="558313"/>
                </a:lnTo>
                <a:lnTo>
                  <a:pt x="0" y="604110"/>
                </a:lnTo>
                <a:close/>
                <a:moveTo>
                  <a:pt x="460648" y="330740"/>
                </a:moveTo>
                <a:lnTo>
                  <a:pt x="504033" y="374171"/>
                </a:lnTo>
                <a:lnTo>
                  <a:pt x="441749" y="436273"/>
                </a:lnTo>
                <a:lnTo>
                  <a:pt x="470504" y="464990"/>
                </a:lnTo>
                <a:lnTo>
                  <a:pt x="532787" y="402786"/>
                </a:lnTo>
                <a:lnTo>
                  <a:pt x="605028" y="474934"/>
                </a:lnTo>
                <a:lnTo>
                  <a:pt x="475685" y="604110"/>
                </a:lnTo>
                <a:lnTo>
                  <a:pt x="331305" y="459916"/>
                </a:lnTo>
                <a:close/>
                <a:moveTo>
                  <a:pt x="354026" y="121443"/>
                </a:moveTo>
                <a:lnTo>
                  <a:pt x="483302" y="250578"/>
                </a:lnTo>
                <a:lnTo>
                  <a:pt x="195889" y="537637"/>
                </a:lnTo>
                <a:lnTo>
                  <a:pt x="66543" y="408503"/>
                </a:lnTo>
                <a:close/>
                <a:moveTo>
                  <a:pt x="475681" y="0"/>
                </a:moveTo>
                <a:lnTo>
                  <a:pt x="605028" y="129134"/>
                </a:lnTo>
                <a:lnTo>
                  <a:pt x="512093" y="221857"/>
                </a:lnTo>
                <a:lnTo>
                  <a:pt x="382817" y="92864"/>
                </a:lnTo>
                <a:close/>
                <a:moveTo>
                  <a:pt x="129376" y="0"/>
                </a:moveTo>
                <a:lnTo>
                  <a:pt x="201636" y="72129"/>
                </a:lnTo>
                <a:lnTo>
                  <a:pt x="139336" y="134317"/>
                </a:lnTo>
                <a:lnTo>
                  <a:pt x="168098" y="162925"/>
                </a:lnTo>
                <a:lnTo>
                  <a:pt x="230296" y="100839"/>
                </a:lnTo>
                <a:lnTo>
                  <a:pt x="273794" y="144157"/>
                </a:lnTo>
                <a:lnTo>
                  <a:pt x="144418" y="273300"/>
                </a:lnTo>
                <a:lnTo>
                  <a:pt x="0" y="129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27" name="图形 26" descr="拼图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339910" y="1941699"/>
            <a:ext cx="445630" cy="445630"/>
          </a:xfrm>
          <a:prstGeom prst="rect">
            <a:avLst/>
          </a:prstGeom>
        </p:spPr>
      </p:pic>
      <p:pic>
        <p:nvPicPr>
          <p:cNvPr id="28" name="图形 27" descr="标牌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293915" y="5132522"/>
            <a:ext cx="537620" cy="537620"/>
          </a:xfrm>
          <a:prstGeom prst="rect">
            <a:avLst/>
          </a:prstGeom>
        </p:spPr>
      </p:pic>
      <p:sp>
        <p:nvSpPr>
          <p:cNvPr id="29" name="accept_38398"/>
          <p:cNvSpPr>
            <a:spLocks noChangeAspect="1"/>
          </p:cNvSpPr>
          <p:nvPr>
            <p:custDataLst>
              <p:tags r:id="rId26"/>
            </p:custDataLst>
          </p:nvPr>
        </p:nvSpPr>
        <p:spPr bwMode="auto">
          <a:xfrm>
            <a:off x="6924343" y="1923915"/>
            <a:ext cx="470628" cy="442048"/>
          </a:xfrm>
          <a:custGeom>
            <a:avLst/>
            <a:gdLst>
              <a:gd name="connsiteX0" fmla="*/ 543411 w 606580"/>
              <a:gd name="connsiteY0" fmla="*/ 61956 h 569745"/>
              <a:gd name="connsiteX1" fmla="*/ 556798 w 606580"/>
              <a:gd name="connsiteY1" fmla="*/ 67559 h 569745"/>
              <a:gd name="connsiteX2" fmla="*/ 601369 w 606580"/>
              <a:gd name="connsiteY2" fmla="*/ 112060 h 569745"/>
              <a:gd name="connsiteX3" fmla="*/ 606580 w 606580"/>
              <a:gd name="connsiteY3" fmla="*/ 125346 h 569745"/>
              <a:gd name="connsiteX4" fmla="*/ 601369 w 606580"/>
              <a:gd name="connsiteY4" fmla="*/ 138712 h 569745"/>
              <a:gd name="connsiteX5" fmla="*/ 295704 w 606580"/>
              <a:gd name="connsiteY5" fmla="*/ 442134 h 569745"/>
              <a:gd name="connsiteX6" fmla="*/ 281916 w 606580"/>
              <a:gd name="connsiteY6" fmla="*/ 447737 h 569745"/>
              <a:gd name="connsiteX7" fmla="*/ 279671 w 606580"/>
              <a:gd name="connsiteY7" fmla="*/ 447337 h 569745"/>
              <a:gd name="connsiteX8" fmla="*/ 268528 w 606580"/>
              <a:gd name="connsiteY8" fmla="*/ 442134 h 569745"/>
              <a:gd name="connsiteX9" fmla="*/ 117339 w 606580"/>
              <a:gd name="connsiteY9" fmla="*/ 290783 h 569745"/>
              <a:gd name="connsiteX10" fmla="*/ 112128 w 606580"/>
              <a:gd name="connsiteY10" fmla="*/ 277497 h 569745"/>
              <a:gd name="connsiteX11" fmla="*/ 117339 w 606580"/>
              <a:gd name="connsiteY11" fmla="*/ 264451 h 569745"/>
              <a:gd name="connsiteX12" fmla="*/ 162311 w 606580"/>
              <a:gd name="connsiteY12" fmla="*/ 219950 h 569745"/>
              <a:gd name="connsiteX13" fmla="*/ 175297 w 606580"/>
              <a:gd name="connsiteY13" fmla="*/ 214428 h 569745"/>
              <a:gd name="connsiteX14" fmla="*/ 188685 w 606580"/>
              <a:gd name="connsiteY14" fmla="*/ 219950 h 569745"/>
              <a:gd name="connsiteX15" fmla="*/ 282316 w 606580"/>
              <a:gd name="connsiteY15" fmla="*/ 313434 h 569745"/>
              <a:gd name="connsiteX16" fmla="*/ 530023 w 606580"/>
              <a:gd name="connsiteY16" fmla="*/ 67559 h 569745"/>
              <a:gd name="connsiteX17" fmla="*/ 543411 w 606580"/>
              <a:gd name="connsiteY17" fmla="*/ 61956 h 569745"/>
              <a:gd name="connsiteX18" fmla="*/ 285296 w 606580"/>
              <a:gd name="connsiteY18" fmla="*/ 0 h 569745"/>
              <a:gd name="connsiteX19" fmla="*/ 332832 w 606580"/>
              <a:gd name="connsiteY19" fmla="*/ 19690 h 569745"/>
              <a:gd name="connsiteX20" fmla="*/ 431271 w 606580"/>
              <a:gd name="connsiteY20" fmla="*/ 117983 h 569745"/>
              <a:gd name="connsiteX21" fmla="*/ 283452 w 606580"/>
              <a:gd name="connsiteY21" fmla="*/ 265982 h 569745"/>
              <a:gd name="connsiteX22" fmla="*/ 213631 w 606580"/>
              <a:gd name="connsiteY22" fmla="*/ 196265 h 569745"/>
              <a:gd name="connsiteX23" fmla="*/ 176837 w 606580"/>
              <a:gd name="connsiteY23" fmla="*/ 180657 h 569745"/>
              <a:gd name="connsiteX24" fmla="*/ 139642 w 606580"/>
              <a:gd name="connsiteY24" fmla="*/ 195865 h 569745"/>
              <a:gd name="connsiteX25" fmla="*/ 95072 w 606580"/>
              <a:gd name="connsiteY25" fmla="*/ 240769 h 569745"/>
              <a:gd name="connsiteX26" fmla="*/ 79521 w 606580"/>
              <a:gd name="connsiteY26" fmla="*/ 277509 h 569745"/>
              <a:gd name="connsiteX27" fmla="*/ 95072 w 606580"/>
              <a:gd name="connsiteY27" fmla="*/ 314568 h 569745"/>
              <a:gd name="connsiteX28" fmla="*/ 245937 w 606580"/>
              <a:gd name="connsiteY28" fmla="*/ 465930 h 569745"/>
              <a:gd name="connsiteX29" fmla="*/ 270787 w 606580"/>
              <a:gd name="connsiteY29" fmla="*/ 479617 h 569745"/>
              <a:gd name="connsiteX30" fmla="*/ 273031 w 606580"/>
              <a:gd name="connsiteY30" fmla="*/ 481138 h 569745"/>
              <a:gd name="connsiteX31" fmla="*/ 283452 w 606580"/>
              <a:gd name="connsiteY31" fmla="*/ 481138 h 569745"/>
              <a:gd name="connsiteX32" fmla="*/ 320247 w 606580"/>
              <a:gd name="connsiteY32" fmla="*/ 465930 h 569745"/>
              <a:gd name="connsiteX33" fmla="*/ 550151 w 606580"/>
              <a:gd name="connsiteY33" fmla="*/ 236287 h 569745"/>
              <a:gd name="connsiteX34" fmla="*/ 550872 w 606580"/>
              <a:gd name="connsiteY34" fmla="*/ 237407 h 569745"/>
              <a:gd name="connsiteX35" fmla="*/ 570592 w 606580"/>
              <a:gd name="connsiteY35" fmla="*/ 284873 h 569745"/>
              <a:gd name="connsiteX36" fmla="*/ 550872 w 606580"/>
              <a:gd name="connsiteY36" fmla="*/ 332338 h 569745"/>
              <a:gd name="connsiteX37" fmla="*/ 332832 w 606580"/>
              <a:gd name="connsiteY37" fmla="*/ 550135 h 569745"/>
              <a:gd name="connsiteX38" fmla="*/ 285456 w 606580"/>
              <a:gd name="connsiteY38" fmla="*/ 569745 h 569745"/>
              <a:gd name="connsiteX39" fmla="*/ 237760 w 606580"/>
              <a:gd name="connsiteY39" fmla="*/ 550135 h 569745"/>
              <a:gd name="connsiteX40" fmla="*/ 19720 w 606580"/>
              <a:gd name="connsiteY40" fmla="*/ 332338 h 569745"/>
              <a:gd name="connsiteX41" fmla="*/ 0 w 606580"/>
              <a:gd name="connsiteY41" fmla="*/ 284873 h 569745"/>
              <a:gd name="connsiteX42" fmla="*/ 19720 w 606580"/>
              <a:gd name="connsiteY42" fmla="*/ 237407 h 569745"/>
              <a:gd name="connsiteX43" fmla="*/ 237760 w 606580"/>
              <a:gd name="connsiteY43" fmla="*/ 19690 h 569745"/>
              <a:gd name="connsiteX44" fmla="*/ 285296 w 606580"/>
              <a:gd name="connsiteY44" fmla="*/ 0 h 569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6580" h="569745">
                <a:moveTo>
                  <a:pt x="543411" y="61956"/>
                </a:moveTo>
                <a:cubicBezTo>
                  <a:pt x="548621" y="61956"/>
                  <a:pt x="553030" y="63797"/>
                  <a:pt x="556798" y="67559"/>
                </a:cubicBezTo>
                <a:lnTo>
                  <a:pt x="601369" y="112060"/>
                </a:lnTo>
                <a:cubicBezTo>
                  <a:pt x="604816" y="115741"/>
                  <a:pt x="606580" y="120223"/>
                  <a:pt x="606580" y="125346"/>
                </a:cubicBezTo>
                <a:cubicBezTo>
                  <a:pt x="606580" y="130548"/>
                  <a:pt x="604816" y="135030"/>
                  <a:pt x="601369" y="138712"/>
                </a:cubicBezTo>
                <a:lnTo>
                  <a:pt x="295704" y="442134"/>
                </a:lnTo>
                <a:cubicBezTo>
                  <a:pt x="291455" y="445896"/>
                  <a:pt x="286886" y="447737"/>
                  <a:pt x="281916" y="447737"/>
                </a:cubicBezTo>
                <a:cubicBezTo>
                  <a:pt x="280954" y="447737"/>
                  <a:pt x="280232" y="447577"/>
                  <a:pt x="279671" y="447337"/>
                </a:cubicBezTo>
                <a:cubicBezTo>
                  <a:pt x="275262" y="446857"/>
                  <a:pt x="271494" y="445096"/>
                  <a:pt x="268528" y="442134"/>
                </a:cubicBezTo>
                <a:lnTo>
                  <a:pt x="117339" y="290783"/>
                </a:lnTo>
                <a:cubicBezTo>
                  <a:pt x="113892" y="287102"/>
                  <a:pt x="112128" y="282700"/>
                  <a:pt x="112128" y="277497"/>
                </a:cubicBezTo>
                <a:cubicBezTo>
                  <a:pt x="112128" y="272295"/>
                  <a:pt x="113892" y="267973"/>
                  <a:pt x="117339" y="264451"/>
                </a:cubicBezTo>
                <a:lnTo>
                  <a:pt x="162311" y="219950"/>
                </a:lnTo>
                <a:cubicBezTo>
                  <a:pt x="165517" y="216268"/>
                  <a:pt x="169846" y="214428"/>
                  <a:pt x="175297" y="214428"/>
                </a:cubicBezTo>
                <a:cubicBezTo>
                  <a:pt x="180748" y="214428"/>
                  <a:pt x="185238" y="216268"/>
                  <a:pt x="188685" y="219950"/>
                </a:cubicBezTo>
                <a:lnTo>
                  <a:pt x="282316" y="313434"/>
                </a:lnTo>
                <a:lnTo>
                  <a:pt x="530023" y="67559"/>
                </a:lnTo>
                <a:cubicBezTo>
                  <a:pt x="533711" y="63797"/>
                  <a:pt x="538200" y="61956"/>
                  <a:pt x="543411" y="61956"/>
                </a:cubicBezTo>
                <a:close/>
                <a:moveTo>
                  <a:pt x="285296" y="0"/>
                </a:moveTo>
                <a:cubicBezTo>
                  <a:pt x="303894" y="0"/>
                  <a:pt x="319685" y="6563"/>
                  <a:pt x="332832" y="19690"/>
                </a:cubicBezTo>
                <a:lnTo>
                  <a:pt x="431271" y="117983"/>
                </a:lnTo>
                <a:lnTo>
                  <a:pt x="283452" y="265982"/>
                </a:lnTo>
                <a:lnTo>
                  <a:pt x="213631" y="196265"/>
                </a:lnTo>
                <a:cubicBezTo>
                  <a:pt x="203210" y="185860"/>
                  <a:pt x="190946" y="180657"/>
                  <a:pt x="176837" y="180657"/>
                </a:cubicBezTo>
                <a:cubicBezTo>
                  <a:pt x="162248" y="180657"/>
                  <a:pt x="149822" y="185780"/>
                  <a:pt x="139642" y="195865"/>
                </a:cubicBezTo>
                <a:lnTo>
                  <a:pt x="95072" y="240769"/>
                </a:lnTo>
                <a:cubicBezTo>
                  <a:pt x="84731" y="250694"/>
                  <a:pt x="79521" y="262861"/>
                  <a:pt x="79521" y="277509"/>
                </a:cubicBezTo>
                <a:cubicBezTo>
                  <a:pt x="79521" y="291836"/>
                  <a:pt x="84731" y="304163"/>
                  <a:pt x="95072" y="314568"/>
                </a:cubicBezTo>
                <a:lnTo>
                  <a:pt x="245937" y="465930"/>
                </a:lnTo>
                <a:cubicBezTo>
                  <a:pt x="253311" y="472813"/>
                  <a:pt x="261648" y="477376"/>
                  <a:pt x="270787" y="479617"/>
                </a:cubicBezTo>
                <a:lnTo>
                  <a:pt x="273031" y="481138"/>
                </a:lnTo>
                <a:lnTo>
                  <a:pt x="283452" y="481138"/>
                </a:lnTo>
                <a:cubicBezTo>
                  <a:pt x="298282" y="481138"/>
                  <a:pt x="310547" y="476015"/>
                  <a:pt x="320247" y="465930"/>
                </a:cubicBezTo>
                <a:lnTo>
                  <a:pt x="550151" y="236287"/>
                </a:lnTo>
                <a:lnTo>
                  <a:pt x="550872" y="237407"/>
                </a:lnTo>
                <a:cubicBezTo>
                  <a:pt x="564019" y="250534"/>
                  <a:pt x="570592" y="266303"/>
                  <a:pt x="570592" y="284873"/>
                </a:cubicBezTo>
                <a:cubicBezTo>
                  <a:pt x="570592" y="303443"/>
                  <a:pt x="564019" y="319291"/>
                  <a:pt x="550872" y="332338"/>
                </a:cubicBezTo>
                <a:lnTo>
                  <a:pt x="332832" y="550135"/>
                </a:lnTo>
                <a:cubicBezTo>
                  <a:pt x="319926" y="563182"/>
                  <a:pt x="304134" y="569745"/>
                  <a:pt x="285456" y="569745"/>
                </a:cubicBezTo>
                <a:cubicBezTo>
                  <a:pt x="266779" y="569745"/>
                  <a:pt x="250826" y="563182"/>
                  <a:pt x="237760" y="550135"/>
                </a:cubicBezTo>
                <a:lnTo>
                  <a:pt x="19720" y="332338"/>
                </a:lnTo>
                <a:cubicBezTo>
                  <a:pt x="6573" y="319291"/>
                  <a:pt x="0" y="303443"/>
                  <a:pt x="0" y="284873"/>
                </a:cubicBezTo>
                <a:cubicBezTo>
                  <a:pt x="0" y="266383"/>
                  <a:pt x="6573" y="250534"/>
                  <a:pt x="19720" y="237407"/>
                </a:cubicBezTo>
                <a:lnTo>
                  <a:pt x="237760" y="19690"/>
                </a:lnTo>
                <a:cubicBezTo>
                  <a:pt x="250907" y="6563"/>
                  <a:pt x="266698" y="0"/>
                  <a:pt x="2852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1" name="intelligence_66143"/>
          <p:cNvSpPr>
            <a:spLocks noChangeAspect="1"/>
          </p:cNvSpPr>
          <p:nvPr>
            <p:custDataLst>
              <p:tags r:id="rId27"/>
            </p:custDataLst>
          </p:nvPr>
        </p:nvSpPr>
        <p:spPr bwMode="auto">
          <a:xfrm>
            <a:off x="7001329" y="5215910"/>
            <a:ext cx="316656" cy="370844"/>
          </a:xfrm>
          <a:custGeom>
            <a:avLst/>
            <a:gdLst>
              <a:gd name="connsiteX0" fmla="*/ 220247 w 519074"/>
              <a:gd name="connsiteY0" fmla="*/ 135608 h 607902"/>
              <a:gd name="connsiteX1" fmla="*/ 265974 w 519074"/>
              <a:gd name="connsiteY1" fmla="*/ 181264 h 607902"/>
              <a:gd name="connsiteX2" fmla="*/ 220247 w 519074"/>
              <a:gd name="connsiteY2" fmla="*/ 226920 h 607902"/>
              <a:gd name="connsiteX3" fmla="*/ 174521 w 519074"/>
              <a:gd name="connsiteY3" fmla="*/ 181264 h 607902"/>
              <a:gd name="connsiteX4" fmla="*/ 220247 w 519074"/>
              <a:gd name="connsiteY4" fmla="*/ 135608 h 607902"/>
              <a:gd name="connsiteX5" fmla="*/ 212236 w 519074"/>
              <a:gd name="connsiteY5" fmla="*/ 59615 h 607902"/>
              <a:gd name="connsiteX6" fmla="*/ 202277 w 519074"/>
              <a:gd name="connsiteY6" fmla="*/ 66210 h 607902"/>
              <a:gd name="connsiteX7" fmla="*/ 191760 w 519074"/>
              <a:gd name="connsiteY7" fmla="*/ 91321 h 607902"/>
              <a:gd name="connsiteX8" fmla="*/ 185714 w 519074"/>
              <a:gd name="connsiteY8" fmla="*/ 97206 h 607902"/>
              <a:gd name="connsiteX9" fmla="*/ 185054 w 519074"/>
              <a:gd name="connsiteY9" fmla="*/ 97459 h 607902"/>
              <a:gd name="connsiteX10" fmla="*/ 176924 w 519074"/>
              <a:gd name="connsiteY10" fmla="*/ 97459 h 607902"/>
              <a:gd name="connsiteX11" fmla="*/ 151521 w 519074"/>
              <a:gd name="connsiteY11" fmla="*/ 87263 h 607902"/>
              <a:gd name="connsiteX12" fmla="*/ 139886 w 519074"/>
              <a:gd name="connsiteY12" fmla="*/ 89647 h 607902"/>
              <a:gd name="connsiteX13" fmla="*/ 128403 w 519074"/>
              <a:gd name="connsiteY13" fmla="*/ 101061 h 607902"/>
              <a:gd name="connsiteX14" fmla="*/ 126066 w 519074"/>
              <a:gd name="connsiteY14" fmla="*/ 112780 h 607902"/>
              <a:gd name="connsiteX15" fmla="*/ 136329 w 519074"/>
              <a:gd name="connsiteY15" fmla="*/ 137739 h 607902"/>
              <a:gd name="connsiteX16" fmla="*/ 136329 w 519074"/>
              <a:gd name="connsiteY16" fmla="*/ 145906 h 607902"/>
              <a:gd name="connsiteX17" fmla="*/ 136024 w 519074"/>
              <a:gd name="connsiteY17" fmla="*/ 146870 h 607902"/>
              <a:gd name="connsiteX18" fmla="*/ 130181 w 519074"/>
              <a:gd name="connsiteY18" fmla="*/ 152806 h 607902"/>
              <a:gd name="connsiteX19" fmla="*/ 105133 w 519074"/>
              <a:gd name="connsiteY19" fmla="*/ 163510 h 607902"/>
              <a:gd name="connsiteX20" fmla="*/ 98528 w 519074"/>
              <a:gd name="connsiteY20" fmla="*/ 173351 h 607902"/>
              <a:gd name="connsiteX21" fmla="*/ 98528 w 519074"/>
              <a:gd name="connsiteY21" fmla="*/ 173402 h 607902"/>
              <a:gd name="connsiteX22" fmla="*/ 98630 w 519074"/>
              <a:gd name="connsiteY22" fmla="*/ 173402 h 607902"/>
              <a:gd name="connsiteX23" fmla="*/ 98630 w 519074"/>
              <a:gd name="connsiteY23" fmla="*/ 189534 h 607902"/>
              <a:gd name="connsiteX24" fmla="*/ 105235 w 519074"/>
              <a:gd name="connsiteY24" fmla="*/ 199477 h 607902"/>
              <a:gd name="connsiteX25" fmla="*/ 130181 w 519074"/>
              <a:gd name="connsiteY25" fmla="*/ 209826 h 607902"/>
              <a:gd name="connsiteX26" fmla="*/ 136075 w 519074"/>
              <a:gd name="connsiteY26" fmla="*/ 215812 h 607902"/>
              <a:gd name="connsiteX27" fmla="*/ 136482 w 519074"/>
              <a:gd name="connsiteY27" fmla="*/ 216725 h 607902"/>
              <a:gd name="connsiteX28" fmla="*/ 136532 w 519074"/>
              <a:gd name="connsiteY28" fmla="*/ 224943 h 607902"/>
              <a:gd name="connsiteX29" fmla="*/ 126371 w 519074"/>
              <a:gd name="connsiteY29" fmla="*/ 250156 h 607902"/>
              <a:gd name="connsiteX30" fmla="*/ 128759 w 519074"/>
              <a:gd name="connsiteY30" fmla="*/ 261773 h 607902"/>
              <a:gd name="connsiteX31" fmla="*/ 140191 w 519074"/>
              <a:gd name="connsiteY31" fmla="*/ 273238 h 607902"/>
              <a:gd name="connsiteX32" fmla="*/ 151927 w 519074"/>
              <a:gd name="connsiteY32" fmla="*/ 275572 h 607902"/>
              <a:gd name="connsiteX33" fmla="*/ 177077 w 519074"/>
              <a:gd name="connsiteY33" fmla="*/ 265223 h 607902"/>
              <a:gd name="connsiteX34" fmla="*/ 185206 w 519074"/>
              <a:gd name="connsiteY34" fmla="*/ 265223 h 607902"/>
              <a:gd name="connsiteX35" fmla="*/ 185867 w 519074"/>
              <a:gd name="connsiteY35" fmla="*/ 265476 h 607902"/>
              <a:gd name="connsiteX36" fmla="*/ 191964 w 519074"/>
              <a:gd name="connsiteY36" fmla="*/ 271310 h 607902"/>
              <a:gd name="connsiteX37" fmla="*/ 202735 w 519074"/>
              <a:gd name="connsiteY37" fmla="*/ 296472 h 607902"/>
              <a:gd name="connsiteX38" fmla="*/ 212642 w 519074"/>
              <a:gd name="connsiteY38" fmla="*/ 303016 h 607902"/>
              <a:gd name="connsiteX39" fmla="*/ 228799 w 519074"/>
              <a:gd name="connsiteY39" fmla="*/ 303016 h 607902"/>
              <a:gd name="connsiteX40" fmla="*/ 238757 w 519074"/>
              <a:gd name="connsiteY40" fmla="*/ 296421 h 607902"/>
              <a:gd name="connsiteX41" fmla="*/ 249224 w 519074"/>
              <a:gd name="connsiteY41" fmla="*/ 271057 h 607902"/>
              <a:gd name="connsiteX42" fmla="*/ 255117 w 519074"/>
              <a:gd name="connsiteY42" fmla="*/ 265223 h 607902"/>
              <a:gd name="connsiteX43" fmla="*/ 255575 w 519074"/>
              <a:gd name="connsiteY43" fmla="*/ 265020 h 607902"/>
              <a:gd name="connsiteX44" fmla="*/ 263704 w 519074"/>
              <a:gd name="connsiteY44" fmla="*/ 264969 h 607902"/>
              <a:gd name="connsiteX45" fmla="*/ 289463 w 519074"/>
              <a:gd name="connsiteY45" fmla="*/ 275216 h 607902"/>
              <a:gd name="connsiteX46" fmla="*/ 301098 w 519074"/>
              <a:gd name="connsiteY46" fmla="*/ 272883 h 607902"/>
              <a:gd name="connsiteX47" fmla="*/ 312530 w 519074"/>
              <a:gd name="connsiteY47" fmla="*/ 261418 h 607902"/>
              <a:gd name="connsiteX48" fmla="*/ 314918 w 519074"/>
              <a:gd name="connsiteY48" fmla="*/ 249750 h 607902"/>
              <a:gd name="connsiteX49" fmla="*/ 304350 w 519074"/>
              <a:gd name="connsiteY49" fmla="*/ 224284 h 607902"/>
              <a:gd name="connsiteX50" fmla="*/ 304299 w 519074"/>
              <a:gd name="connsiteY50" fmla="*/ 216268 h 607902"/>
              <a:gd name="connsiteX51" fmla="*/ 304401 w 519074"/>
              <a:gd name="connsiteY51" fmla="*/ 215913 h 607902"/>
              <a:gd name="connsiteX52" fmla="*/ 310244 w 519074"/>
              <a:gd name="connsiteY52" fmla="*/ 209978 h 607902"/>
              <a:gd name="connsiteX53" fmla="*/ 335851 w 519074"/>
              <a:gd name="connsiteY53" fmla="*/ 199071 h 607902"/>
              <a:gd name="connsiteX54" fmla="*/ 342405 w 519074"/>
              <a:gd name="connsiteY54" fmla="*/ 189179 h 607902"/>
              <a:gd name="connsiteX55" fmla="*/ 342405 w 519074"/>
              <a:gd name="connsiteY55" fmla="*/ 173047 h 607902"/>
              <a:gd name="connsiteX56" fmla="*/ 335800 w 519074"/>
              <a:gd name="connsiteY56" fmla="*/ 163104 h 607902"/>
              <a:gd name="connsiteX57" fmla="*/ 310295 w 519074"/>
              <a:gd name="connsiteY57" fmla="*/ 152450 h 607902"/>
              <a:gd name="connsiteX58" fmla="*/ 304401 w 519074"/>
              <a:gd name="connsiteY58" fmla="*/ 146464 h 607902"/>
              <a:gd name="connsiteX59" fmla="*/ 304350 w 519074"/>
              <a:gd name="connsiteY59" fmla="*/ 146261 h 607902"/>
              <a:gd name="connsiteX60" fmla="*/ 304248 w 519074"/>
              <a:gd name="connsiteY60" fmla="*/ 138145 h 607902"/>
              <a:gd name="connsiteX61" fmla="*/ 314562 w 519074"/>
              <a:gd name="connsiteY61" fmla="*/ 112425 h 607902"/>
              <a:gd name="connsiteX62" fmla="*/ 312174 w 519074"/>
              <a:gd name="connsiteY62" fmla="*/ 100808 h 607902"/>
              <a:gd name="connsiteX63" fmla="*/ 300743 w 519074"/>
              <a:gd name="connsiteY63" fmla="*/ 89343 h 607902"/>
              <a:gd name="connsiteX64" fmla="*/ 289006 w 519074"/>
              <a:gd name="connsiteY64" fmla="*/ 87009 h 607902"/>
              <a:gd name="connsiteX65" fmla="*/ 263704 w 519074"/>
              <a:gd name="connsiteY65" fmla="*/ 97409 h 607902"/>
              <a:gd name="connsiteX66" fmla="*/ 255422 w 519074"/>
              <a:gd name="connsiteY66" fmla="*/ 97409 h 607902"/>
              <a:gd name="connsiteX67" fmla="*/ 255016 w 519074"/>
              <a:gd name="connsiteY67" fmla="*/ 97257 h 607902"/>
              <a:gd name="connsiteX68" fmla="*/ 249122 w 519074"/>
              <a:gd name="connsiteY68" fmla="*/ 91524 h 607902"/>
              <a:gd name="connsiteX69" fmla="*/ 238300 w 519074"/>
              <a:gd name="connsiteY69" fmla="*/ 66159 h 607902"/>
              <a:gd name="connsiteX70" fmla="*/ 228393 w 519074"/>
              <a:gd name="connsiteY70" fmla="*/ 59615 h 607902"/>
              <a:gd name="connsiteX71" fmla="*/ 227935 w 519074"/>
              <a:gd name="connsiteY71" fmla="*/ 8 h 607902"/>
              <a:gd name="connsiteX72" fmla="*/ 459669 w 519074"/>
              <a:gd name="connsiteY72" fmla="*/ 229458 h 607902"/>
              <a:gd name="connsiteX73" fmla="*/ 474099 w 519074"/>
              <a:gd name="connsiteY73" fmla="*/ 287341 h 607902"/>
              <a:gd name="connsiteX74" fmla="*/ 516625 w 519074"/>
              <a:gd name="connsiteY74" fmla="*/ 367443 h 607902"/>
              <a:gd name="connsiteX75" fmla="*/ 498689 w 519074"/>
              <a:gd name="connsiteY75" fmla="*/ 397779 h 607902"/>
              <a:gd name="connsiteX76" fmla="*/ 459720 w 519074"/>
              <a:gd name="connsiteY76" fmla="*/ 398540 h 607902"/>
              <a:gd name="connsiteX77" fmla="*/ 459720 w 519074"/>
              <a:gd name="connsiteY77" fmla="*/ 483107 h 607902"/>
              <a:gd name="connsiteX78" fmla="*/ 411402 w 519074"/>
              <a:gd name="connsiteY78" fmla="*/ 531402 h 607902"/>
              <a:gd name="connsiteX79" fmla="*/ 344844 w 519074"/>
              <a:gd name="connsiteY79" fmla="*/ 531402 h 607902"/>
              <a:gd name="connsiteX80" fmla="*/ 344844 w 519074"/>
              <a:gd name="connsiteY80" fmla="*/ 590958 h 607902"/>
              <a:gd name="connsiteX81" fmla="*/ 327925 w 519074"/>
              <a:gd name="connsiteY81" fmla="*/ 607902 h 607902"/>
              <a:gd name="connsiteX82" fmla="*/ 89688 w 519074"/>
              <a:gd name="connsiteY82" fmla="*/ 607902 h 607902"/>
              <a:gd name="connsiteX83" fmla="*/ 72718 w 519074"/>
              <a:gd name="connsiteY83" fmla="*/ 590958 h 607902"/>
              <a:gd name="connsiteX84" fmla="*/ 72718 w 519074"/>
              <a:gd name="connsiteY84" fmla="*/ 529829 h 607902"/>
              <a:gd name="connsiteX85" fmla="*/ 25111 w 519074"/>
              <a:gd name="connsiteY85" fmla="*/ 333657 h 607902"/>
              <a:gd name="connsiteX86" fmla="*/ 12 w 519074"/>
              <a:gd name="connsiteY86" fmla="*/ 231792 h 607902"/>
              <a:gd name="connsiteX87" fmla="*/ 227935 w 519074"/>
              <a:gd name="connsiteY87" fmla="*/ 8 h 607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19074" h="607902">
                <a:moveTo>
                  <a:pt x="220247" y="135608"/>
                </a:moveTo>
                <a:cubicBezTo>
                  <a:pt x="245549" y="135608"/>
                  <a:pt x="265974" y="156052"/>
                  <a:pt x="265974" y="181264"/>
                </a:cubicBezTo>
                <a:cubicBezTo>
                  <a:pt x="265974" y="206527"/>
                  <a:pt x="245499" y="226920"/>
                  <a:pt x="220247" y="226920"/>
                </a:cubicBezTo>
                <a:cubicBezTo>
                  <a:pt x="194996" y="226920"/>
                  <a:pt x="174521" y="206426"/>
                  <a:pt x="174521" y="181264"/>
                </a:cubicBezTo>
                <a:cubicBezTo>
                  <a:pt x="174521" y="156052"/>
                  <a:pt x="194996" y="135608"/>
                  <a:pt x="220247" y="135608"/>
                </a:cubicBezTo>
                <a:close/>
                <a:moveTo>
                  <a:pt x="212236" y="59615"/>
                </a:moveTo>
                <a:cubicBezTo>
                  <a:pt x="207866" y="59615"/>
                  <a:pt x="203954" y="62253"/>
                  <a:pt x="202277" y="66210"/>
                </a:cubicBezTo>
                <a:lnTo>
                  <a:pt x="191760" y="91321"/>
                </a:lnTo>
                <a:cubicBezTo>
                  <a:pt x="190592" y="94010"/>
                  <a:pt x="188458" y="96140"/>
                  <a:pt x="185714" y="97206"/>
                </a:cubicBezTo>
                <a:cubicBezTo>
                  <a:pt x="185511" y="97257"/>
                  <a:pt x="185257" y="97409"/>
                  <a:pt x="185054" y="97459"/>
                </a:cubicBezTo>
                <a:cubicBezTo>
                  <a:pt x="182412" y="98474"/>
                  <a:pt x="179516" y="98474"/>
                  <a:pt x="176924" y="97459"/>
                </a:cubicBezTo>
                <a:lnTo>
                  <a:pt x="151521" y="87263"/>
                </a:lnTo>
                <a:cubicBezTo>
                  <a:pt x="147507" y="85639"/>
                  <a:pt x="142934" y="86603"/>
                  <a:pt x="139886" y="89647"/>
                </a:cubicBezTo>
                <a:lnTo>
                  <a:pt x="128403" y="101061"/>
                </a:lnTo>
                <a:cubicBezTo>
                  <a:pt x="125304" y="104105"/>
                  <a:pt x="124440" y="108772"/>
                  <a:pt x="126066" y="112780"/>
                </a:cubicBezTo>
                <a:lnTo>
                  <a:pt x="136329" y="137739"/>
                </a:lnTo>
                <a:cubicBezTo>
                  <a:pt x="137447" y="140377"/>
                  <a:pt x="137447" y="143268"/>
                  <a:pt x="136329" y="145906"/>
                </a:cubicBezTo>
                <a:cubicBezTo>
                  <a:pt x="136278" y="146261"/>
                  <a:pt x="136126" y="146515"/>
                  <a:pt x="136024" y="146870"/>
                </a:cubicBezTo>
                <a:cubicBezTo>
                  <a:pt x="134907" y="149508"/>
                  <a:pt x="132823" y="151639"/>
                  <a:pt x="130181" y="152806"/>
                </a:cubicBezTo>
                <a:lnTo>
                  <a:pt x="105133" y="163510"/>
                </a:lnTo>
                <a:cubicBezTo>
                  <a:pt x="101119" y="165184"/>
                  <a:pt x="98528" y="169039"/>
                  <a:pt x="98528" y="173351"/>
                </a:cubicBezTo>
                <a:lnTo>
                  <a:pt x="98528" y="173402"/>
                </a:lnTo>
                <a:lnTo>
                  <a:pt x="98630" y="173402"/>
                </a:lnTo>
                <a:lnTo>
                  <a:pt x="98630" y="189534"/>
                </a:lnTo>
                <a:cubicBezTo>
                  <a:pt x="98630" y="193897"/>
                  <a:pt x="101272" y="197803"/>
                  <a:pt x="105235" y="199477"/>
                </a:cubicBezTo>
                <a:lnTo>
                  <a:pt x="130181" y="209826"/>
                </a:lnTo>
                <a:cubicBezTo>
                  <a:pt x="132874" y="210942"/>
                  <a:pt x="135008" y="213073"/>
                  <a:pt x="136075" y="215812"/>
                </a:cubicBezTo>
                <a:cubicBezTo>
                  <a:pt x="136228" y="216116"/>
                  <a:pt x="136329" y="216421"/>
                  <a:pt x="136482" y="216725"/>
                </a:cubicBezTo>
                <a:cubicBezTo>
                  <a:pt x="137549" y="219363"/>
                  <a:pt x="137650" y="222305"/>
                  <a:pt x="136532" y="224943"/>
                </a:cubicBezTo>
                <a:lnTo>
                  <a:pt x="126371" y="250156"/>
                </a:lnTo>
                <a:cubicBezTo>
                  <a:pt x="124745" y="254164"/>
                  <a:pt x="125710" y="258729"/>
                  <a:pt x="128759" y="261773"/>
                </a:cubicBezTo>
                <a:lnTo>
                  <a:pt x="140191" y="273238"/>
                </a:lnTo>
                <a:cubicBezTo>
                  <a:pt x="143239" y="276332"/>
                  <a:pt x="147913" y="277195"/>
                  <a:pt x="151927" y="275572"/>
                </a:cubicBezTo>
                <a:lnTo>
                  <a:pt x="177077" y="265223"/>
                </a:lnTo>
                <a:cubicBezTo>
                  <a:pt x="179617" y="264208"/>
                  <a:pt x="182564" y="264208"/>
                  <a:pt x="185206" y="265223"/>
                </a:cubicBezTo>
                <a:cubicBezTo>
                  <a:pt x="185409" y="265273"/>
                  <a:pt x="185663" y="265426"/>
                  <a:pt x="185867" y="265476"/>
                </a:cubicBezTo>
                <a:cubicBezTo>
                  <a:pt x="188559" y="266491"/>
                  <a:pt x="190795" y="268622"/>
                  <a:pt x="191964" y="271310"/>
                </a:cubicBezTo>
                <a:lnTo>
                  <a:pt x="202735" y="296472"/>
                </a:lnTo>
                <a:cubicBezTo>
                  <a:pt x="204411" y="300480"/>
                  <a:pt x="208273" y="303016"/>
                  <a:pt x="212642" y="303016"/>
                </a:cubicBezTo>
                <a:lnTo>
                  <a:pt x="228799" y="303016"/>
                </a:lnTo>
                <a:cubicBezTo>
                  <a:pt x="233169" y="303016"/>
                  <a:pt x="237081" y="300378"/>
                  <a:pt x="238757" y="296421"/>
                </a:cubicBezTo>
                <a:lnTo>
                  <a:pt x="249224" y="271057"/>
                </a:lnTo>
                <a:cubicBezTo>
                  <a:pt x="250342" y="268419"/>
                  <a:pt x="252475" y="266288"/>
                  <a:pt x="255117" y="265223"/>
                </a:cubicBezTo>
                <a:cubicBezTo>
                  <a:pt x="255219" y="265172"/>
                  <a:pt x="255422" y="265070"/>
                  <a:pt x="255575" y="265020"/>
                </a:cubicBezTo>
                <a:cubicBezTo>
                  <a:pt x="258217" y="263954"/>
                  <a:pt x="261113" y="263954"/>
                  <a:pt x="263704" y="264969"/>
                </a:cubicBezTo>
                <a:lnTo>
                  <a:pt x="289463" y="275216"/>
                </a:lnTo>
                <a:cubicBezTo>
                  <a:pt x="293426" y="276840"/>
                  <a:pt x="298050" y="275927"/>
                  <a:pt x="301098" y="272883"/>
                </a:cubicBezTo>
                <a:lnTo>
                  <a:pt x="312530" y="261418"/>
                </a:lnTo>
                <a:cubicBezTo>
                  <a:pt x="315680" y="258374"/>
                  <a:pt x="316595" y="253707"/>
                  <a:pt x="314918" y="249750"/>
                </a:cubicBezTo>
                <a:lnTo>
                  <a:pt x="304350" y="224284"/>
                </a:lnTo>
                <a:cubicBezTo>
                  <a:pt x="303283" y="221747"/>
                  <a:pt x="303283" y="218805"/>
                  <a:pt x="304299" y="216268"/>
                </a:cubicBezTo>
                <a:lnTo>
                  <a:pt x="304401" y="215913"/>
                </a:lnTo>
                <a:cubicBezTo>
                  <a:pt x="305519" y="213225"/>
                  <a:pt x="307602" y="211094"/>
                  <a:pt x="310244" y="209978"/>
                </a:cubicBezTo>
                <a:lnTo>
                  <a:pt x="335851" y="199071"/>
                </a:lnTo>
                <a:cubicBezTo>
                  <a:pt x="339865" y="197397"/>
                  <a:pt x="342405" y="193542"/>
                  <a:pt x="342405" y="189179"/>
                </a:cubicBezTo>
                <a:lnTo>
                  <a:pt x="342405" y="173047"/>
                </a:lnTo>
                <a:cubicBezTo>
                  <a:pt x="342405" y="168684"/>
                  <a:pt x="339763" y="164778"/>
                  <a:pt x="335800" y="163104"/>
                </a:cubicBezTo>
                <a:lnTo>
                  <a:pt x="310295" y="152450"/>
                </a:lnTo>
                <a:cubicBezTo>
                  <a:pt x="307602" y="151334"/>
                  <a:pt x="305519" y="149153"/>
                  <a:pt x="304401" y="146464"/>
                </a:cubicBezTo>
                <a:cubicBezTo>
                  <a:pt x="304401" y="146363"/>
                  <a:pt x="304350" y="146312"/>
                  <a:pt x="304350" y="146261"/>
                </a:cubicBezTo>
                <a:cubicBezTo>
                  <a:pt x="303232" y="143674"/>
                  <a:pt x="303232" y="140783"/>
                  <a:pt x="304248" y="138145"/>
                </a:cubicBezTo>
                <a:lnTo>
                  <a:pt x="314562" y="112425"/>
                </a:lnTo>
                <a:cubicBezTo>
                  <a:pt x="316188" y="108417"/>
                  <a:pt x="315223" y="103851"/>
                  <a:pt x="312174" y="100808"/>
                </a:cubicBezTo>
                <a:lnTo>
                  <a:pt x="300743" y="89343"/>
                </a:lnTo>
                <a:cubicBezTo>
                  <a:pt x="297694" y="86248"/>
                  <a:pt x="293020" y="85386"/>
                  <a:pt x="289006" y="87009"/>
                </a:cubicBezTo>
                <a:lnTo>
                  <a:pt x="263704" y="97409"/>
                </a:lnTo>
                <a:cubicBezTo>
                  <a:pt x="261062" y="98575"/>
                  <a:pt x="258064" y="98474"/>
                  <a:pt x="255422" y="97409"/>
                </a:cubicBezTo>
                <a:cubicBezTo>
                  <a:pt x="255270" y="97409"/>
                  <a:pt x="255168" y="97358"/>
                  <a:pt x="255016" y="97257"/>
                </a:cubicBezTo>
                <a:cubicBezTo>
                  <a:pt x="252374" y="96191"/>
                  <a:pt x="250291" y="94162"/>
                  <a:pt x="249122" y="91524"/>
                </a:cubicBezTo>
                <a:lnTo>
                  <a:pt x="238300" y="66159"/>
                </a:lnTo>
                <a:cubicBezTo>
                  <a:pt x="236623" y="62152"/>
                  <a:pt x="232711" y="59615"/>
                  <a:pt x="228393" y="59615"/>
                </a:cubicBezTo>
                <a:close/>
                <a:moveTo>
                  <a:pt x="227935" y="8"/>
                </a:moveTo>
                <a:cubicBezTo>
                  <a:pt x="355767" y="-1007"/>
                  <a:pt x="459669" y="102076"/>
                  <a:pt x="459669" y="229458"/>
                </a:cubicBezTo>
                <a:cubicBezTo>
                  <a:pt x="459669" y="249598"/>
                  <a:pt x="464597" y="269484"/>
                  <a:pt x="474099" y="287341"/>
                </a:cubicBezTo>
                <a:lnTo>
                  <a:pt x="516625" y="367443"/>
                </a:lnTo>
                <a:cubicBezTo>
                  <a:pt x="523890" y="381039"/>
                  <a:pt x="514135" y="397526"/>
                  <a:pt x="498689" y="397779"/>
                </a:cubicBezTo>
                <a:lnTo>
                  <a:pt x="459720" y="398540"/>
                </a:lnTo>
                <a:lnTo>
                  <a:pt x="459720" y="483107"/>
                </a:lnTo>
                <a:cubicBezTo>
                  <a:pt x="459720" y="509689"/>
                  <a:pt x="438025" y="531402"/>
                  <a:pt x="411402" y="531402"/>
                </a:cubicBezTo>
                <a:lnTo>
                  <a:pt x="344844" y="531402"/>
                </a:lnTo>
                <a:lnTo>
                  <a:pt x="344844" y="590958"/>
                </a:lnTo>
                <a:cubicBezTo>
                  <a:pt x="344844" y="600293"/>
                  <a:pt x="337273" y="607902"/>
                  <a:pt x="327925" y="607902"/>
                </a:cubicBezTo>
                <a:lnTo>
                  <a:pt x="89688" y="607902"/>
                </a:lnTo>
                <a:cubicBezTo>
                  <a:pt x="80339" y="607902"/>
                  <a:pt x="72718" y="600293"/>
                  <a:pt x="72718" y="590958"/>
                </a:cubicBezTo>
                <a:lnTo>
                  <a:pt x="72718" y="529829"/>
                </a:lnTo>
                <a:cubicBezTo>
                  <a:pt x="72718" y="461648"/>
                  <a:pt x="56358" y="394482"/>
                  <a:pt x="25111" y="333657"/>
                </a:cubicBezTo>
                <a:cubicBezTo>
                  <a:pt x="9462" y="303118"/>
                  <a:pt x="419" y="268469"/>
                  <a:pt x="12" y="231792"/>
                </a:cubicBezTo>
                <a:cubicBezTo>
                  <a:pt x="-1258" y="104562"/>
                  <a:pt x="100510" y="1022"/>
                  <a:pt x="227935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2" name="文本框 31"/>
          <p:cNvSpPr txBox="1"/>
          <p:nvPr>
            <p:custDataLst>
              <p:tags r:id="rId28"/>
            </p:custDataLst>
          </p:nvPr>
        </p:nvSpPr>
        <p:spPr>
          <a:xfrm>
            <a:off x="7677151" y="2144939"/>
            <a:ext cx="4179489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头部企业带动上下游集群式出海，政策层面提供保障护航</a:t>
            </a:r>
            <a:r>
              <a:rPr kumimoji="0" 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。</a:t>
            </a:r>
            <a:endParaRPr kumimoji="0" 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3" name="文本框 32"/>
          <p:cNvSpPr txBox="1"/>
          <p:nvPr>
            <p:custDataLst>
              <p:tags r:id="rId29"/>
            </p:custDataLst>
          </p:nvPr>
        </p:nvSpPr>
        <p:spPr>
          <a:xfrm>
            <a:off x="7677151" y="3763348"/>
            <a:ext cx="4179489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参与国际标准制定、加强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ESG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表现，以塑造行业话语权并软化阻力。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4" name="文本框 33"/>
          <p:cNvSpPr txBox="1"/>
          <p:nvPr>
            <p:custDataLst>
              <p:tags r:id="rId30"/>
            </p:custDataLst>
          </p:nvPr>
        </p:nvSpPr>
        <p:spPr>
          <a:xfrm>
            <a:off x="7677151" y="5381757"/>
            <a:ext cx="4179489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通过开拓东南亚、中东、拉美等地区，规避贸易风险并培育未来潜力。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2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3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4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5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6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7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8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9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10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11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12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13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14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15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16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17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18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19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20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21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22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23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24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25.xml><?xml version="1.0" encoding="utf-8"?>
<p:tagLst xmlns:p="http://schemas.openxmlformats.org/presentationml/2006/main">
  <p:tag name="KSO_WM_DIAGRAM_VIRTUALLY_FRAME" val="{&quot;height&quot;:587.6891338582677,&quot;left&quot;:-53.5,&quot;top&quot;:77.11047244094489,&quot;width&quot;:1021.25}"/>
</p:tagLst>
</file>

<file path=ppt/tags/tag26.xml><?xml version="1.0" encoding="utf-8"?>
<p:tagLst xmlns:p="http://schemas.openxmlformats.org/presentationml/2006/main">
  <p:tag name="KSO_WM_DIAGRAM_VIRTUALLY_FRAME" val="{&quot;height&quot;:269.92409448818904,&quot;left&quot;:55.91393700787402,&quot;top&quot;:167.94141732283464,&quot;width&quot;:855.0000787401575}"/>
</p:tagLst>
</file>

<file path=ppt/tags/tag27.xml><?xml version="1.0" encoding="utf-8"?>
<p:tagLst xmlns:p="http://schemas.openxmlformats.org/presentationml/2006/main">
  <p:tag name="KSO_WM_DIAGRAM_VIRTUALLY_FRAME" val="{&quot;height&quot;:269.92409448818904,&quot;left&quot;:55.91393700787402,&quot;top&quot;:167.94141732283464,&quot;width&quot;:855.0000787401575}"/>
</p:tagLst>
</file>

<file path=ppt/tags/tag28.xml><?xml version="1.0" encoding="utf-8"?>
<p:tagLst xmlns:p="http://schemas.openxmlformats.org/presentationml/2006/main">
  <p:tag name="KSO_WM_DIAGRAM_VIRTUALLY_FRAME" val="{&quot;height&quot;:269.92409448818904,&quot;left&quot;:55.91393700787402,&quot;top&quot;:167.94141732283464,&quot;width&quot;:855.0000787401575}"/>
</p:tagLst>
</file>

<file path=ppt/tags/tag29.xml><?xml version="1.0" encoding="utf-8"?>
<p:tagLst xmlns:p="http://schemas.openxmlformats.org/presentationml/2006/main">
  <p:tag name="KSO_WM_DIAGRAM_VIRTUALLY_FRAME" val="{&quot;height&quot;:269.92409448818904,&quot;left&quot;:55.91393700787402,&quot;top&quot;:167.94141732283464,&quot;width&quot;:855.0000787401575}"/>
</p:tagLst>
</file>

<file path=ppt/tags/tag30.xml><?xml version="1.0" encoding="utf-8"?>
<p:tagLst xmlns:p="http://schemas.openxmlformats.org/presentationml/2006/main">
  <p:tag name="KSO_WM_DIAGRAM_VIRTUALLY_FRAME" val="{&quot;height&quot;:269.92409448818904,&quot;left&quot;:55.91393700787402,&quot;top&quot;:167.94141732283464,&quot;width&quot;:855.0000787401575}"/>
</p:tagLst>
</file>

<file path=ppt/tags/tag31.xml><?xml version="1.0" encoding="utf-8"?>
<p:tagLst xmlns:p="http://schemas.openxmlformats.org/presentationml/2006/main">
  <p:tag name="KSO_WM_DIAGRAM_VIRTUALLY_FRAME" val="{&quot;height&quot;:269.92409448818904,&quot;left&quot;:55.91393700787402,&quot;top&quot;:167.94141732283464,&quot;width&quot;:855.0000787401575}"/>
</p:tagLst>
</file>

<file path=ppt/tags/tag32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33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34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35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36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37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38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39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40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41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42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43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44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45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46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47.xml><?xml version="1.0" encoding="utf-8"?>
<p:tagLst xmlns:p="http://schemas.openxmlformats.org/presentationml/2006/main">
  <p:tag name="KSO_WM_DIAGRAM_VIRTUALLY_FRAME" val="{&quot;height&quot;:370.8720472440945,&quot;left&quot;:566.4678740157481,&quot;top&quot;:105.57228346456691,&quot;width&quot;:317.09653534601983}"/>
</p:tagLst>
</file>

<file path=ppt/tags/tag48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49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50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51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52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53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54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55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56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57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58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59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60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61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62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63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64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65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66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67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68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69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70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71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72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73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74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75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76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77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78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79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80.xml><?xml version="1.0" encoding="utf-8"?>
<p:tagLst xmlns:p="http://schemas.openxmlformats.org/presentationml/2006/main">
  <p:tag name="KSO_WM_DIAGRAM_VIRTUALLY_FRAME" val="{&quot;height&quot;:358.5488188976378,&quot;left&quot;:60.42582677165355,&quot;top&quot;:133.92188976377952,&quot;width&quot;:858.7485826771654}"/>
</p:tagLst>
</file>

<file path=ppt/tags/tag81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82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83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84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85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86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87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88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89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90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91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92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93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94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95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96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97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98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99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100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101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102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103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ags/tag104.xml><?xml version="1.0" encoding="utf-8"?>
<p:tagLst xmlns:p="http://schemas.openxmlformats.org/presentationml/2006/main">
  <p:tag name="KSO_WM_DIAGRAM_VIRTUALLY_FRAME" val="{&quot;height&quot;:363.2908661417323,&quot;left&quot;:98.30811023622047,&quot;top&quot;:129.23574803149606,&quot;width&quot;:835.2855905511811}"/>
</p:tagLst>
</file>

<file path=ppt/theme/theme1.xml><?xml version="1.0" encoding="utf-8"?>
<a:theme xmlns:a="http://schemas.openxmlformats.org/drawingml/2006/main" name="Office 主题​​">
  <a:themeElements>
    <a:clrScheme name="西大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4C9C"/>
      </a:accent1>
      <a:accent2>
        <a:srgbClr val="FFA405"/>
      </a:accent2>
      <a:accent3>
        <a:srgbClr val="B5B5B5"/>
      </a:accent3>
      <a:accent4>
        <a:srgbClr val="D4D9DD"/>
      </a:accent4>
      <a:accent5>
        <a:srgbClr val="66BE96"/>
      </a:accent5>
      <a:accent6>
        <a:srgbClr val="104685"/>
      </a:accent6>
      <a:hlink>
        <a:srgbClr val="0563C1"/>
      </a:hlink>
      <a:folHlink>
        <a:srgbClr val="954F72"/>
      </a:folHlink>
    </a:clrScheme>
    <a:fontScheme name="西大模板">
      <a:majorFont>
        <a:latin typeface="Segoe UI Black"/>
        <a:ea typeface="思源宋体 CN Heavy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2000" dirty="0" smtClean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2561</Words>
  <Application>WPS 演示</Application>
  <PresentationFormat>宽屏</PresentationFormat>
  <Paragraphs>211</Paragraphs>
  <Slides>13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宋体</vt:lpstr>
      <vt:lpstr>Wingdings</vt:lpstr>
      <vt:lpstr>Segoe UI</vt:lpstr>
      <vt:lpstr>微软雅黑</vt:lpstr>
      <vt:lpstr>管峻楷书简体</vt:lpstr>
      <vt:lpstr>思源宋体 CN Heavy</vt:lpstr>
      <vt:lpstr>Segoe UI Light</vt:lpstr>
      <vt:lpstr>微软雅黑 Light</vt:lpstr>
      <vt:lpstr>思源宋体 CN Heavy</vt:lpstr>
      <vt:lpstr>Calibri</vt:lpstr>
      <vt:lpstr>黑体</vt:lpstr>
      <vt:lpstr>Calibri Light</vt:lpstr>
      <vt:lpstr>Arial Unicode MS</vt:lpstr>
      <vt:lpstr>Segoe UI Black</vt:lpstr>
      <vt:lpstr>方正管峻楷书_GBK</vt:lpstr>
      <vt:lpstr>兰米宋体</vt:lpstr>
      <vt:lpstr>Office 主题​​</vt:lpstr>
      <vt:lpstr>PowerPoint 演示文稿</vt:lpstr>
      <vt:lpstr>PowerPoint 演示文稿</vt:lpstr>
      <vt:lpstr>PowerPoint 演示文稿</vt:lpstr>
      <vt:lpstr>全球锂电池市场规模</vt:lpstr>
      <vt:lpstr>全球锂电池价格趋势</vt:lpstr>
      <vt:lpstr>PowerPoint 演示文稿</vt:lpstr>
      <vt:lpstr>全球市场份额</vt:lpstr>
      <vt:lpstr>目标市场布局（主要布局区域：欧洲，北美）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锅炉爷爷</dc:creator>
  <cp:lastModifiedBy>小楼</cp:lastModifiedBy>
  <cp:revision>23</cp:revision>
  <dcterms:created xsi:type="dcterms:W3CDTF">2020-05-19T03:32:00Z</dcterms:created>
  <dcterms:modified xsi:type="dcterms:W3CDTF">2025-11-26T09:03:01Z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1AF710F7D87B43589552859360610EC8_13</vt:lpwstr>
  </property>
  <property fmtid="{D5CDD505-2E9C-101B-9397-08002B2CF9AE}" pid="3" name="KSOProductBuildVer">
    <vt:lpwstr>2052-12.1.0.23542</vt:lpwstr>
  </property>
</Properties>
</file>